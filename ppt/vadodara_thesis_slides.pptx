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21C2B"/>
          </a:solidFill>
          <a:ln w="12700">
            <a:solidFill>
              <a:srgbClr val="121C2B"/>
            </a:solidFill>
            <a:prstDash val="solid"/>
          </a:ln>
        </p:spPr>
      </p:sp>
      <p:sp>
        <p:nvSpPr>
          <p:cNvPr id="3" name="Shape 1"/>
          <p:cNvSpPr/>
          <p:nvPr/>
        </p:nvSpPr>
        <p:spPr>
          <a:xfrm>
            <a:off x="0" y="0"/>
            <a:ext cx="0" cy="5143500"/>
          </a:xfrm>
          <a:prstGeom prst="line">
            <a:avLst/>
          </a:prstGeom>
          <a:noFill/>
          <a:ln w="3810">
            <a:solidFill>
              <a:srgbClr val="1A2A3A"/>
            </a:solidFill>
            <a:prstDash val="dash"/>
          </a:ln>
        </p:spPr>
      </p:sp>
      <p:sp>
        <p:nvSpPr>
          <p:cNvPr id="4" name="Shape 2"/>
          <p:cNvSpPr/>
          <p:nvPr/>
        </p:nvSpPr>
        <p:spPr>
          <a:xfrm>
            <a:off x="457200" y="0"/>
            <a:ext cx="0" cy="5143500"/>
          </a:xfrm>
          <a:prstGeom prst="line">
            <a:avLst/>
          </a:prstGeom>
          <a:noFill/>
          <a:ln w="3810">
            <a:solidFill>
              <a:srgbClr val="1A2A3A"/>
            </a:solidFill>
            <a:prstDash val="dash"/>
          </a:ln>
        </p:spPr>
      </p:sp>
      <p:sp>
        <p:nvSpPr>
          <p:cNvPr id="5" name="Shape 3"/>
          <p:cNvSpPr/>
          <p:nvPr/>
        </p:nvSpPr>
        <p:spPr>
          <a:xfrm>
            <a:off x="914400" y="0"/>
            <a:ext cx="0" cy="5143500"/>
          </a:xfrm>
          <a:prstGeom prst="line">
            <a:avLst/>
          </a:prstGeom>
          <a:noFill/>
          <a:ln w="3810">
            <a:solidFill>
              <a:srgbClr val="1A2A3A"/>
            </a:solidFill>
            <a:prstDash val="dash"/>
          </a:ln>
        </p:spPr>
      </p:sp>
      <p:sp>
        <p:nvSpPr>
          <p:cNvPr id="6" name="Shape 4"/>
          <p:cNvSpPr/>
          <p:nvPr/>
        </p:nvSpPr>
        <p:spPr>
          <a:xfrm>
            <a:off x="1371600" y="0"/>
            <a:ext cx="0" cy="5143500"/>
          </a:xfrm>
          <a:prstGeom prst="line">
            <a:avLst/>
          </a:prstGeom>
          <a:noFill/>
          <a:ln w="3810">
            <a:solidFill>
              <a:srgbClr val="1A2A3A"/>
            </a:solidFill>
            <a:prstDash val="dash"/>
          </a:ln>
        </p:spPr>
      </p:sp>
      <p:sp>
        <p:nvSpPr>
          <p:cNvPr id="7" name="Shape 5"/>
          <p:cNvSpPr/>
          <p:nvPr/>
        </p:nvSpPr>
        <p:spPr>
          <a:xfrm>
            <a:off x="1828800" y="0"/>
            <a:ext cx="0" cy="5143500"/>
          </a:xfrm>
          <a:prstGeom prst="line">
            <a:avLst/>
          </a:prstGeom>
          <a:noFill/>
          <a:ln w="3810">
            <a:solidFill>
              <a:srgbClr val="1A2A3A"/>
            </a:solidFill>
            <a:prstDash val="dash"/>
          </a:ln>
        </p:spPr>
      </p:sp>
      <p:sp>
        <p:nvSpPr>
          <p:cNvPr id="8" name="Shape 6"/>
          <p:cNvSpPr/>
          <p:nvPr/>
        </p:nvSpPr>
        <p:spPr>
          <a:xfrm>
            <a:off x="2286000" y="0"/>
            <a:ext cx="0" cy="5143500"/>
          </a:xfrm>
          <a:prstGeom prst="line">
            <a:avLst/>
          </a:prstGeom>
          <a:noFill/>
          <a:ln w="3810">
            <a:solidFill>
              <a:srgbClr val="1A2A3A"/>
            </a:solidFill>
            <a:prstDash val="dash"/>
          </a:ln>
        </p:spPr>
      </p:sp>
      <p:sp>
        <p:nvSpPr>
          <p:cNvPr id="9" name="Shape 7"/>
          <p:cNvSpPr/>
          <p:nvPr/>
        </p:nvSpPr>
        <p:spPr>
          <a:xfrm>
            <a:off x="2743200" y="0"/>
            <a:ext cx="0" cy="5143500"/>
          </a:xfrm>
          <a:prstGeom prst="line">
            <a:avLst/>
          </a:prstGeom>
          <a:noFill/>
          <a:ln w="3810">
            <a:solidFill>
              <a:srgbClr val="1A2A3A"/>
            </a:solidFill>
            <a:prstDash val="dash"/>
          </a:ln>
        </p:spPr>
      </p:sp>
      <p:sp>
        <p:nvSpPr>
          <p:cNvPr id="10" name="Shape 8"/>
          <p:cNvSpPr/>
          <p:nvPr/>
        </p:nvSpPr>
        <p:spPr>
          <a:xfrm>
            <a:off x="3200400" y="0"/>
            <a:ext cx="0" cy="5143500"/>
          </a:xfrm>
          <a:prstGeom prst="line">
            <a:avLst/>
          </a:prstGeom>
          <a:noFill/>
          <a:ln w="3810">
            <a:solidFill>
              <a:srgbClr val="1A2A3A"/>
            </a:solidFill>
            <a:prstDash val="dash"/>
          </a:ln>
        </p:spPr>
      </p:sp>
      <p:sp>
        <p:nvSpPr>
          <p:cNvPr id="11" name="Shape 9"/>
          <p:cNvSpPr/>
          <p:nvPr/>
        </p:nvSpPr>
        <p:spPr>
          <a:xfrm>
            <a:off x="3657600" y="0"/>
            <a:ext cx="0" cy="5143500"/>
          </a:xfrm>
          <a:prstGeom prst="line">
            <a:avLst/>
          </a:prstGeom>
          <a:noFill/>
          <a:ln w="3810">
            <a:solidFill>
              <a:srgbClr val="1A2A3A"/>
            </a:solidFill>
            <a:prstDash val="dash"/>
          </a:ln>
        </p:spPr>
      </p:sp>
      <p:sp>
        <p:nvSpPr>
          <p:cNvPr id="12" name="Shape 10"/>
          <p:cNvSpPr/>
          <p:nvPr/>
        </p:nvSpPr>
        <p:spPr>
          <a:xfrm>
            <a:off x="4114800" y="0"/>
            <a:ext cx="0" cy="5143500"/>
          </a:xfrm>
          <a:prstGeom prst="line">
            <a:avLst/>
          </a:prstGeom>
          <a:noFill/>
          <a:ln w="3810">
            <a:solidFill>
              <a:srgbClr val="1A2A3A"/>
            </a:solidFill>
            <a:prstDash val="dash"/>
          </a:ln>
        </p:spPr>
      </p:sp>
      <p:sp>
        <p:nvSpPr>
          <p:cNvPr id="13" name="Shape 11"/>
          <p:cNvSpPr/>
          <p:nvPr/>
        </p:nvSpPr>
        <p:spPr>
          <a:xfrm>
            <a:off x="4572000" y="0"/>
            <a:ext cx="0" cy="5143500"/>
          </a:xfrm>
          <a:prstGeom prst="line">
            <a:avLst/>
          </a:prstGeom>
          <a:noFill/>
          <a:ln w="3810">
            <a:solidFill>
              <a:srgbClr val="1A2A3A"/>
            </a:solidFill>
            <a:prstDash val="dash"/>
          </a:ln>
        </p:spPr>
      </p:sp>
      <p:sp>
        <p:nvSpPr>
          <p:cNvPr id="14" name="Shape 12"/>
          <p:cNvSpPr/>
          <p:nvPr/>
        </p:nvSpPr>
        <p:spPr>
          <a:xfrm>
            <a:off x="5029200" y="0"/>
            <a:ext cx="0" cy="5143500"/>
          </a:xfrm>
          <a:prstGeom prst="line">
            <a:avLst/>
          </a:prstGeom>
          <a:noFill/>
          <a:ln w="3810">
            <a:solidFill>
              <a:srgbClr val="1A2A3A"/>
            </a:solidFill>
            <a:prstDash val="dash"/>
          </a:ln>
        </p:spPr>
      </p:sp>
      <p:sp>
        <p:nvSpPr>
          <p:cNvPr id="15" name="Shape 13"/>
          <p:cNvSpPr/>
          <p:nvPr/>
        </p:nvSpPr>
        <p:spPr>
          <a:xfrm>
            <a:off x="5486400" y="0"/>
            <a:ext cx="0" cy="5143500"/>
          </a:xfrm>
          <a:prstGeom prst="line">
            <a:avLst/>
          </a:prstGeom>
          <a:noFill/>
          <a:ln w="3810">
            <a:solidFill>
              <a:srgbClr val="1A2A3A"/>
            </a:solidFill>
            <a:prstDash val="dash"/>
          </a:ln>
        </p:spPr>
      </p:sp>
      <p:sp>
        <p:nvSpPr>
          <p:cNvPr id="16" name="Shape 14"/>
          <p:cNvSpPr/>
          <p:nvPr/>
        </p:nvSpPr>
        <p:spPr>
          <a:xfrm>
            <a:off x="5943600" y="0"/>
            <a:ext cx="0" cy="5143500"/>
          </a:xfrm>
          <a:prstGeom prst="line">
            <a:avLst/>
          </a:prstGeom>
          <a:noFill/>
          <a:ln w="3810">
            <a:solidFill>
              <a:srgbClr val="1A2A3A"/>
            </a:solidFill>
            <a:prstDash val="dash"/>
          </a:ln>
        </p:spPr>
      </p:sp>
      <p:sp>
        <p:nvSpPr>
          <p:cNvPr id="17" name="Shape 15"/>
          <p:cNvSpPr/>
          <p:nvPr/>
        </p:nvSpPr>
        <p:spPr>
          <a:xfrm>
            <a:off x="6400800" y="0"/>
            <a:ext cx="0" cy="5143500"/>
          </a:xfrm>
          <a:prstGeom prst="line">
            <a:avLst/>
          </a:prstGeom>
          <a:noFill/>
          <a:ln w="3810">
            <a:solidFill>
              <a:srgbClr val="1A2A3A"/>
            </a:solidFill>
            <a:prstDash val="dash"/>
          </a:ln>
        </p:spPr>
      </p:sp>
      <p:sp>
        <p:nvSpPr>
          <p:cNvPr id="18" name="Shape 16"/>
          <p:cNvSpPr/>
          <p:nvPr/>
        </p:nvSpPr>
        <p:spPr>
          <a:xfrm>
            <a:off x="6858000" y="0"/>
            <a:ext cx="0" cy="5143500"/>
          </a:xfrm>
          <a:prstGeom prst="line">
            <a:avLst/>
          </a:prstGeom>
          <a:noFill/>
          <a:ln w="3810">
            <a:solidFill>
              <a:srgbClr val="1A2A3A"/>
            </a:solidFill>
            <a:prstDash val="dash"/>
          </a:ln>
        </p:spPr>
      </p:sp>
      <p:sp>
        <p:nvSpPr>
          <p:cNvPr id="19" name="Shape 17"/>
          <p:cNvSpPr/>
          <p:nvPr/>
        </p:nvSpPr>
        <p:spPr>
          <a:xfrm>
            <a:off x="7315200" y="0"/>
            <a:ext cx="0" cy="5143500"/>
          </a:xfrm>
          <a:prstGeom prst="line">
            <a:avLst/>
          </a:prstGeom>
          <a:noFill/>
          <a:ln w="3810">
            <a:solidFill>
              <a:srgbClr val="1A2A3A"/>
            </a:solidFill>
            <a:prstDash val="dash"/>
          </a:ln>
        </p:spPr>
      </p:sp>
      <p:sp>
        <p:nvSpPr>
          <p:cNvPr id="20" name="Shape 18"/>
          <p:cNvSpPr/>
          <p:nvPr/>
        </p:nvSpPr>
        <p:spPr>
          <a:xfrm>
            <a:off x="7772400" y="0"/>
            <a:ext cx="0" cy="5143500"/>
          </a:xfrm>
          <a:prstGeom prst="line">
            <a:avLst/>
          </a:prstGeom>
          <a:noFill/>
          <a:ln w="3810">
            <a:solidFill>
              <a:srgbClr val="1A2A3A"/>
            </a:solidFill>
            <a:prstDash val="dash"/>
          </a:ln>
        </p:spPr>
      </p:sp>
      <p:sp>
        <p:nvSpPr>
          <p:cNvPr id="21" name="Shape 19"/>
          <p:cNvSpPr/>
          <p:nvPr/>
        </p:nvSpPr>
        <p:spPr>
          <a:xfrm>
            <a:off x="8229600" y="0"/>
            <a:ext cx="0" cy="5143500"/>
          </a:xfrm>
          <a:prstGeom prst="line">
            <a:avLst/>
          </a:prstGeom>
          <a:noFill/>
          <a:ln w="3810">
            <a:solidFill>
              <a:srgbClr val="1A2A3A"/>
            </a:solidFill>
            <a:prstDash val="dash"/>
          </a:ln>
        </p:spPr>
      </p:sp>
      <p:sp>
        <p:nvSpPr>
          <p:cNvPr id="22" name="Shape 20"/>
          <p:cNvSpPr/>
          <p:nvPr/>
        </p:nvSpPr>
        <p:spPr>
          <a:xfrm>
            <a:off x="8686800" y="0"/>
            <a:ext cx="0" cy="5143500"/>
          </a:xfrm>
          <a:prstGeom prst="line">
            <a:avLst/>
          </a:prstGeom>
          <a:noFill/>
          <a:ln w="3810">
            <a:solidFill>
              <a:srgbClr val="1A2A3A"/>
            </a:solidFill>
            <a:prstDash val="dash"/>
          </a:ln>
        </p:spPr>
      </p:sp>
      <p:sp>
        <p:nvSpPr>
          <p:cNvPr id="23" name="Shape 21"/>
          <p:cNvSpPr/>
          <p:nvPr/>
        </p:nvSpPr>
        <p:spPr>
          <a:xfrm>
            <a:off x="0" y="1463040"/>
            <a:ext cx="109728" cy="2286000"/>
          </a:xfrm>
          <a:prstGeom prst="rect">
            <a:avLst/>
          </a:prstGeom>
          <a:solidFill>
            <a:srgbClr val="D4A820"/>
          </a:solidFill>
          <a:ln w="12700">
            <a:solidFill>
              <a:srgbClr val="D4A820"/>
            </a:solidFill>
            <a:prstDash val="solid"/>
          </a:ln>
        </p:spPr>
      </p:sp>
      <p:sp>
        <p:nvSpPr>
          <p:cNvPr id="24" name="Text 22"/>
          <p:cNvSpPr/>
          <p:nvPr/>
        </p:nvSpPr>
        <p:spPr>
          <a:xfrm>
            <a:off x="365760" y="1371600"/>
            <a:ext cx="8229600" cy="777240"/>
          </a:xfrm>
          <a:prstGeom prst="rect">
            <a:avLst/>
          </a:prstGeom>
          <a:noFill/>
          <a:ln/>
        </p:spPr>
        <p:txBody>
          <a:bodyPr wrap="square" rtlCol="0" anchor="ctr"/>
          <a:lstStyle/>
          <a:p>
            <a:pPr indent="0" marL="0">
              <a:buNone/>
            </a:pPr>
            <a:r>
              <a:rPr lang="en-US" sz="3800" b="1" spc="400" kern="0" dirty="0">
                <a:solidFill>
                  <a:srgbClr val="FFFFFF"/>
                </a:solidFill>
                <a:latin typeface="Arial" pitchFamily="34" charset="0"/>
                <a:ea typeface="Arial" pitchFamily="34" charset="-122"/>
                <a:cs typeface="Arial" pitchFamily="34" charset="-120"/>
              </a:rPr>
              <a:t>URBAN INEQUALITY</a:t>
            </a:r>
            <a:endParaRPr lang="en-US" sz="3800" dirty="0"/>
          </a:p>
        </p:txBody>
      </p:sp>
      <p:sp>
        <p:nvSpPr>
          <p:cNvPr id="25" name="Text 23"/>
          <p:cNvSpPr/>
          <p:nvPr/>
        </p:nvSpPr>
        <p:spPr>
          <a:xfrm>
            <a:off x="365760" y="2084832"/>
            <a:ext cx="8229600" cy="777240"/>
          </a:xfrm>
          <a:prstGeom prst="rect">
            <a:avLst/>
          </a:prstGeom>
          <a:noFill/>
          <a:ln/>
        </p:spPr>
        <p:txBody>
          <a:bodyPr wrap="square" rtlCol="0" anchor="ctr"/>
          <a:lstStyle/>
          <a:p>
            <a:pPr indent="0" marL="0">
              <a:buNone/>
            </a:pPr>
            <a:r>
              <a:rPr lang="en-US" sz="3800" b="1" spc="400" kern="0" dirty="0">
                <a:solidFill>
                  <a:srgbClr val="5AACFF"/>
                </a:solidFill>
                <a:latin typeface="Arial" pitchFamily="34" charset="0"/>
                <a:ea typeface="Arial" pitchFamily="34" charset="-122"/>
                <a:cs typeface="Arial" pitchFamily="34" charset="-120"/>
              </a:rPr>
              <a:t>IN VADODARA</a:t>
            </a:r>
            <a:endParaRPr lang="en-US" sz="3800" dirty="0"/>
          </a:p>
        </p:txBody>
      </p:sp>
      <p:sp>
        <p:nvSpPr>
          <p:cNvPr id="26" name="Shape 24"/>
          <p:cNvSpPr/>
          <p:nvPr/>
        </p:nvSpPr>
        <p:spPr>
          <a:xfrm>
            <a:off x="365760" y="2962656"/>
            <a:ext cx="4114800" cy="0"/>
          </a:xfrm>
          <a:prstGeom prst="line">
            <a:avLst/>
          </a:prstGeom>
          <a:noFill/>
          <a:ln w="25400">
            <a:solidFill>
              <a:srgbClr val="D4A820"/>
            </a:solidFill>
            <a:prstDash val="solid"/>
          </a:ln>
        </p:spPr>
      </p:sp>
      <p:sp>
        <p:nvSpPr>
          <p:cNvPr id="27" name="Text 25"/>
          <p:cNvSpPr/>
          <p:nvPr/>
        </p:nvSpPr>
        <p:spPr>
          <a:xfrm>
            <a:off x="365760" y="3090672"/>
            <a:ext cx="8229600" cy="365760"/>
          </a:xfrm>
          <a:prstGeom prst="rect">
            <a:avLst/>
          </a:prstGeom>
          <a:noFill/>
          <a:ln/>
        </p:spPr>
        <p:txBody>
          <a:bodyPr wrap="square" rtlCol="0" anchor="ctr"/>
          <a:lstStyle/>
          <a:p>
            <a:pPr indent="0" marL="0">
              <a:buNone/>
            </a:pPr>
            <a:r>
              <a:rPr lang="en-US" sz="1400" i="1" dirty="0">
                <a:solidFill>
                  <a:srgbClr val="A0C4E0"/>
                </a:solidFill>
                <a:latin typeface="Arial" pitchFamily="34" charset="0"/>
                <a:ea typeface="Arial" pitchFamily="34" charset="-122"/>
                <a:cs typeface="Arial" pitchFamily="34" charset="-120"/>
              </a:rPr>
              <a:t>Geo-Spatial Analysis of Opportunity, Risk &amp; Accessibility</a:t>
            </a:r>
            <a:endParaRPr lang="en-US" sz="1400" dirty="0"/>
          </a:p>
        </p:txBody>
      </p:sp>
      <p:sp>
        <p:nvSpPr>
          <p:cNvPr id="28" name="Text 26"/>
          <p:cNvSpPr/>
          <p:nvPr/>
        </p:nvSpPr>
        <p:spPr>
          <a:xfrm>
            <a:off x="365760" y="3547872"/>
            <a:ext cx="8229600" cy="274320"/>
          </a:xfrm>
          <a:prstGeom prst="rect">
            <a:avLst/>
          </a:prstGeom>
          <a:noFill/>
          <a:ln/>
        </p:spPr>
        <p:txBody>
          <a:bodyPr wrap="square" rtlCol="0" anchor="ctr"/>
          <a:lstStyle/>
          <a:p>
            <a:pPr indent="0" marL="0">
              <a:buNone/>
            </a:pPr>
            <a:r>
              <a:rPr lang="en-US" sz="1100" dirty="0">
                <a:solidFill>
                  <a:srgbClr val="5A6272"/>
                </a:solidFill>
                <a:latin typeface="Arial" pitchFamily="34" charset="0"/>
                <a:ea typeface="Arial" pitchFamily="34" charset="-122"/>
                <a:cs typeface="Arial" pitchFamily="34" charset="-120"/>
              </a:rPr>
              <a:t>M.Sc. Statistics  ·  Vadodara Municipal Corporation  ·  32 Wards  ·  2024–2026</a:t>
            </a:r>
            <a:endParaRPr lang="en-US" sz="1100" dirty="0"/>
          </a:p>
        </p:txBody>
      </p:sp>
      <p:sp>
        <p:nvSpPr>
          <p:cNvPr id="29" name="Text 27"/>
          <p:cNvSpPr/>
          <p:nvPr/>
        </p:nvSpPr>
        <p:spPr>
          <a:xfrm>
            <a:off x="365760" y="4709160"/>
            <a:ext cx="5486400" cy="256032"/>
          </a:xfrm>
          <a:prstGeom prst="rect">
            <a:avLst/>
          </a:prstGeom>
          <a:noFill/>
          <a:ln/>
        </p:spPr>
        <p:txBody>
          <a:bodyPr wrap="square" rtlCol="0" anchor="ctr"/>
          <a:lstStyle/>
          <a:p>
            <a:pPr indent="0" marL="0">
              <a:buNone/>
            </a:pPr>
            <a:r>
              <a:rPr lang="en-US" sz="1000" b="1" dirty="0">
                <a:solidFill>
                  <a:srgbClr val="2A5A8A"/>
                </a:solidFill>
                <a:latin typeface="Arial" pitchFamily="34" charset="0"/>
                <a:ea typeface="Arial" pitchFamily="34" charset="-122"/>
                <a:cs typeface="Arial" pitchFamily="34" charset="-120"/>
              </a:rPr>
              <a:t>GCN + BYM2 + SWMM + city2graph</a:t>
            </a:r>
            <a:endParaRPr lang="en-US" sz="1000" dirty="0"/>
          </a:p>
        </p:txBody>
      </p:sp>
      <p:sp>
        <p:nvSpPr>
          <p:cNvPr id="30" name="Text 28"/>
          <p:cNvSpPr/>
          <p:nvPr/>
        </p:nvSpPr>
        <p:spPr>
          <a:xfrm>
            <a:off x="8412480" y="4869180"/>
            <a:ext cx="640080" cy="201168"/>
          </a:xfrm>
          <a:prstGeom prst="rect">
            <a:avLst/>
          </a:prstGeom>
          <a:noFill/>
          <a:ln/>
        </p:spPr>
        <p:txBody>
          <a:bodyPr wrap="square" rtlCol="0" anchor="ctr"/>
          <a:lstStyle/>
          <a:p>
            <a:pPr algn="r" indent="0" marL="0">
              <a:buNone/>
            </a:pPr>
            <a:r>
              <a:rPr lang="en-US" sz="900" dirty="0">
                <a:solidFill>
                  <a:srgbClr val="5A6272"/>
                </a:solidFill>
                <a:latin typeface="Arial" pitchFamily="34" charset="0"/>
                <a:ea typeface="Arial" pitchFamily="34" charset="-122"/>
                <a:cs typeface="Arial" pitchFamily="34" charset="-120"/>
              </a:rPr>
              <a:t>1 / 16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B1F3A"/>
          </a:solidFill>
          <a:ln w="12700">
            <a:solidFill>
              <a:srgbClr val="0B1F3A"/>
            </a:solidFill>
            <a:prstDash val="solid"/>
          </a:ln>
        </p:spPr>
      </p:sp>
      <p:sp>
        <p:nvSpPr>
          <p:cNvPr id="3" name="Text 1"/>
          <p:cNvSpPr/>
          <p:nvPr/>
        </p:nvSpPr>
        <p:spPr>
          <a:xfrm>
            <a:off x="228600" y="73152"/>
            <a:ext cx="8686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Thesis pipeline</a:t>
            </a:r>
            <a:endParaRPr lang="en-US" sz="2200" dirty="0"/>
          </a:p>
        </p:txBody>
      </p:sp>
      <p:sp>
        <p:nvSpPr>
          <p:cNvPr id="4" name="Text 2"/>
          <p:cNvSpPr/>
          <p:nvPr/>
        </p:nvSpPr>
        <p:spPr>
          <a:xfrm>
            <a:off x="228600" y="512064"/>
            <a:ext cx="8686800" cy="256032"/>
          </a:xfrm>
          <a:prstGeom prst="rect">
            <a:avLst/>
          </a:prstGeom>
          <a:noFill/>
          <a:ln/>
        </p:spPr>
        <p:txBody>
          <a:bodyPr wrap="square" rtlCol="0" anchor="ctr"/>
          <a:lstStyle/>
          <a:p>
            <a:pPr indent="0" marL="0">
              <a:buNone/>
            </a:pPr>
            <a:r>
              <a:rPr lang="en-US" sz="1100" dirty="0">
                <a:solidFill>
                  <a:srgbClr val="A0C0E0"/>
                </a:solidFill>
                <a:latin typeface="Arial" pitchFamily="34" charset="0"/>
                <a:ea typeface="Arial" pitchFamily="34" charset="-122"/>
                <a:cs typeface="Arial" pitchFamily="34" charset="-120"/>
              </a:rPr>
              <a:t>Five interconnected analytical stages</a:t>
            </a:r>
            <a:endParaRPr lang="en-US" sz="1100" dirty="0"/>
          </a:p>
        </p:txBody>
      </p:sp>
      <p:sp>
        <p:nvSpPr>
          <p:cNvPr id="5" name="Shape 3"/>
          <p:cNvSpPr/>
          <p:nvPr/>
        </p:nvSpPr>
        <p:spPr>
          <a:xfrm>
            <a:off x="0" y="777240"/>
            <a:ext cx="9144000" cy="0"/>
          </a:xfrm>
          <a:prstGeom prst="line">
            <a:avLst/>
          </a:prstGeom>
          <a:noFill/>
          <a:ln w="38100">
            <a:solidFill>
              <a:srgbClr val="D4A820"/>
            </a:solidFill>
            <a:prstDash val="solid"/>
          </a:ln>
        </p:spPr>
      </p:sp>
      <p:sp>
        <p:nvSpPr>
          <p:cNvPr id="6" name="Shape 4"/>
          <p:cNvSpPr/>
          <p:nvPr/>
        </p:nvSpPr>
        <p:spPr>
          <a:xfrm>
            <a:off x="228600" y="914400"/>
            <a:ext cx="1600200" cy="3474720"/>
          </a:xfrm>
          <a:prstGeom prst="rect">
            <a:avLst/>
          </a:prstGeom>
          <a:solidFill>
            <a:srgbClr val="F0F6FA"/>
          </a:solidFill>
          <a:ln w="10160">
            <a:solidFill>
              <a:srgbClr val="2E6DA4"/>
            </a:solidFill>
            <a:prstDash val="solid"/>
          </a:ln>
        </p:spPr>
      </p:sp>
      <p:sp>
        <p:nvSpPr>
          <p:cNvPr id="7" name="Shape 5"/>
          <p:cNvSpPr/>
          <p:nvPr/>
        </p:nvSpPr>
        <p:spPr>
          <a:xfrm>
            <a:off x="228600" y="914400"/>
            <a:ext cx="1600200" cy="457200"/>
          </a:xfrm>
          <a:prstGeom prst="rect">
            <a:avLst/>
          </a:prstGeom>
          <a:solidFill>
            <a:srgbClr val="1A4A8A"/>
          </a:solidFill>
          <a:ln w="12700">
            <a:solidFill>
              <a:srgbClr val="1A4A8A"/>
            </a:solidFill>
            <a:prstDash val="solid"/>
          </a:ln>
        </p:spPr>
      </p:sp>
      <p:sp>
        <p:nvSpPr>
          <p:cNvPr id="8" name="Text 6"/>
          <p:cNvSpPr/>
          <p:nvPr/>
        </p:nvSpPr>
        <p:spPr>
          <a:xfrm>
            <a:off x="283464" y="969264"/>
            <a:ext cx="320040" cy="347472"/>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9" name="Text 7"/>
          <p:cNvSpPr/>
          <p:nvPr/>
        </p:nvSpPr>
        <p:spPr>
          <a:xfrm>
            <a:off x="630936" y="1005840"/>
            <a:ext cx="1115568" cy="292608"/>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Data collection</a:t>
            </a:r>
            <a:endParaRPr lang="en-US" sz="1100" dirty="0"/>
          </a:p>
        </p:txBody>
      </p:sp>
      <p:sp>
        <p:nvSpPr>
          <p:cNvPr id="10" name="Text 8"/>
          <p:cNvSpPr/>
          <p:nvPr/>
        </p:nvSpPr>
        <p:spPr>
          <a:xfrm>
            <a:off x="320040" y="1481328"/>
            <a:ext cx="1426464" cy="2743200"/>
          </a:xfrm>
          <a:prstGeom prst="rect">
            <a:avLst/>
          </a:prstGeom>
          <a:noFill/>
          <a:ln/>
        </p:spPr>
        <p:txBody>
          <a:bodyPr wrap="square" rtlCol="0" anchor="ctr"/>
          <a:lstStyle/>
          <a:p>
            <a:pPr indent="0" marL="0">
              <a:buNone/>
            </a:pPr>
            <a:r>
              <a:rPr lang="en-US" sz="950" dirty="0">
                <a:solidFill>
                  <a:srgbClr val="1A2A40"/>
                </a:solidFill>
                <a:latin typeface="Arial" pitchFamily="34" charset="0"/>
                <a:ea typeface="Arial" pitchFamily="34" charset="-122"/>
                <a:cs typeface="Arial" pitchFamily="34" charset="-120"/>
              </a:rPr>
              <a:t>OSMnx · GTFS · SRTM DEM · VMC wards</a:t>
            </a:r>
            <a:endParaRPr lang="en-US" sz="950" dirty="0"/>
          </a:p>
        </p:txBody>
      </p:sp>
      <p:sp>
        <p:nvSpPr>
          <p:cNvPr id="11" name="Shape 9"/>
          <p:cNvSpPr/>
          <p:nvPr/>
        </p:nvSpPr>
        <p:spPr>
          <a:xfrm>
            <a:off x="1828800" y="1737360"/>
            <a:ext cx="137160" cy="228600"/>
          </a:xfrm>
          <a:prstGeom prst="roundRect">
            <a:avLst>
              <a:gd name="adj" fmla="val 26667"/>
            </a:avLst>
          </a:prstGeom>
          <a:solidFill>
            <a:srgbClr val="D4A820"/>
          </a:solidFill>
          <a:ln w="12700">
            <a:solidFill>
              <a:srgbClr val="D4A820"/>
            </a:solidFill>
            <a:prstDash val="solid"/>
          </a:ln>
        </p:spPr>
      </p:sp>
      <p:sp>
        <p:nvSpPr>
          <p:cNvPr id="12" name="Shape 10"/>
          <p:cNvSpPr/>
          <p:nvPr/>
        </p:nvSpPr>
        <p:spPr>
          <a:xfrm>
            <a:off x="1984248" y="914400"/>
            <a:ext cx="1600200" cy="3474720"/>
          </a:xfrm>
          <a:prstGeom prst="rect">
            <a:avLst/>
          </a:prstGeom>
          <a:solidFill>
            <a:srgbClr val="F0F6FA"/>
          </a:solidFill>
          <a:ln w="10160">
            <a:solidFill>
              <a:srgbClr val="2E6DA4"/>
            </a:solidFill>
            <a:prstDash val="solid"/>
          </a:ln>
        </p:spPr>
      </p:sp>
      <p:sp>
        <p:nvSpPr>
          <p:cNvPr id="13" name="Shape 11"/>
          <p:cNvSpPr/>
          <p:nvPr/>
        </p:nvSpPr>
        <p:spPr>
          <a:xfrm>
            <a:off x="1984248" y="914400"/>
            <a:ext cx="1600200" cy="457200"/>
          </a:xfrm>
          <a:prstGeom prst="rect">
            <a:avLst/>
          </a:prstGeom>
          <a:solidFill>
            <a:srgbClr val="1A6B5A"/>
          </a:solidFill>
          <a:ln w="12700">
            <a:solidFill>
              <a:srgbClr val="1A6B5A"/>
            </a:solidFill>
            <a:prstDash val="solid"/>
          </a:ln>
        </p:spPr>
      </p:sp>
      <p:sp>
        <p:nvSpPr>
          <p:cNvPr id="14" name="Text 12"/>
          <p:cNvSpPr/>
          <p:nvPr/>
        </p:nvSpPr>
        <p:spPr>
          <a:xfrm>
            <a:off x="2039112" y="969264"/>
            <a:ext cx="320040" cy="347472"/>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5" name="Text 13"/>
          <p:cNvSpPr/>
          <p:nvPr/>
        </p:nvSpPr>
        <p:spPr>
          <a:xfrm>
            <a:off x="2386584" y="1005840"/>
            <a:ext cx="1115568" cy="292608"/>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UOI construction</a:t>
            </a:r>
            <a:endParaRPr lang="en-US" sz="1100" dirty="0"/>
          </a:p>
        </p:txBody>
      </p:sp>
      <p:sp>
        <p:nvSpPr>
          <p:cNvPr id="16" name="Text 14"/>
          <p:cNvSpPr/>
          <p:nvPr/>
        </p:nvSpPr>
        <p:spPr>
          <a:xfrm>
            <a:off x="2075688" y="1481328"/>
            <a:ext cx="1426464" cy="2743200"/>
          </a:xfrm>
          <a:prstGeom prst="rect">
            <a:avLst/>
          </a:prstGeom>
          <a:noFill/>
          <a:ln/>
        </p:spPr>
        <p:txBody>
          <a:bodyPr wrap="square" rtlCol="0" anchor="ctr"/>
          <a:lstStyle/>
          <a:p>
            <a:pPr indent="0" marL="0">
              <a:buNone/>
            </a:pPr>
            <a:r>
              <a:rPr lang="en-US" sz="950" dirty="0">
                <a:solidFill>
                  <a:srgbClr val="1A2A40"/>
                </a:solidFill>
                <a:latin typeface="Arial" pitchFamily="34" charset="0"/>
                <a:ea typeface="Arial" pitchFamily="34" charset="-122"/>
                <a:cs typeface="Arial" pitchFamily="34" charset="-120"/>
              </a:rPr>
              <a:t>Normalised composite: Health 30% · Edu 30% · Transit 20% · Flood 20%</a:t>
            </a:r>
            <a:endParaRPr lang="en-US" sz="950" dirty="0"/>
          </a:p>
        </p:txBody>
      </p:sp>
      <p:sp>
        <p:nvSpPr>
          <p:cNvPr id="17" name="Shape 15"/>
          <p:cNvSpPr/>
          <p:nvPr/>
        </p:nvSpPr>
        <p:spPr>
          <a:xfrm>
            <a:off x="3584448" y="1737360"/>
            <a:ext cx="137160" cy="228600"/>
          </a:xfrm>
          <a:prstGeom prst="roundRect">
            <a:avLst>
              <a:gd name="adj" fmla="val 26667"/>
            </a:avLst>
          </a:prstGeom>
          <a:solidFill>
            <a:srgbClr val="D4A820"/>
          </a:solidFill>
          <a:ln w="12700">
            <a:solidFill>
              <a:srgbClr val="D4A820"/>
            </a:solidFill>
            <a:prstDash val="solid"/>
          </a:ln>
        </p:spPr>
      </p:sp>
      <p:sp>
        <p:nvSpPr>
          <p:cNvPr id="18" name="Shape 16"/>
          <p:cNvSpPr/>
          <p:nvPr/>
        </p:nvSpPr>
        <p:spPr>
          <a:xfrm>
            <a:off x="3739896" y="914400"/>
            <a:ext cx="1600200" cy="3474720"/>
          </a:xfrm>
          <a:prstGeom prst="rect">
            <a:avLst/>
          </a:prstGeom>
          <a:solidFill>
            <a:srgbClr val="F0F6FA"/>
          </a:solidFill>
          <a:ln w="10160">
            <a:solidFill>
              <a:srgbClr val="2E6DA4"/>
            </a:solidFill>
            <a:prstDash val="solid"/>
          </a:ln>
        </p:spPr>
      </p:sp>
      <p:sp>
        <p:nvSpPr>
          <p:cNvPr id="19" name="Shape 17"/>
          <p:cNvSpPr/>
          <p:nvPr/>
        </p:nvSpPr>
        <p:spPr>
          <a:xfrm>
            <a:off x="3739896" y="914400"/>
            <a:ext cx="1600200" cy="457200"/>
          </a:xfrm>
          <a:prstGeom prst="rect">
            <a:avLst/>
          </a:prstGeom>
          <a:solidFill>
            <a:srgbClr val="8A4A1A"/>
          </a:solidFill>
          <a:ln w="12700">
            <a:solidFill>
              <a:srgbClr val="8A4A1A"/>
            </a:solidFill>
            <a:prstDash val="solid"/>
          </a:ln>
        </p:spPr>
      </p:sp>
      <p:sp>
        <p:nvSpPr>
          <p:cNvPr id="20" name="Text 18"/>
          <p:cNvSpPr/>
          <p:nvPr/>
        </p:nvSpPr>
        <p:spPr>
          <a:xfrm>
            <a:off x="3794760" y="969264"/>
            <a:ext cx="320040" cy="347472"/>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21" name="Text 19"/>
          <p:cNvSpPr/>
          <p:nvPr/>
        </p:nvSpPr>
        <p:spPr>
          <a:xfrm>
            <a:off x="4142232" y="1005840"/>
            <a:ext cx="1115568" cy="292608"/>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Spatial statistics</a:t>
            </a:r>
            <a:endParaRPr lang="en-US" sz="1100" dirty="0"/>
          </a:p>
        </p:txBody>
      </p:sp>
      <p:sp>
        <p:nvSpPr>
          <p:cNvPr id="22" name="Text 20"/>
          <p:cNvSpPr/>
          <p:nvPr/>
        </p:nvSpPr>
        <p:spPr>
          <a:xfrm>
            <a:off x="3831336" y="1481328"/>
            <a:ext cx="1426464" cy="2743200"/>
          </a:xfrm>
          <a:prstGeom prst="rect">
            <a:avLst/>
          </a:prstGeom>
          <a:noFill/>
          <a:ln/>
        </p:spPr>
        <p:txBody>
          <a:bodyPr wrap="square" rtlCol="0" anchor="ctr"/>
          <a:lstStyle/>
          <a:p>
            <a:pPr indent="0" marL="0">
              <a:buNone/>
            </a:pPr>
            <a:r>
              <a:rPr lang="en-US" sz="950" dirty="0">
                <a:solidFill>
                  <a:srgbClr val="1A2A40"/>
                </a:solidFill>
                <a:latin typeface="Arial" pitchFamily="34" charset="0"/>
                <a:ea typeface="Arial" pitchFamily="34" charset="-122"/>
                <a:cs typeface="Arial" pitchFamily="34" charset="-120"/>
              </a:rPr>
              <a:t>Moran's I · LISA · OLS → SLM/SEM → GWR → BYM2</a:t>
            </a:r>
            <a:endParaRPr lang="en-US" sz="950" dirty="0"/>
          </a:p>
        </p:txBody>
      </p:sp>
      <p:sp>
        <p:nvSpPr>
          <p:cNvPr id="23" name="Shape 21"/>
          <p:cNvSpPr/>
          <p:nvPr/>
        </p:nvSpPr>
        <p:spPr>
          <a:xfrm>
            <a:off x="5340096" y="1737360"/>
            <a:ext cx="137160" cy="228600"/>
          </a:xfrm>
          <a:prstGeom prst="roundRect">
            <a:avLst>
              <a:gd name="adj" fmla="val 26667"/>
            </a:avLst>
          </a:prstGeom>
          <a:solidFill>
            <a:srgbClr val="D4A820"/>
          </a:solidFill>
          <a:ln w="12700">
            <a:solidFill>
              <a:srgbClr val="D4A820"/>
            </a:solidFill>
            <a:prstDash val="solid"/>
          </a:ln>
        </p:spPr>
      </p:sp>
      <p:sp>
        <p:nvSpPr>
          <p:cNvPr id="24" name="Shape 22"/>
          <p:cNvSpPr/>
          <p:nvPr/>
        </p:nvSpPr>
        <p:spPr>
          <a:xfrm>
            <a:off x="5495544" y="914400"/>
            <a:ext cx="1600200" cy="3474720"/>
          </a:xfrm>
          <a:prstGeom prst="rect">
            <a:avLst/>
          </a:prstGeom>
          <a:solidFill>
            <a:srgbClr val="F0F6FA"/>
          </a:solidFill>
          <a:ln w="10160">
            <a:solidFill>
              <a:srgbClr val="2E6DA4"/>
            </a:solidFill>
            <a:prstDash val="solid"/>
          </a:ln>
        </p:spPr>
      </p:sp>
      <p:sp>
        <p:nvSpPr>
          <p:cNvPr id="25" name="Shape 23"/>
          <p:cNvSpPr/>
          <p:nvPr/>
        </p:nvSpPr>
        <p:spPr>
          <a:xfrm>
            <a:off x="5495544" y="914400"/>
            <a:ext cx="1600200" cy="457200"/>
          </a:xfrm>
          <a:prstGeom prst="rect">
            <a:avLst/>
          </a:prstGeom>
          <a:solidFill>
            <a:srgbClr val="6A1A3A"/>
          </a:solidFill>
          <a:ln w="12700">
            <a:solidFill>
              <a:srgbClr val="6A1A3A"/>
            </a:solidFill>
            <a:prstDash val="solid"/>
          </a:ln>
        </p:spPr>
      </p:sp>
      <p:sp>
        <p:nvSpPr>
          <p:cNvPr id="26" name="Text 24"/>
          <p:cNvSpPr/>
          <p:nvPr/>
        </p:nvSpPr>
        <p:spPr>
          <a:xfrm>
            <a:off x="5550408" y="969264"/>
            <a:ext cx="320040" cy="347472"/>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7" name="Text 25"/>
          <p:cNvSpPr/>
          <p:nvPr/>
        </p:nvSpPr>
        <p:spPr>
          <a:xfrm>
            <a:off x="5897880" y="1005840"/>
            <a:ext cx="1115568" cy="292608"/>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Hydrodynamics</a:t>
            </a:r>
            <a:endParaRPr lang="en-US" sz="1100" dirty="0"/>
          </a:p>
        </p:txBody>
      </p:sp>
      <p:sp>
        <p:nvSpPr>
          <p:cNvPr id="28" name="Text 26"/>
          <p:cNvSpPr/>
          <p:nvPr/>
        </p:nvSpPr>
        <p:spPr>
          <a:xfrm>
            <a:off x="5586984" y="1481328"/>
            <a:ext cx="1426464" cy="2743200"/>
          </a:xfrm>
          <a:prstGeom prst="rect">
            <a:avLst/>
          </a:prstGeom>
          <a:noFill/>
          <a:ln/>
        </p:spPr>
        <p:txBody>
          <a:bodyPr wrap="square" rtlCol="0" anchor="ctr"/>
          <a:lstStyle/>
          <a:p>
            <a:pPr indent="0" marL="0">
              <a:buNone/>
            </a:pPr>
            <a:r>
              <a:rPr lang="en-US" sz="950" dirty="0">
                <a:solidFill>
                  <a:srgbClr val="1A2A40"/>
                </a:solidFill>
                <a:latin typeface="Arial" pitchFamily="34" charset="0"/>
                <a:ea typeface="Arial" pitchFamily="34" charset="-122"/>
                <a:cs typeface="Arial" pitchFamily="34" charset="-120"/>
              </a:rPr>
              <a:t>SWMM DYNWAVE 4-hour cloudburst · ward flood road %</a:t>
            </a:r>
            <a:endParaRPr lang="en-US" sz="950" dirty="0"/>
          </a:p>
        </p:txBody>
      </p:sp>
      <p:sp>
        <p:nvSpPr>
          <p:cNvPr id="29" name="Shape 27"/>
          <p:cNvSpPr/>
          <p:nvPr/>
        </p:nvSpPr>
        <p:spPr>
          <a:xfrm>
            <a:off x="7095744" y="1737360"/>
            <a:ext cx="137160" cy="228600"/>
          </a:xfrm>
          <a:prstGeom prst="roundRect">
            <a:avLst>
              <a:gd name="adj" fmla="val 26667"/>
            </a:avLst>
          </a:prstGeom>
          <a:solidFill>
            <a:srgbClr val="D4A820"/>
          </a:solidFill>
          <a:ln w="12700">
            <a:solidFill>
              <a:srgbClr val="D4A820"/>
            </a:solidFill>
            <a:prstDash val="solid"/>
          </a:ln>
        </p:spPr>
      </p:sp>
      <p:sp>
        <p:nvSpPr>
          <p:cNvPr id="30" name="Shape 28"/>
          <p:cNvSpPr/>
          <p:nvPr/>
        </p:nvSpPr>
        <p:spPr>
          <a:xfrm>
            <a:off x="7251192" y="914400"/>
            <a:ext cx="1600200" cy="3474720"/>
          </a:xfrm>
          <a:prstGeom prst="rect">
            <a:avLst/>
          </a:prstGeom>
          <a:solidFill>
            <a:srgbClr val="F0F6FA"/>
          </a:solidFill>
          <a:ln w="10160">
            <a:solidFill>
              <a:srgbClr val="2E6DA4"/>
            </a:solidFill>
            <a:prstDash val="solid"/>
          </a:ln>
        </p:spPr>
      </p:sp>
      <p:sp>
        <p:nvSpPr>
          <p:cNvPr id="31" name="Shape 29"/>
          <p:cNvSpPr/>
          <p:nvPr/>
        </p:nvSpPr>
        <p:spPr>
          <a:xfrm>
            <a:off x="7251192" y="914400"/>
            <a:ext cx="1600200" cy="457200"/>
          </a:xfrm>
          <a:prstGeom prst="rect">
            <a:avLst/>
          </a:prstGeom>
          <a:solidFill>
            <a:srgbClr val="1A3A8A"/>
          </a:solidFill>
          <a:ln w="12700">
            <a:solidFill>
              <a:srgbClr val="1A3A8A"/>
            </a:solidFill>
            <a:prstDash val="solid"/>
          </a:ln>
        </p:spPr>
      </p:sp>
      <p:sp>
        <p:nvSpPr>
          <p:cNvPr id="32" name="Text 30"/>
          <p:cNvSpPr/>
          <p:nvPr/>
        </p:nvSpPr>
        <p:spPr>
          <a:xfrm>
            <a:off x="7306056" y="969264"/>
            <a:ext cx="320040" cy="347472"/>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33" name="Text 31"/>
          <p:cNvSpPr/>
          <p:nvPr/>
        </p:nvSpPr>
        <p:spPr>
          <a:xfrm>
            <a:off x="7653528" y="1005840"/>
            <a:ext cx="1115568" cy="292608"/>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GNN + BYM2</a:t>
            </a:r>
            <a:endParaRPr lang="en-US" sz="1100" dirty="0"/>
          </a:p>
        </p:txBody>
      </p:sp>
      <p:sp>
        <p:nvSpPr>
          <p:cNvPr id="34" name="Text 32"/>
          <p:cNvSpPr/>
          <p:nvPr/>
        </p:nvSpPr>
        <p:spPr>
          <a:xfrm>
            <a:off x="7342632" y="1481328"/>
            <a:ext cx="1426464" cy="2743200"/>
          </a:xfrm>
          <a:prstGeom prst="rect">
            <a:avLst/>
          </a:prstGeom>
          <a:noFill/>
          <a:ln/>
        </p:spPr>
        <p:txBody>
          <a:bodyPr wrap="square" rtlCol="0" anchor="ctr"/>
          <a:lstStyle/>
          <a:p>
            <a:pPr indent="0" marL="0">
              <a:buNone/>
            </a:pPr>
            <a:r>
              <a:rPr lang="en-US" sz="950" dirty="0">
                <a:solidFill>
                  <a:srgbClr val="1A2A40"/>
                </a:solidFill>
                <a:latin typeface="Arial" pitchFamily="34" charset="0"/>
                <a:ea typeface="Arial" pitchFamily="34" charset="-122"/>
                <a:cs typeface="Arial" pitchFamily="34" charset="-120"/>
              </a:rPr>
              <a:t>GCN embeddings → ICAR spatial model · hybrid inference</a:t>
            </a:r>
            <a:endParaRPr lang="en-US" sz="950" dirty="0"/>
          </a:p>
        </p:txBody>
      </p:sp>
      <p:sp>
        <p:nvSpPr>
          <p:cNvPr id="35" name="Text 33"/>
          <p:cNvSpPr/>
          <p:nvPr/>
        </p:nvSpPr>
        <p:spPr>
          <a:xfrm>
            <a:off x="8412480" y="4869180"/>
            <a:ext cx="640080" cy="201168"/>
          </a:xfrm>
          <a:prstGeom prst="rect">
            <a:avLst/>
          </a:prstGeom>
          <a:noFill/>
          <a:ln/>
        </p:spPr>
        <p:txBody>
          <a:bodyPr wrap="square" rtlCol="0" anchor="ctr"/>
          <a:lstStyle/>
          <a:p>
            <a:pPr algn="r" indent="0" marL="0">
              <a:buNone/>
            </a:pPr>
            <a:r>
              <a:rPr lang="en-US" sz="900" dirty="0">
                <a:solidFill>
                  <a:srgbClr val="5A6272"/>
                </a:solidFill>
                <a:latin typeface="Arial" pitchFamily="34" charset="0"/>
                <a:ea typeface="Arial" pitchFamily="34" charset="-122"/>
                <a:cs typeface="Arial" pitchFamily="34" charset="-120"/>
              </a:rPr>
              <a:t>2 / 16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B1F3A"/>
          </a:solidFill>
          <a:ln w="12700">
            <a:solidFill>
              <a:srgbClr val="0B1F3A"/>
            </a:solidFill>
            <a:prstDash val="solid"/>
          </a:ln>
        </p:spPr>
      </p:sp>
      <p:sp>
        <p:nvSpPr>
          <p:cNvPr id="3" name="Text 1"/>
          <p:cNvSpPr/>
          <p:nvPr/>
        </p:nvSpPr>
        <p:spPr>
          <a:xfrm>
            <a:off x="228600" y="73152"/>
            <a:ext cx="8686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Urban Opportunity Index</a:t>
            </a:r>
            <a:endParaRPr lang="en-US" sz="2200" dirty="0"/>
          </a:p>
        </p:txBody>
      </p:sp>
      <p:sp>
        <p:nvSpPr>
          <p:cNvPr id="4" name="Text 2"/>
          <p:cNvSpPr/>
          <p:nvPr/>
        </p:nvSpPr>
        <p:spPr>
          <a:xfrm>
            <a:off x="228600" y="512064"/>
            <a:ext cx="8686800" cy="256032"/>
          </a:xfrm>
          <a:prstGeom prst="rect">
            <a:avLst/>
          </a:prstGeom>
          <a:noFill/>
          <a:ln/>
        </p:spPr>
        <p:txBody>
          <a:bodyPr wrap="square" rtlCol="0" anchor="ctr"/>
          <a:lstStyle/>
          <a:p>
            <a:pPr indent="0" marL="0">
              <a:buNone/>
            </a:pPr>
            <a:r>
              <a:rPr lang="en-US" sz="1100" dirty="0">
                <a:solidFill>
                  <a:srgbClr val="A0C0E0"/>
                </a:solidFill>
                <a:latin typeface="Arial" pitchFamily="34" charset="0"/>
                <a:ea typeface="Arial" pitchFamily="34" charset="-122"/>
                <a:cs typeface="Arial" pitchFamily="34" charset="-120"/>
              </a:rPr>
              <a:t>Formula, weights, and normalisation</a:t>
            </a:r>
            <a:endParaRPr lang="en-US" sz="1100" dirty="0"/>
          </a:p>
        </p:txBody>
      </p:sp>
      <p:sp>
        <p:nvSpPr>
          <p:cNvPr id="5" name="Shape 3"/>
          <p:cNvSpPr/>
          <p:nvPr/>
        </p:nvSpPr>
        <p:spPr>
          <a:xfrm>
            <a:off x="0" y="777240"/>
            <a:ext cx="9144000" cy="0"/>
          </a:xfrm>
          <a:prstGeom prst="line">
            <a:avLst/>
          </a:prstGeom>
          <a:noFill/>
          <a:ln w="38100">
            <a:solidFill>
              <a:srgbClr val="D4A820"/>
            </a:solidFill>
            <a:prstDash val="solid"/>
          </a:ln>
        </p:spPr>
      </p:sp>
      <p:sp>
        <p:nvSpPr>
          <p:cNvPr id="6" name="Shape 4"/>
          <p:cNvSpPr/>
          <p:nvPr/>
        </p:nvSpPr>
        <p:spPr>
          <a:xfrm>
            <a:off x="274320" y="914400"/>
            <a:ext cx="8595360" cy="777240"/>
          </a:xfrm>
          <a:prstGeom prst="rect">
            <a:avLst/>
          </a:prstGeom>
          <a:solidFill>
            <a:srgbClr val="0B1F3A"/>
          </a:solidFill>
          <a:ln w="10160">
            <a:solidFill>
              <a:srgbClr val="1A4A8A"/>
            </a:solidFill>
            <a:prstDash val="solid"/>
          </a:ln>
        </p:spPr>
      </p:sp>
      <p:sp>
        <p:nvSpPr>
          <p:cNvPr id="7" name="Text 5"/>
          <p:cNvSpPr/>
          <p:nvPr/>
        </p:nvSpPr>
        <p:spPr>
          <a:xfrm>
            <a:off x="457200" y="1005840"/>
            <a:ext cx="8229600" cy="548640"/>
          </a:xfrm>
          <a:prstGeom prst="rect">
            <a:avLst/>
          </a:prstGeom>
          <a:noFill/>
          <a:ln/>
        </p:spPr>
        <p:txBody>
          <a:bodyPr wrap="square" rtlCol="0" anchor="ctr"/>
          <a:lstStyle/>
          <a:p>
            <a:pPr algn="ctr" indent="0" marL="0">
              <a:buNone/>
            </a:pPr>
            <a:r>
              <a:rPr lang="en-US" sz="1800" b="1" dirty="0">
                <a:solidFill>
                  <a:srgbClr val="D4A820"/>
                </a:solidFill>
                <a:latin typeface="Courier New" pitchFamily="34" charset="0"/>
                <a:ea typeface="Courier New" pitchFamily="34" charset="-122"/>
                <a:cs typeface="Courier New" pitchFamily="34" charset="-120"/>
              </a:rPr>
              <a:t>UOI_i  =  0.30 · Ĥ_i  +  0.30 · Ê_i  +  0.20 · T̂_i  +  0.20 · (1 − F̂_i)</a:t>
            </a:r>
            <a:endParaRPr lang="en-US" sz="1800" dirty="0"/>
          </a:p>
        </p:txBody>
      </p:sp>
      <p:sp>
        <p:nvSpPr>
          <p:cNvPr id="8" name="Shape 6"/>
          <p:cNvSpPr/>
          <p:nvPr/>
        </p:nvSpPr>
        <p:spPr>
          <a:xfrm>
            <a:off x="274320" y="1874520"/>
            <a:ext cx="2011680" cy="2560320"/>
          </a:xfrm>
          <a:prstGeom prst="rect">
            <a:avLst/>
          </a:prstGeom>
          <a:solidFill>
            <a:srgbClr val="F4F8FC"/>
          </a:solidFill>
          <a:ln w="15240">
            <a:solidFill>
              <a:srgbClr val="C0392B"/>
            </a:solidFill>
            <a:prstDash val="solid"/>
          </a:ln>
        </p:spPr>
      </p:sp>
      <p:sp>
        <p:nvSpPr>
          <p:cNvPr id="9" name="Shape 7"/>
          <p:cNvSpPr/>
          <p:nvPr/>
        </p:nvSpPr>
        <p:spPr>
          <a:xfrm>
            <a:off x="274320" y="1874520"/>
            <a:ext cx="2011680" cy="384048"/>
          </a:xfrm>
          <a:prstGeom prst="rect">
            <a:avLst/>
          </a:prstGeom>
          <a:solidFill>
            <a:srgbClr val="C0392B"/>
          </a:solidFill>
          <a:ln w="12700">
            <a:solidFill>
              <a:srgbClr val="C0392B"/>
            </a:solidFill>
            <a:prstDash val="solid"/>
          </a:ln>
        </p:spPr>
      </p:sp>
      <p:sp>
        <p:nvSpPr>
          <p:cNvPr id="10" name="Text 8"/>
          <p:cNvSpPr/>
          <p:nvPr/>
        </p:nvSpPr>
        <p:spPr>
          <a:xfrm>
            <a:off x="347472" y="1929384"/>
            <a:ext cx="1865376" cy="27432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Ĥ  Healthcare</a:t>
            </a:r>
            <a:endParaRPr lang="en-US" sz="1100" dirty="0"/>
          </a:p>
        </p:txBody>
      </p:sp>
      <p:sp>
        <p:nvSpPr>
          <p:cNvPr id="11" name="Text 9"/>
          <p:cNvSpPr/>
          <p:nvPr/>
        </p:nvSpPr>
        <p:spPr>
          <a:xfrm>
            <a:off x="347472" y="2350008"/>
            <a:ext cx="1865376" cy="274320"/>
          </a:xfrm>
          <a:prstGeom prst="rect">
            <a:avLst/>
          </a:prstGeom>
          <a:noFill/>
          <a:ln/>
        </p:spPr>
        <p:txBody>
          <a:bodyPr wrap="square" rtlCol="0" anchor="ctr"/>
          <a:lstStyle/>
          <a:p>
            <a:pPr indent="0" marL="0">
              <a:buNone/>
            </a:pPr>
            <a:r>
              <a:rPr lang="en-US" sz="1300" b="1" dirty="0">
                <a:solidFill>
                  <a:srgbClr val="C0392B"/>
                </a:solidFill>
                <a:latin typeface="Arial" pitchFamily="34" charset="0"/>
                <a:ea typeface="Arial" pitchFamily="34" charset="-122"/>
                <a:cs typeface="Arial" pitchFamily="34" charset="-120"/>
              </a:rPr>
              <a:t>Weight: 30%</a:t>
            </a:r>
            <a:endParaRPr lang="en-US" sz="1300" dirty="0"/>
          </a:p>
        </p:txBody>
      </p:sp>
      <p:sp>
        <p:nvSpPr>
          <p:cNvPr id="12" name="Text 10"/>
          <p:cNvSpPr/>
          <p:nvPr/>
        </p:nvSpPr>
        <p:spPr>
          <a:xfrm>
            <a:off x="347472" y="2697480"/>
            <a:ext cx="1865376" cy="1645920"/>
          </a:xfrm>
          <a:prstGeom prst="rect">
            <a:avLst/>
          </a:prstGeom>
          <a:noFill/>
          <a:ln/>
        </p:spPr>
        <p:txBody>
          <a:bodyPr wrap="square" rtlCol="0" anchor="ctr"/>
          <a:lstStyle/>
          <a:p>
            <a:pPr indent="0" marL="0">
              <a:buNone/>
            </a:pPr>
            <a:r>
              <a:rPr lang="en-US" sz="900" dirty="0">
                <a:solidFill>
                  <a:srgbClr val="2A3A50"/>
                </a:solidFill>
                <a:latin typeface="Arial" pitchFamily="34" charset="0"/>
                <a:ea typeface="Arial" pitchFamily="34" charset="-122"/>
                <a:cs typeface="Arial" pitchFamily="34" charset="-120"/>
              </a:rPr>
              <a:t>Drive-time isochrone to nearest hospital/clinic via OSMnx road network</a:t>
            </a:r>
            <a:endParaRPr lang="en-US" sz="900" dirty="0"/>
          </a:p>
        </p:txBody>
      </p:sp>
      <p:sp>
        <p:nvSpPr>
          <p:cNvPr id="13" name="Shape 11"/>
          <p:cNvSpPr/>
          <p:nvPr/>
        </p:nvSpPr>
        <p:spPr>
          <a:xfrm>
            <a:off x="2450592" y="1874520"/>
            <a:ext cx="2011680" cy="2560320"/>
          </a:xfrm>
          <a:prstGeom prst="rect">
            <a:avLst/>
          </a:prstGeom>
          <a:solidFill>
            <a:srgbClr val="F4F8FC"/>
          </a:solidFill>
          <a:ln w="15240">
            <a:solidFill>
              <a:srgbClr val="1A4A8A"/>
            </a:solidFill>
            <a:prstDash val="solid"/>
          </a:ln>
        </p:spPr>
      </p:sp>
      <p:sp>
        <p:nvSpPr>
          <p:cNvPr id="14" name="Shape 12"/>
          <p:cNvSpPr/>
          <p:nvPr/>
        </p:nvSpPr>
        <p:spPr>
          <a:xfrm>
            <a:off x="2450592" y="1874520"/>
            <a:ext cx="2011680" cy="384048"/>
          </a:xfrm>
          <a:prstGeom prst="rect">
            <a:avLst/>
          </a:prstGeom>
          <a:solidFill>
            <a:srgbClr val="1A4A8A"/>
          </a:solidFill>
          <a:ln w="12700">
            <a:solidFill>
              <a:srgbClr val="1A4A8A"/>
            </a:solidFill>
            <a:prstDash val="solid"/>
          </a:ln>
        </p:spPr>
      </p:sp>
      <p:sp>
        <p:nvSpPr>
          <p:cNvPr id="15" name="Text 13"/>
          <p:cNvSpPr/>
          <p:nvPr/>
        </p:nvSpPr>
        <p:spPr>
          <a:xfrm>
            <a:off x="2523744" y="1929384"/>
            <a:ext cx="1865376" cy="27432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Ê  Education</a:t>
            </a:r>
            <a:endParaRPr lang="en-US" sz="1100" dirty="0"/>
          </a:p>
        </p:txBody>
      </p:sp>
      <p:sp>
        <p:nvSpPr>
          <p:cNvPr id="16" name="Text 14"/>
          <p:cNvSpPr/>
          <p:nvPr/>
        </p:nvSpPr>
        <p:spPr>
          <a:xfrm>
            <a:off x="2523744" y="2350008"/>
            <a:ext cx="1865376" cy="274320"/>
          </a:xfrm>
          <a:prstGeom prst="rect">
            <a:avLst/>
          </a:prstGeom>
          <a:noFill/>
          <a:ln/>
        </p:spPr>
        <p:txBody>
          <a:bodyPr wrap="square" rtlCol="0" anchor="ctr"/>
          <a:lstStyle/>
          <a:p>
            <a:pPr indent="0" marL="0">
              <a:buNone/>
            </a:pPr>
            <a:r>
              <a:rPr lang="en-US" sz="1300" b="1" dirty="0">
                <a:solidFill>
                  <a:srgbClr val="1A4A8A"/>
                </a:solidFill>
                <a:latin typeface="Arial" pitchFamily="34" charset="0"/>
                <a:ea typeface="Arial" pitchFamily="34" charset="-122"/>
                <a:cs typeface="Arial" pitchFamily="34" charset="-120"/>
              </a:rPr>
              <a:t>Weight: 30%</a:t>
            </a:r>
            <a:endParaRPr lang="en-US" sz="1300" dirty="0"/>
          </a:p>
        </p:txBody>
      </p:sp>
      <p:sp>
        <p:nvSpPr>
          <p:cNvPr id="17" name="Text 15"/>
          <p:cNvSpPr/>
          <p:nvPr/>
        </p:nvSpPr>
        <p:spPr>
          <a:xfrm>
            <a:off x="2523744" y="2697480"/>
            <a:ext cx="1865376" cy="1645920"/>
          </a:xfrm>
          <a:prstGeom prst="rect">
            <a:avLst/>
          </a:prstGeom>
          <a:noFill/>
          <a:ln/>
        </p:spPr>
        <p:txBody>
          <a:bodyPr wrap="square" rtlCol="0" anchor="ctr"/>
          <a:lstStyle/>
          <a:p>
            <a:pPr indent="0" marL="0">
              <a:buNone/>
            </a:pPr>
            <a:r>
              <a:rPr lang="en-US" sz="900" dirty="0">
                <a:solidFill>
                  <a:srgbClr val="2A3A50"/>
                </a:solidFill>
                <a:latin typeface="Arial" pitchFamily="34" charset="0"/>
                <a:ea typeface="Arial" pitchFamily="34" charset="-122"/>
                <a:cs typeface="Arial" pitchFamily="34" charset="-120"/>
              </a:rPr>
              <a:t>Walk-time isochrone to nearest school/university via OSMnx</a:t>
            </a:r>
            <a:endParaRPr lang="en-US" sz="900" dirty="0"/>
          </a:p>
        </p:txBody>
      </p:sp>
      <p:sp>
        <p:nvSpPr>
          <p:cNvPr id="18" name="Shape 16"/>
          <p:cNvSpPr/>
          <p:nvPr/>
        </p:nvSpPr>
        <p:spPr>
          <a:xfrm>
            <a:off x="4626864" y="1874520"/>
            <a:ext cx="2011680" cy="2560320"/>
          </a:xfrm>
          <a:prstGeom prst="rect">
            <a:avLst/>
          </a:prstGeom>
          <a:solidFill>
            <a:srgbClr val="F4F8FC"/>
          </a:solidFill>
          <a:ln w="15240">
            <a:solidFill>
              <a:srgbClr val="1A6B5A"/>
            </a:solidFill>
            <a:prstDash val="solid"/>
          </a:ln>
        </p:spPr>
      </p:sp>
      <p:sp>
        <p:nvSpPr>
          <p:cNvPr id="19" name="Shape 17"/>
          <p:cNvSpPr/>
          <p:nvPr/>
        </p:nvSpPr>
        <p:spPr>
          <a:xfrm>
            <a:off x="4626864" y="1874520"/>
            <a:ext cx="2011680" cy="384048"/>
          </a:xfrm>
          <a:prstGeom prst="rect">
            <a:avLst/>
          </a:prstGeom>
          <a:solidFill>
            <a:srgbClr val="1A6B5A"/>
          </a:solidFill>
          <a:ln w="12700">
            <a:solidFill>
              <a:srgbClr val="1A6B5A"/>
            </a:solidFill>
            <a:prstDash val="solid"/>
          </a:ln>
        </p:spPr>
      </p:sp>
      <p:sp>
        <p:nvSpPr>
          <p:cNvPr id="20" name="Text 18"/>
          <p:cNvSpPr/>
          <p:nvPr/>
        </p:nvSpPr>
        <p:spPr>
          <a:xfrm>
            <a:off x="4700016" y="1929384"/>
            <a:ext cx="1865376" cy="27432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T̂  Transit</a:t>
            </a:r>
            <a:endParaRPr lang="en-US" sz="1100" dirty="0"/>
          </a:p>
        </p:txBody>
      </p:sp>
      <p:sp>
        <p:nvSpPr>
          <p:cNvPr id="21" name="Text 19"/>
          <p:cNvSpPr/>
          <p:nvPr/>
        </p:nvSpPr>
        <p:spPr>
          <a:xfrm>
            <a:off x="4700016" y="2350008"/>
            <a:ext cx="1865376" cy="274320"/>
          </a:xfrm>
          <a:prstGeom prst="rect">
            <a:avLst/>
          </a:prstGeom>
          <a:noFill/>
          <a:ln/>
        </p:spPr>
        <p:txBody>
          <a:bodyPr wrap="square" rtlCol="0" anchor="ctr"/>
          <a:lstStyle/>
          <a:p>
            <a:pPr indent="0" marL="0">
              <a:buNone/>
            </a:pPr>
            <a:r>
              <a:rPr lang="en-US" sz="1300" b="1" dirty="0">
                <a:solidFill>
                  <a:srgbClr val="1A6B5A"/>
                </a:solidFill>
                <a:latin typeface="Arial" pitchFamily="34" charset="0"/>
                <a:ea typeface="Arial" pitchFamily="34" charset="-122"/>
                <a:cs typeface="Arial" pitchFamily="34" charset="-120"/>
              </a:rPr>
              <a:t>Weight: 20%</a:t>
            </a:r>
            <a:endParaRPr lang="en-US" sz="1300" dirty="0"/>
          </a:p>
        </p:txBody>
      </p:sp>
      <p:sp>
        <p:nvSpPr>
          <p:cNvPr id="22" name="Text 20"/>
          <p:cNvSpPr/>
          <p:nvPr/>
        </p:nvSpPr>
        <p:spPr>
          <a:xfrm>
            <a:off x="4700016" y="2697480"/>
            <a:ext cx="1865376" cy="1645920"/>
          </a:xfrm>
          <a:prstGeom prst="rect">
            <a:avLst/>
          </a:prstGeom>
          <a:noFill/>
          <a:ln/>
        </p:spPr>
        <p:txBody>
          <a:bodyPr wrap="square" rtlCol="0" anchor="ctr"/>
          <a:lstStyle/>
          <a:p>
            <a:pPr indent="0" marL="0">
              <a:buNone/>
            </a:pPr>
            <a:r>
              <a:rPr lang="en-US" sz="900" dirty="0">
                <a:solidFill>
                  <a:srgbClr val="2A3A50"/>
                </a:solidFill>
                <a:latin typeface="Arial" pitchFamily="34" charset="0"/>
                <a:ea typeface="Arial" pitchFamily="34" charset="-122"/>
                <a:cs typeface="Arial" pitchFamily="34" charset="-120"/>
              </a:rPr>
              <a:t>GTFS bus stop density + route coverage (city2graph travel_summary_graph)</a:t>
            </a:r>
            <a:endParaRPr lang="en-US" sz="900" dirty="0"/>
          </a:p>
        </p:txBody>
      </p:sp>
      <p:sp>
        <p:nvSpPr>
          <p:cNvPr id="23" name="Shape 21"/>
          <p:cNvSpPr/>
          <p:nvPr/>
        </p:nvSpPr>
        <p:spPr>
          <a:xfrm>
            <a:off x="6803136" y="1874520"/>
            <a:ext cx="2011680" cy="2560320"/>
          </a:xfrm>
          <a:prstGeom prst="rect">
            <a:avLst/>
          </a:prstGeom>
          <a:solidFill>
            <a:srgbClr val="F4F8FC"/>
          </a:solidFill>
          <a:ln w="15240">
            <a:solidFill>
              <a:srgbClr val="8A3010"/>
            </a:solidFill>
            <a:prstDash val="solid"/>
          </a:ln>
        </p:spPr>
      </p:sp>
      <p:sp>
        <p:nvSpPr>
          <p:cNvPr id="24" name="Shape 22"/>
          <p:cNvSpPr/>
          <p:nvPr/>
        </p:nvSpPr>
        <p:spPr>
          <a:xfrm>
            <a:off x="6803136" y="1874520"/>
            <a:ext cx="2011680" cy="384048"/>
          </a:xfrm>
          <a:prstGeom prst="rect">
            <a:avLst/>
          </a:prstGeom>
          <a:solidFill>
            <a:srgbClr val="8A3010"/>
          </a:solidFill>
          <a:ln w="12700">
            <a:solidFill>
              <a:srgbClr val="8A3010"/>
            </a:solidFill>
            <a:prstDash val="solid"/>
          </a:ln>
        </p:spPr>
      </p:sp>
      <p:sp>
        <p:nvSpPr>
          <p:cNvPr id="25" name="Text 23"/>
          <p:cNvSpPr/>
          <p:nvPr/>
        </p:nvSpPr>
        <p:spPr>
          <a:xfrm>
            <a:off x="6876288" y="1929384"/>
            <a:ext cx="1865376" cy="27432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1−F̂  Flood (inv.)</a:t>
            </a:r>
            <a:endParaRPr lang="en-US" sz="1100" dirty="0"/>
          </a:p>
        </p:txBody>
      </p:sp>
      <p:sp>
        <p:nvSpPr>
          <p:cNvPr id="26" name="Text 24"/>
          <p:cNvSpPr/>
          <p:nvPr/>
        </p:nvSpPr>
        <p:spPr>
          <a:xfrm>
            <a:off x="6876288" y="2350008"/>
            <a:ext cx="1865376" cy="274320"/>
          </a:xfrm>
          <a:prstGeom prst="rect">
            <a:avLst/>
          </a:prstGeom>
          <a:noFill/>
          <a:ln/>
        </p:spPr>
        <p:txBody>
          <a:bodyPr wrap="square" rtlCol="0" anchor="ctr"/>
          <a:lstStyle/>
          <a:p>
            <a:pPr indent="0" marL="0">
              <a:buNone/>
            </a:pPr>
            <a:r>
              <a:rPr lang="en-US" sz="1300" b="1" dirty="0">
                <a:solidFill>
                  <a:srgbClr val="8A3010"/>
                </a:solidFill>
                <a:latin typeface="Arial" pitchFamily="34" charset="0"/>
                <a:ea typeface="Arial" pitchFamily="34" charset="-122"/>
                <a:cs typeface="Arial" pitchFamily="34" charset="-120"/>
              </a:rPr>
              <a:t>Weight: 20%</a:t>
            </a:r>
            <a:endParaRPr lang="en-US" sz="1300" dirty="0"/>
          </a:p>
        </p:txBody>
      </p:sp>
      <p:sp>
        <p:nvSpPr>
          <p:cNvPr id="27" name="Text 25"/>
          <p:cNvSpPr/>
          <p:nvPr/>
        </p:nvSpPr>
        <p:spPr>
          <a:xfrm>
            <a:off x="6876288" y="2697480"/>
            <a:ext cx="1865376" cy="1645920"/>
          </a:xfrm>
          <a:prstGeom prst="rect">
            <a:avLst/>
          </a:prstGeom>
          <a:noFill/>
          <a:ln/>
        </p:spPr>
        <p:txBody>
          <a:bodyPr wrap="square" rtlCol="0" anchor="ctr"/>
          <a:lstStyle/>
          <a:p>
            <a:pPr indent="0" marL="0">
              <a:buNone/>
            </a:pPr>
            <a:r>
              <a:rPr lang="en-US" sz="900" dirty="0">
                <a:solidFill>
                  <a:srgbClr val="2A3A50"/>
                </a:solidFill>
                <a:latin typeface="Arial" pitchFamily="34" charset="0"/>
                <a:ea typeface="Arial" pitchFamily="34" charset="-122"/>
                <a:cs typeface="Arial" pitchFamily="34" charset="-120"/>
              </a:rPr>
              <a:t>1 − flood exposure % from SWMM DYNWAVE simulation</a:t>
            </a:r>
            <a:endParaRPr lang="en-US" sz="900" dirty="0"/>
          </a:p>
        </p:txBody>
      </p:sp>
      <p:sp>
        <p:nvSpPr>
          <p:cNvPr id="28" name="Text 26"/>
          <p:cNvSpPr/>
          <p:nvPr/>
        </p:nvSpPr>
        <p:spPr>
          <a:xfrm>
            <a:off x="274320" y="4526280"/>
            <a:ext cx="8595360" cy="256032"/>
          </a:xfrm>
          <a:prstGeom prst="rect">
            <a:avLst/>
          </a:prstGeom>
          <a:noFill/>
          <a:ln/>
        </p:spPr>
        <p:txBody>
          <a:bodyPr wrap="square" rtlCol="0" anchor="ctr"/>
          <a:lstStyle/>
          <a:p>
            <a:pPr algn="ctr" indent="0" marL="0">
              <a:buNone/>
            </a:pPr>
            <a:r>
              <a:rPr lang="en-US" sz="950" i="1" dirty="0">
                <a:solidFill>
                  <a:srgbClr val="5A6272"/>
                </a:solidFill>
                <a:latin typeface="Arial" pitchFamily="34" charset="0"/>
                <a:ea typeface="Arial" pitchFamily="34" charset="-122"/>
                <a:cs typeface="Arial" pitchFamily="34" charset="-120"/>
              </a:rPr>
              <a:t>All components min-max normalised to [0,1] across 32 wards. Final scale 0–100.</a:t>
            </a:r>
            <a:endParaRPr lang="en-US" sz="950" dirty="0"/>
          </a:p>
        </p:txBody>
      </p:sp>
      <p:sp>
        <p:nvSpPr>
          <p:cNvPr id="29" name="Text 27"/>
          <p:cNvSpPr/>
          <p:nvPr/>
        </p:nvSpPr>
        <p:spPr>
          <a:xfrm>
            <a:off x="8412480" y="4869180"/>
            <a:ext cx="640080" cy="201168"/>
          </a:xfrm>
          <a:prstGeom prst="rect">
            <a:avLst/>
          </a:prstGeom>
          <a:noFill/>
          <a:ln/>
        </p:spPr>
        <p:txBody>
          <a:bodyPr wrap="square" rtlCol="0" anchor="ctr"/>
          <a:lstStyle/>
          <a:p>
            <a:pPr algn="r" indent="0" marL="0">
              <a:buNone/>
            </a:pPr>
            <a:r>
              <a:rPr lang="en-US" sz="900" dirty="0">
                <a:solidFill>
                  <a:srgbClr val="5A6272"/>
                </a:solidFill>
                <a:latin typeface="Arial" pitchFamily="34" charset="0"/>
                <a:ea typeface="Arial" pitchFamily="34" charset="-122"/>
                <a:cs typeface="Arial" pitchFamily="34" charset="-120"/>
              </a:rPr>
              <a:t>3 / 16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B1F3A"/>
          </a:solidFill>
          <a:ln w="12700">
            <a:solidFill>
              <a:srgbClr val="0B1F3A"/>
            </a:solidFill>
            <a:prstDash val="solid"/>
          </a:ln>
        </p:spPr>
      </p:sp>
      <p:sp>
        <p:nvSpPr>
          <p:cNvPr id="3" name="Text 1"/>
          <p:cNvSpPr/>
          <p:nvPr/>
        </p:nvSpPr>
        <p:spPr>
          <a:xfrm>
            <a:off x="228600" y="73152"/>
            <a:ext cx="8686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Sensitivity analysis</a:t>
            </a:r>
            <a:endParaRPr lang="en-US" sz="2200" dirty="0"/>
          </a:p>
        </p:txBody>
      </p:sp>
      <p:sp>
        <p:nvSpPr>
          <p:cNvPr id="4" name="Text 2"/>
          <p:cNvSpPr/>
          <p:nvPr/>
        </p:nvSpPr>
        <p:spPr>
          <a:xfrm>
            <a:off x="228600" y="512064"/>
            <a:ext cx="8686800" cy="256032"/>
          </a:xfrm>
          <a:prstGeom prst="rect">
            <a:avLst/>
          </a:prstGeom>
          <a:noFill/>
          <a:ln/>
        </p:spPr>
        <p:txBody>
          <a:bodyPr wrap="square" rtlCol="0" anchor="ctr"/>
          <a:lstStyle/>
          <a:p>
            <a:pPr indent="0" marL="0">
              <a:buNone/>
            </a:pPr>
            <a:r>
              <a:rPr lang="en-US" sz="1100" dirty="0">
                <a:solidFill>
                  <a:srgbClr val="A0C0E0"/>
                </a:solidFill>
                <a:latin typeface="Arial" pitchFamily="34" charset="0"/>
                <a:ea typeface="Arial" pitchFamily="34" charset="-122"/>
                <a:cs typeface="Arial" pitchFamily="34" charset="-120"/>
              </a:rPr>
              <a:t>OAT · Monte Carlo (Dirichlet, N=10,000) · Sobol' · Kolm–Pollak κ-sweep</a:t>
            </a:r>
            <a:endParaRPr lang="en-US" sz="1100" dirty="0"/>
          </a:p>
        </p:txBody>
      </p:sp>
      <p:sp>
        <p:nvSpPr>
          <p:cNvPr id="5" name="Shape 3"/>
          <p:cNvSpPr/>
          <p:nvPr/>
        </p:nvSpPr>
        <p:spPr>
          <a:xfrm>
            <a:off x="0" y="777240"/>
            <a:ext cx="9144000" cy="0"/>
          </a:xfrm>
          <a:prstGeom prst="line">
            <a:avLst/>
          </a:prstGeom>
          <a:noFill/>
          <a:ln w="38100">
            <a:solidFill>
              <a:srgbClr val="D4A820"/>
            </a:solidFill>
            <a:prstDash val="solid"/>
          </a:ln>
        </p:spPr>
      </p:sp>
      <p:sp>
        <p:nvSpPr>
          <p:cNvPr id="6" name="Shape 4"/>
          <p:cNvSpPr/>
          <p:nvPr/>
        </p:nvSpPr>
        <p:spPr>
          <a:xfrm>
            <a:off x="274320" y="960120"/>
            <a:ext cx="1280160" cy="365760"/>
          </a:xfrm>
          <a:prstGeom prst="rect">
            <a:avLst/>
          </a:prstGeom>
          <a:solidFill>
            <a:srgbClr val="0B1F3A"/>
          </a:solidFill>
          <a:ln w="3810">
            <a:solidFill>
              <a:srgbClr val="1A4A8A"/>
            </a:solidFill>
            <a:prstDash val="solid"/>
          </a:ln>
        </p:spPr>
      </p:sp>
      <p:sp>
        <p:nvSpPr>
          <p:cNvPr id="7" name="Text 5"/>
          <p:cNvSpPr/>
          <p:nvPr/>
        </p:nvSpPr>
        <p:spPr>
          <a:xfrm>
            <a:off x="310896" y="996696"/>
            <a:ext cx="1207008" cy="292608"/>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Component</a:t>
            </a:r>
            <a:endParaRPr lang="en-US" sz="900" dirty="0"/>
          </a:p>
        </p:txBody>
      </p:sp>
      <p:sp>
        <p:nvSpPr>
          <p:cNvPr id="8" name="Shape 6"/>
          <p:cNvSpPr/>
          <p:nvPr/>
        </p:nvSpPr>
        <p:spPr>
          <a:xfrm>
            <a:off x="1554480" y="960120"/>
            <a:ext cx="640080" cy="365760"/>
          </a:xfrm>
          <a:prstGeom prst="rect">
            <a:avLst/>
          </a:prstGeom>
          <a:solidFill>
            <a:srgbClr val="0B1F3A"/>
          </a:solidFill>
          <a:ln w="3810">
            <a:solidFill>
              <a:srgbClr val="1A4A8A"/>
            </a:solidFill>
            <a:prstDash val="solid"/>
          </a:ln>
        </p:spPr>
      </p:sp>
      <p:sp>
        <p:nvSpPr>
          <p:cNvPr id="9" name="Text 7"/>
          <p:cNvSpPr/>
          <p:nvPr/>
        </p:nvSpPr>
        <p:spPr>
          <a:xfrm>
            <a:off x="1591056" y="996696"/>
            <a:ext cx="566928" cy="292608"/>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Weight</a:t>
            </a:r>
            <a:endParaRPr lang="en-US" sz="900" dirty="0"/>
          </a:p>
        </p:txBody>
      </p:sp>
      <p:sp>
        <p:nvSpPr>
          <p:cNvPr id="10" name="Shape 8"/>
          <p:cNvSpPr/>
          <p:nvPr/>
        </p:nvSpPr>
        <p:spPr>
          <a:xfrm>
            <a:off x="2194560" y="960120"/>
            <a:ext cx="1371600" cy="365760"/>
          </a:xfrm>
          <a:prstGeom prst="rect">
            <a:avLst/>
          </a:prstGeom>
          <a:solidFill>
            <a:srgbClr val="0B1F3A"/>
          </a:solidFill>
          <a:ln w="3810">
            <a:solidFill>
              <a:srgbClr val="1A4A8A"/>
            </a:solidFill>
            <a:prstDash val="solid"/>
          </a:ln>
        </p:spPr>
      </p:sp>
      <p:sp>
        <p:nvSpPr>
          <p:cNvPr id="11" name="Text 9"/>
          <p:cNvSpPr/>
          <p:nvPr/>
        </p:nvSpPr>
        <p:spPr>
          <a:xfrm>
            <a:off x="2231136" y="996696"/>
            <a:ext cx="1298448" cy="292608"/>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OAT Rank Shift</a:t>
            </a:r>
            <a:endParaRPr lang="en-US" sz="900" dirty="0"/>
          </a:p>
        </p:txBody>
      </p:sp>
      <p:sp>
        <p:nvSpPr>
          <p:cNvPr id="12" name="Shape 10"/>
          <p:cNvSpPr/>
          <p:nvPr/>
        </p:nvSpPr>
        <p:spPr>
          <a:xfrm>
            <a:off x="3566160" y="960120"/>
            <a:ext cx="1463040" cy="365760"/>
          </a:xfrm>
          <a:prstGeom prst="rect">
            <a:avLst/>
          </a:prstGeom>
          <a:solidFill>
            <a:srgbClr val="0B1F3A"/>
          </a:solidFill>
          <a:ln w="3810">
            <a:solidFill>
              <a:srgbClr val="1A4A8A"/>
            </a:solidFill>
            <a:prstDash val="solid"/>
          </a:ln>
        </p:spPr>
      </p:sp>
      <p:sp>
        <p:nvSpPr>
          <p:cNvPr id="13" name="Text 11"/>
          <p:cNvSpPr/>
          <p:nvPr/>
        </p:nvSpPr>
        <p:spPr>
          <a:xfrm>
            <a:off x="3602736" y="996696"/>
            <a:ext cx="1389888" cy="292608"/>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MC 95% CI Width</a:t>
            </a:r>
            <a:endParaRPr lang="en-US" sz="900" dirty="0"/>
          </a:p>
        </p:txBody>
      </p:sp>
      <p:sp>
        <p:nvSpPr>
          <p:cNvPr id="14" name="Shape 12"/>
          <p:cNvSpPr/>
          <p:nvPr/>
        </p:nvSpPr>
        <p:spPr>
          <a:xfrm>
            <a:off x="5029200" y="960120"/>
            <a:ext cx="1097280" cy="365760"/>
          </a:xfrm>
          <a:prstGeom prst="rect">
            <a:avLst/>
          </a:prstGeom>
          <a:solidFill>
            <a:srgbClr val="0B1F3A"/>
          </a:solidFill>
          <a:ln w="3810">
            <a:solidFill>
              <a:srgbClr val="1A4A8A"/>
            </a:solidFill>
            <a:prstDash val="solid"/>
          </a:ln>
        </p:spPr>
      </p:sp>
      <p:sp>
        <p:nvSpPr>
          <p:cNvPr id="15" name="Text 13"/>
          <p:cNvSpPr/>
          <p:nvPr/>
        </p:nvSpPr>
        <p:spPr>
          <a:xfrm>
            <a:off x="5065776" y="996696"/>
            <a:ext cx="1024128" cy="292608"/>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Sobol' S₁</a:t>
            </a:r>
            <a:endParaRPr lang="en-US" sz="900" dirty="0"/>
          </a:p>
        </p:txBody>
      </p:sp>
      <p:sp>
        <p:nvSpPr>
          <p:cNvPr id="16" name="Shape 14"/>
          <p:cNvSpPr/>
          <p:nvPr/>
        </p:nvSpPr>
        <p:spPr>
          <a:xfrm>
            <a:off x="6126480" y="960120"/>
            <a:ext cx="1463040" cy="365760"/>
          </a:xfrm>
          <a:prstGeom prst="rect">
            <a:avLst/>
          </a:prstGeom>
          <a:solidFill>
            <a:srgbClr val="0B1F3A"/>
          </a:solidFill>
          <a:ln w="3810">
            <a:solidFill>
              <a:srgbClr val="1A4A8A"/>
            </a:solidFill>
            <a:prstDash val="solid"/>
          </a:ln>
        </p:spPr>
      </p:sp>
      <p:sp>
        <p:nvSpPr>
          <p:cNvPr id="17" name="Text 15"/>
          <p:cNvSpPr/>
          <p:nvPr/>
        </p:nvSpPr>
        <p:spPr>
          <a:xfrm>
            <a:off x="6163056" y="996696"/>
            <a:ext cx="1389888" cy="292608"/>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Rank Stability ρ</a:t>
            </a:r>
            <a:endParaRPr lang="en-US" sz="900" dirty="0"/>
          </a:p>
        </p:txBody>
      </p:sp>
      <p:sp>
        <p:nvSpPr>
          <p:cNvPr id="18" name="Shape 16"/>
          <p:cNvSpPr/>
          <p:nvPr/>
        </p:nvSpPr>
        <p:spPr>
          <a:xfrm>
            <a:off x="274320" y="1325880"/>
            <a:ext cx="1280160" cy="365760"/>
          </a:xfrm>
          <a:prstGeom prst="rect">
            <a:avLst/>
          </a:prstGeom>
          <a:solidFill>
            <a:srgbClr val="FFFFFF"/>
          </a:solidFill>
          <a:ln w="3810">
            <a:solidFill>
              <a:srgbClr val="D0D8E0"/>
            </a:solidFill>
            <a:prstDash val="solid"/>
          </a:ln>
        </p:spPr>
      </p:sp>
      <p:sp>
        <p:nvSpPr>
          <p:cNvPr id="19" name="Text 17"/>
          <p:cNvSpPr/>
          <p:nvPr/>
        </p:nvSpPr>
        <p:spPr>
          <a:xfrm>
            <a:off x="310896" y="1362456"/>
            <a:ext cx="1207008" cy="292608"/>
          </a:xfrm>
          <a:prstGeom prst="rect">
            <a:avLst/>
          </a:prstGeom>
          <a:noFill/>
          <a:ln/>
        </p:spPr>
        <p:txBody>
          <a:bodyPr wrap="square" rtlCol="0" anchor="ctr"/>
          <a:lstStyle/>
          <a:p>
            <a:pPr indent="0" marL="0">
              <a:buNone/>
            </a:pPr>
            <a:r>
              <a:rPr lang="en-US" sz="950" dirty="0">
                <a:solidFill>
                  <a:srgbClr val="121C2B"/>
                </a:solidFill>
                <a:latin typeface="Arial" pitchFamily="34" charset="0"/>
                <a:ea typeface="Arial" pitchFamily="34" charset="-122"/>
                <a:cs typeface="Arial" pitchFamily="34" charset="-120"/>
              </a:rPr>
              <a:t>Healthcare</a:t>
            </a:r>
            <a:endParaRPr lang="en-US" sz="950" dirty="0"/>
          </a:p>
        </p:txBody>
      </p:sp>
      <p:sp>
        <p:nvSpPr>
          <p:cNvPr id="20" name="Shape 18"/>
          <p:cNvSpPr/>
          <p:nvPr/>
        </p:nvSpPr>
        <p:spPr>
          <a:xfrm>
            <a:off x="1554480" y="1325880"/>
            <a:ext cx="640080" cy="365760"/>
          </a:xfrm>
          <a:prstGeom prst="rect">
            <a:avLst/>
          </a:prstGeom>
          <a:solidFill>
            <a:srgbClr val="FFFFFF"/>
          </a:solidFill>
          <a:ln w="3810">
            <a:solidFill>
              <a:srgbClr val="D0D8E0"/>
            </a:solidFill>
            <a:prstDash val="solid"/>
          </a:ln>
        </p:spPr>
      </p:sp>
      <p:sp>
        <p:nvSpPr>
          <p:cNvPr id="21" name="Text 19"/>
          <p:cNvSpPr/>
          <p:nvPr/>
        </p:nvSpPr>
        <p:spPr>
          <a:xfrm>
            <a:off x="1591056" y="1362456"/>
            <a:ext cx="566928" cy="292608"/>
          </a:xfrm>
          <a:prstGeom prst="rect">
            <a:avLst/>
          </a:prstGeom>
          <a:noFill/>
          <a:ln/>
        </p:spPr>
        <p:txBody>
          <a:bodyPr wrap="square" rtlCol="0" anchor="ctr"/>
          <a:lstStyle/>
          <a:p>
            <a:pPr indent="0" marL="0">
              <a:buNone/>
            </a:pPr>
            <a:r>
              <a:rPr lang="en-US" sz="950" dirty="0">
                <a:solidFill>
                  <a:srgbClr val="121C2B"/>
                </a:solidFill>
                <a:latin typeface="Arial" pitchFamily="34" charset="0"/>
                <a:ea typeface="Arial" pitchFamily="34" charset="-122"/>
                <a:cs typeface="Arial" pitchFamily="34" charset="-120"/>
              </a:rPr>
              <a:t>30%</a:t>
            </a:r>
            <a:endParaRPr lang="en-US" sz="950" dirty="0"/>
          </a:p>
        </p:txBody>
      </p:sp>
      <p:sp>
        <p:nvSpPr>
          <p:cNvPr id="22" name="Shape 20"/>
          <p:cNvSpPr/>
          <p:nvPr/>
        </p:nvSpPr>
        <p:spPr>
          <a:xfrm>
            <a:off x="2194560" y="1325880"/>
            <a:ext cx="1371600" cy="365760"/>
          </a:xfrm>
          <a:prstGeom prst="rect">
            <a:avLst/>
          </a:prstGeom>
          <a:solidFill>
            <a:srgbClr val="FFFFFF"/>
          </a:solidFill>
          <a:ln w="3810">
            <a:solidFill>
              <a:srgbClr val="D0D8E0"/>
            </a:solidFill>
            <a:prstDash val="solid"/>
          </a:ln>
        </p:spPr>
      </p:sp>
      <p:sp>
        <p:nvSpPr>
          <p:cNvPr id="23" name="Text 21"/>
          <p:cNvSpPr/>
          <p:nvPr/>
        </p:nvSpPr>
        <p:spPr>
          <a:xfrm>
            <a:off x="2231136" y="1362456"/>
            <a:ext cx="1298448" cy="292608"/>
          </a:xfrm>
          <a:prstGeom prst="rect">
            <a:avLst/>
          </a:prstGeom>
          <a:noFill/>
          <a:ln/>
        </p:spPr>
        <p:txBody>
          <a:bodyPr wrap="square" rtlCol="0" anchor="ctr"/>
          <a:lstStyle/>
          <a:p>
            <a:pPr indent="0" marL="0">
              <a:buNone/>
            </a:pPr>
            <a:r>
              <a:rPr lang="en-US" sz="950" dirty="0">
                <a:solidFill>
                  <a:srgbClr val="121C2B"/>
                </a:solidFill>
                <a:latin typeface="Arial" pitchFamily="34" charset="0"/>
                <a:ea typeface="Arial" pitchFamily="34" charset="-122"/>
                <a:cs typeface="Arial" pitchFamily="34" charset="-120"/>
              </a:rPr>
              <a:t>±1.44</a:t>
            </a:r>
            <a:endParaRPr lang="en-US" sz="950" dirty="0"/>
          </a:p>
        </p:txBody>
      </p:sp>
      <p:sp>
        <p:nvSpPr>
          <p:cNvPr id="24" name="Shape 22"/>
          <p:cNvSpPr/>
          <p:nvPr/>
        </p:nvSpPr>
        <p:spPr>
          <a:xfrm>
            <a:off x="3566160" y="1325880"/>
            <a:ext cx="1463040" cy="365760"/>
          </a:xfrm>
          <a:prstGeom prst="rect">
            <a:avLst/>
          </a:prstGeom>
          <a:solidFill>
            <a:srgbClr val="FFFFFF"/>
          </a:solidFill>
          <a:ln w="3810">
            <a:solidFill>
              <a:srgbClr val="D0D8E0"/>
            </a:solidFill>
            <a:prstDash val="solid"/>
          </a:ln>
        </p:spPr>
      </p:sp>
      <p:sp>
        <p:nvSpPr>
          <p:cNvPr id="25" name="Text 23"/>
          <p:cNvSpPr/>
          <p:nvPr/>
        </p:nvSpPr>
        <p:spPr>
          <a:xfrm>
            <a:off x="3602736" y="1362456"/>
            <a:ext cx="1389888" cy="292608"/>
          </a:xfrm>
          <a:prstGeom prst="rect">
            <a:avLst/>
          </a:prstGeom>
          <a:noFill/>
          <a:ln/>
        </p:spPr>
        <p:txBody>
          <a:bodyPr wrap="square" rtlCol="0" anchor="ctr"/>
          <a:lstStyle/>
          <a:p>
            <a:pPr indent="0" marL="0">
              <a:buNone/>
            </a:pPr>
            <a:r>
              <a:rPr lang="en-US" sz="950" dirty="0">
                <a:solidFill>
                  <a:srgbClr val="121C2B"/>
                </a:solidFill>
                <a:latin typeface="Arial" pitchFamily="34" charset="0"/>
                <a:ea typeface="Arial" pitchFamily="34" charset="-122"/>
                <a:cs typeface="Arial" pitchFamily="34" charset="-120"/>
              </a:rPr>
              <a:t>±17.5</a:t>
            </a:r>
            <a:endParaRPr lang="en-US" sz="950" dirty="0"/>
          </a:p>
        </p:txBody>
      </p:sp>
      <p:sp>
        <p:nvSpPr>
          <p:cNvPr id="26" name="Shape 24"/>
          <p:cNvSpPr/>
          <p:nvPr/>
        </p:nvSpPr>
        <p:spPr>
          <a:xfrm>
            <a:off x="5029200" y="1325880"/>
            <a:ext cx="1097280" cy="365760"/>
          </a:xfrm>
          <a:prstGeom prst="rect">
            <a:avLst/>
          </a:prstGeom>
          <a:solidFill>
            <a:srgbClr val="FFFFFF"/>
          </a:solidFill>
          <a:ln w="3810">
            <a:solidFill>
              <a:srgbClr val="D0D8E0"/>
            </a:solidFill>
            <a:prstDash val="solid"/>
          </a:ln>
        </p:spPr>
      </p:sp>
      <p:sp>
        <p:nvSpPr>
          <p:cNvPr id="27" name="Text 25"/>
          <p:cNvSpPr/>
          <p:nvPr/>
        </p:nvSpPr>
        <p:spPr>
          <a:xfrm>
            <a:off x="5065776" y="1362456"/>
            <a:ext cx="1024128" cy="292608"/>
          </a:xfrm>
          <a:prstGeom prst="rect">
            <a:avLst/>
          </a:prstGeom>
          <a:noFill/>
          <a:ln/>
        </p:spPr>
        <p:txBody>
          <a:bodyPr wrap="square" rtlCol="0" anchor="ctr"/>
          <a:lstStyle/>
          <a:p>
            <a:pPr indent="0" marL="0">
              <a:buNone/>
            </a:pPr>
            <a:r>
              <a:rPr lang="en-US" sz="950" dirty="0">
                <a:solidFill>
                  <a:srgbClr val="121C2B"/>
                </a:solidFill>
                <a:latin typeface="Arial" pitchFamily="34" charset="0"/>
                <a:ea typeface="Arial" pitchFamily="34" charset="-122"/>
                <a:cs typeface="Arial" pitchFamily="34" charset="-120"/>
              </a:rPr>
              <a:t>0.34</a:t>
            </a:r>
            <a:endParaRPr lang="en-US" sz="950" dirty="0"/>
          </a:p>
        </p:txBody>
      </p:sp>
      <p:sp>
        <p:nvSpPr>
          <p:cNvPr id="28" name="Shape 26"/>
          <p:cNvSpPr/>
          <p:nvPr/>
        </p:nvSpPr>
        <p:spPr>
          <a:xfrm>
            <a:off x="6126480" y="1325880"/>
            <a:ext cx="1463040" cy="365760"/>
          </a:xfrm>
          <a:prstGeom prst="rect">
            <a:avLst/>
          </a:prstGeom>
          <a:solidFill>
            <a:srgbClr val="FFFFFF"/>
          </a:solidFill>
          <a:ln w="3810">
            <a:solidFill>
              <a:srgbClr val="D0D8E0"/>
            </a:solidFill>
            <a:prstDash val="solid"/>
          </a:ln>
        </p:spPr>
      </p:sp>
      <p:sp>
        <p:nvSpPr>
          <p:cNvPr id="29" name="Text 27"/>
          <p:cNvSpPr/>
          <p:nvPr/>
        </p:nvSpPr>
        <p:spPr>
          <a:xfrm>
            <a:off x="6163056" y="1362456"/>
            <a:ext cx="1389888" cy="292608"/>
          </a:xfrm>
          <a:prstGeom prst="rect">
            <a:avLst/>
          </a:prstGeom>
          <a:noFill/>
          <a:ln/>
        </p:spPr>
        <p:txBody>
          <a:bodyPr wrap="square" rtlCol="0" anchor="ctr"/>
          <a:lstStyle/>
          <a:p>
            <a:pPr indent="0" marL="0">
              <a:buNone/>
            </a:pPr>
            <a:r>
              <a:rPr lang="en-US" sz="950" dirty="0">
                <a:solidFill>
                  <a:srgbClr val="121C2B"/>
                </a:solidFill>
                <a:latin typeface="Arial" pitchFamily="34" charset="0"/>
                <a:ea typeface="Arial" pitchFamily="34" charset="-122"/>
                <a:cs typeface="Arial" pitchFamily="34" charset="-120"/>
              </a:rPr>
              <a:t>0.977</a:t>
            </a:r>
            <a:endParaRPr lang="en-US" sz="950" dirty="0"/>
          </a:p>
        </p:txBody>
      </p:sp>
      <p:sp>
        <p:nvSpPr>
          <p:cNvPr id="30" name="Shape 28"/>
          <p:cNvSpPr/>
          <p:nvPr/>
        </p:nvSpPr>
        <p:spPr>
          <a:xfrm>
            <a:off x="274320" y="1691640"/>
            <a:ext cx="1280160" cy="365760"/>
          </a:xfrm>
          <a:prstGeom prst="rect">
            <a:avLst/>
          </a:prstGeom>
          <a:solidFill>
            <a:srgbClr val="F4F6F9"/>
          </a:solidFill>
          <a:ln w="3810">
            <a:solidFill>
              <a:srgbClr val="D0D8E0"/>
            </a:solidFill>
            <a:prstDash val="solid"/>
          </a:ln>
        </p:spPr>
      </p:sp>
      <p:sp>
        <p:nvSpPr>
          <p:cNvPr id="31" name="Text 29"/>
          <p:cNvSpPr/>
          <p:nvPr/>
        </p:nvSpPr>
        <p:spPr>
          <a:xfrm>
            <a:off x="310896" y="1728216"/>
            <a:ext cx="1207008" cy="292608"/>
          </a:xfrm>
          <a:prstGeom prst="rect">
            <a:avLst/>
          </a:prstGeom>
          <a:noFill/>
          <a:ln/>
        </p:spPr>
        <p:txBody>
          <a:bodyPr wrap="square" rtlCol="0" anchor="ctr"/>
          <a:lstStyle/>
          <a:p>
            <a:pPr indent="0" marL="0">
              <a:buNone/>
            </a:pPr>
            <a:r>
              <a:rPr lang="en-US" sz="950" dirty="0">
                <a:solidFill>
                  <a:srgbClr val="121C2B"/>
                </a:solidFill>
                <a:latin typeface="Arial" pitchFamily="34" charset="0"/>
                <a:ea typeface="Arial" pitchFamily="34" charset="-122"/>
                <a:cs typeface="Arial" pitchFamily="34" charset="-120"/>
              </a:rPr>
              <a:t>Education</a:t>
            </a:r>
            <a:endParaRPr lang="en-US" sz="950" dirty="0"/>
          </a:p>
        </p:txBody>
      </p:sp>
      <p:sp>
        <p:nvSpPr>
          <p:cNvPr id="32" name="Shape 30"/>
          <p:cNvSpPr/>
          <p:nvPr/>
        </p:nvSpPr>
        <p:spPr>
          <a:xfrm>
            <a:off x="1554480" y="1691640"/>
            <a:ext cx="640080" cy="365760"/>
          </a:xfrm>
          <a:prstGeom prst="rect">
            <a:avLst/>
          </a:prstGeom>
          <a:solidFill>
            <a:srgbClr val="F4F6F9"/>
          </a:solidFill>
          <a:ln w="3810">
            <a:solidFill>
              <a:srgbClr val="D0D8E0"/>
            </a:solidFill>
            <a:prstDash val="solid"/>
          </a:ln>
        </p:spPr>
      </p:sp>
      <p:sp>
        <p:nvSpPr>
          <p:cNvPr id="33" name="Text 31"/>
          <p:cNvSpPr/>
          <p:nvPr/>
        </p:nvSpPr>
        <p:spPr>
          <a:xfrm>
            <a:off x="1591056" y="1728216"/>
            <a:ext cx="566928" cy="292608"/>
          </a:xfrm>
          <a:prstGeom prst="rect">
            <a:avLst/>
          </a:prstGeom>
          <a:noFill/>
          <a:ln/>
        </p:spPr>
        <p:txBody>
          <a:bodyPr wrap="square" rtlCol="0" anchor="ctr"/>
          <a:lstStyle/>
          <a:p>
            <a:pPr indent="0" marL="0">
              <a:buNone/>
            </a:pPr>
            <a:r>
              <a:rPr lang="en-US" sz="950" dirty="0">
                <a:solidFill>
                  <a:srgbClr val="121C2B"/>
                </a:solidFill>
                <a:latin typeface="Arial" pitchFamily="34" charset="0"/>
                <a:ea typeface="Arial" pitchFamily="34" charset="-122"/>
                <a:cs typeface="Arial" pitchFamily="34" charset="-120"/>
              </a:rPr>
              <a:t>30%</a:t>
            </a:r>
            <a:endParaRPr lang="en-US" sz="950" dirty="0"/>
          </a:p>
        </p:txBody>
      </p:sp>
      <p:sp>
        <p:nvSpPr>
          <p:cNvPr id="34" name="Shape 32"/>
          <p:cNvSpPr/>
          <p:nvPr/>
        </p:nvSpPr>
        <p:spPr>
          <a:xfrm>
            <a:off x="2194560" y="1691640"/>
            <a:ext cx="1371600" cy="365760"/>
          </a:xfrm>
          <a:prstGeom prst="rect">
            <a:avLst/>
          </a:prstGeom>
          <a:solidFill>
            <a:srgbClr val="F4F6F9"/>
          </a:solidFill>
          <a:ln w="3810">
            <a:solidFill>
              <a:srgbClr val="D0D8E0"/>
            </a:solidFill>
            <a:prstDash val="solid"/>
          </a:ln>
        </p:spPr>
      </p:sp>
      <p:sp>
        <p:nvSpPr>
          <p:cNvPr id="35" name="Text 33"/>
          <p:cNvSpPr/>
          <p:nvPr/>
        </p:nvSpPr>
        <p:spPr>
          <a:xfrm>
            <a:off x="2231136" y="1728216"/>
            <a:ext cx="1298448" cy="292608"/>
          </a:xfrm>
          <a:prstGeom prst="rect">
            <a:avLst/>
          </a:prstGeom>
          <a:noFill/>
          <a:ln/>
        </p:spPr>
        <p:txBody>
          <a:bodyPr wrap="square" rtlCol="0" anchor="ctr"/>
          <a:lstStyle/>
          <a:p>
            <a:pPr indent="0" marL="0">
              <a:buNone/>
            </a:pPr>
            <a:r>
              <a:rPr lang="en-US" sz="950" dirty="0">
                <a:solidFill>
                  <a:srgbClr val="121C2B"/>
                </a:solidFill>
                <a:latin typeface="Arial" pitchFamily="34" charset="0"/>
                <a:ea typeface="Arial" pitchFamily="34" charset="-122"/>
                <a:cs typeface="Arial" pitchFamily="34" charset="-120"/>
              </a:rPr>
              <a:t>±1.41</a:t>
            </a:r>
            <a:endParaRPr lang="en-US" sz="950" dirty="0"/>
          </a:p>
        </p:txBody>
      </p:sp>
      <p:sp>
        <p:nvSpPr>
          <p:cNvPr id="36" name="Shape 34"/>
          <p:cNvSpPr/>
          <p:nvPr/>
        </p:nvSpPr>
        <p:spPr>
          <a:xfrm>
            <a:off x="3566160" y="1691640"/>
            <a:ext cx="1463040" cy="365760"/>
          </a:xfrm>
          <a:prstGeom prst="rect">
            <a:avLst/>
          </a:prstGeom>
          <a:solidFill>
            <a:srgbClr val="F4F6F9"/>
          </a:solidFill>
          <a:ln w="3810">
            <a:solidFill>
              <a:srgbClr val="D0D8E0"/>
            </a:solidFill>
            <a:prstDash val="solid"/>
          </a:ln>
        </p:spPr>
      </p:sp>
      <p:sp>
        <p:nvSpPr>
          <p:cNvPr id="37" name="Text 35"/>
          <p:cNvSpPr/>
          <p:nvPr/>
        </p:nvSpPr>
        <p:spPr>
          <a:xfrm>
            <a:off x="3602736" y="1728216"/>
            <a:ext cx="1389888" cy="292608"/>
          </a:xfrm>
          <a:prstGeom prst="rect">
            <a:avLst/>
          </a:prstGeom>
          <a:noFill/>
          <a:ln/>
        </p:spPr>
        <p:txBody>
          <a:bodyPr wrap="square" rtlCol="0" anchor="ctr"/>
          <a:lstStyle/>
          <a:p>
            <a:pPr indent="0" marL="0">
              <a:buNone/>
            </a:pPr>
            <a:r>
              <a:rPr lang="en-US" sz="950" dirty="0">
                <a:solidFill>
                  <a:srgbClr val="121C2B"/>
                </a:solidFill>
                <a:latin typeface="Arial" pitchFamily="34" charset="0"/>
                <a:ea typeface="Arial" pitchFamily="34" charset="-122"/>
                <a:cs typeface="Arial" pitchFamily="34" charset="-120"/>
              </a:rPr>
              <a:t>±16.8</a:t>
            </a:r>
            <a:endParaRPr lang="en-US" sz="950" dirty="0"/>
          </a:p>
        </p:txBody>
      </p:sp>
      <p:sp>
        <p:nvSpPr>
          <p:cNvPr id="38" name="Shape 36"/>
          <p:cNvSpPr/>
          <p:nvPr/>
        </p:nvSpPr>
        <p:spPr>
          <a:xfrm>
            <a:off x="5029200" y="1691640"/>
            <a:ext cx="1097280" cy="365760"/>
          </a:xfrm>
          <a:prstGeom prst="rect">
            <a:avLst/>
          </a:prstGeom>
          <a:solidFill>
            <a:srgbClr val="F4F6F9"/>
          </a:solidFill>
          <a:ln w="3810">
            <a:solidFill>
              <a:srgbClr val="D0D8E0"/>
            </a:solidFill>
            <a:prstDash val="solid"/>
          </a:ln>
        </p:spPr>
      </p:sp>
      <p:sp>
        <p:nvSpPr>
          <p:cNvPr id="39" name="Text 37"/>
          <p:cNvSpPr/>
          <p:nvPr/>
        </p:nvSpPr>
        <p:spPr>
          <a:xfrm>
            <a:off x="5065776" y="1728216"/>
            <a:ext cx="1024128" cy="292608"/>
          </a:xfrm>
          <a:prstGeom prst="rect">
            <a:avLst/>
          </a:prstGeom>
          <a:noFill/>
          <a:ln/>
        </p:spPr>
        <p:txBody>
          <a:bodyPr wrap="square" rtlCol="0" anchor="ctr"/>
          <a:lstStyle/>
          <a:p>
            <a:pPr indent="0" marL="0">
              <a:buNone/>
            </a:pPr>
            <a:r>
              <a:rPr lang="en-US" sz="950" dirty="0">
                <a:solidFill>
                  <a:srgbClr val="121C2B"/>
                </a:solidFill>
                <a:latin typeface="Arial" pitchFamily="34" charset="0"/>
                <a:ea typeface="Arial" pitchFamily="34" charset="-122"/>
                <a:cs typeface="Arial" pitchFamily="34" charset="-120"/>
              </a:rPr>
              <a:t>0.32</a:t>
            </a:r>
            <a:endParaRPr lang="en-US" sz="950" dirty="0"/>
          </a:p>
        </p:txBody>
      </p:sp>
      <p:sp>
        <p:nvSpPr>
          <p:cNvPr id="40" name="Shape 38"/>
          <p:cNvSpPr/>
          <p:nvPr/>
        </p:nvSpPr>
        <p:spPr>
          <a:xfrm>
            <a:off x="6126480" y="1691640"/>
            <a:ext cx="1463040" cy="365760"/>
          </a:xfrm>
          <a:prstGeom prst="rect">
            <a:avLst/>
          </a:prstGeom>
          <a:solidFill>
            <a:srgbClr val="F4F6F9"/>
          </a:solidFill>
          <a:ln w="3810">
            <a:solidFill>
              <a:srgbClr val="D0D8E0"/>
            </a:solidFill>
            <a:prstDash val="solid"/>
          </a:ln>
        </p:spPr>
      </p:sp>
      <p:sp>
        <p:nvSpPr>
          <p:cNvPr id="41" name="Text 39"/>
          <p:cNvSpPr/>
          <p:nvPr/>
        </p:nvSpPr>
        <p:spPr>
          <a:xfrm>
            <a:off x="6163056" y="1728216"/>
            <a:ext cx="1389888" cy="292608"/>
          </a:xfrm>
          <a:prstGeom prst="rect">
            <a:avLst/>
          </a:prstGeom>
          <a:noFill/>
          <a:ln/>
        </p:spPr>
        <p:txBody>
          <a:bodyPr wrap="square" rtlCol="0" anchor="ctr"/>
          <a:lstStyle/>
          <a:p>
            <a:pPr indent="0" marL="0">
              <a:buNone/>
            </a:pPr>
            <a:r>
              <a:rPr lang="en-US" sz="950" dirty="0">
                <a:solidFill>
                  <a:srgbClr val="121C2B"/>
                </a:solidFill>
                <a:latin typeface="Arial" pitchFamily="34" charset="0"/>
                <a:ea typeface="Arial" pitchFamily="34" charset="-122"/>
                <a:cs typeface="Arial" pitchFamily="34" charset="-120"/>
              </a:rPr>
              <a:t>0.974</a:t>
            </a:r>
            <a:endParaRPr lang="en-US" sz="950" dirty="0"/>
          </a:p>
        </p:txBody>
      </p:sp>
      <p:sp>
        <p:nvSpPr>
          <p:cNvPr id="42" name="Shape 40"/>
          <p:cNvSpPr/>
          <p:nvPr/>
        </p:nvSpPr>
        <p:spPr>
          <a:xfrm>
            <a:off x="274320" y="2057400"/>
            <a:ext cx="1280160" cy="365760"/>
          </a:xfrm>
          <a:prstGeom prst="rect">
            <a:avLst/>
          </a:prstGeom>
          <a:solidFill>
            <a:srgbClr val="FFFFFF"/>
          </a:solidFill>
          <a:ln w="3810">
            <a:solidFill>
              <a:srgbClr val="D0D8E0"/>
            </a:solidFill>
            <a:prstDash val="solid"/>
          </a:ln>
        </p:spPr>
      </p:sp>
      <p:sp>
        <p:nvSpPr>
          <p:cNvPr id="43" name="Text 41"/>
          <p:cNvSpPr/>
          <p:nvPr/>
        </p:nvSpPr>
        <p:spPr>
          <a:xfrm>
            <a:off x="310896" y="2093976"/>
            <a:ext cx="1207008" cy="292608"/>
          </a:xfrm>
          <a:prstGeom prst="rect">
            <a:avLst/>
          </a:prstGeom>
          <a:noFill/>
          <a:ln/>
        </p:spPr>
        <p:txBody>
          <a:bodyPr wrap="square" rtlCol="0" anchor="ctr"/>
          <a:lstStyle/>
          <a:p>
            <a:pPr indent="0" marL="0">
              <a:buNone/>
            </a:pPr>
            <a:r>
              <a:rPr lang="en-US" sz="950" dirty="0">
                <a:solidFill>
                  <a:srgbClr val="121C2B"/>
                </a:solidFill>
                <a:latin typeface="Arial" pitchFamily="34" charset="0"/>
                <a:ea typeface="Arial" pitchFamily="34" charset="-122"/>
                <a:cs typeface="Arial" pitchFamily="34" charset="-120"/>
              </a:rPr>
              <a:t>Transit</a:t>
            </a:r>
            <a:endParaRPr lang="en-US" sz="950" dirty="0"/>
          </a:p>
        </p:txBody>
      </p:sp>
      <p:sp>
        <p:nvSpPr>
          <p:cNvPr id="44" name="Shape 42"/>
          <p:cNvSpPr/>
          <p:nvPr/>
        </p:nvSpPr>
        <p:spPr>
          <a:xfrm>
            <a:off x="1554480" y="2057400"/>
            <a:ext cx="640080" cy="365760"/>
          </a:xfrm>
          <a:prstGeom prst="rect">
            <a:avLst/>
          </a:prstGeom>
          <a:solidFill>
            <a:srgbClr val="FFFFFF"/>
          </a:solidFill>
          <a:ln w="3810">
            <a:solidFill>
              <a:srgbClr val="D0D8E0"/>
            </a:solidFill>
            <a:prstDash val="solid"/>
          </a:ln>
        </p:spPr>
      </p:sp>
      <p:sp>
        <p:nvSpPr>
          <p:cNvPr id="45" name="Text 43"/>
          <p:cNvSpPr/>
          <p:nvPr/>
        </p:nvSpPr>
        <p:spPr>
          <a:xfrm>
            <a:off x="1591056" y="2093976"/>
            <a:ext cx="566928" cy="292608"/>
          </a:xfrm>
          <a:prstGeom prst="rect">
            <a:avLst/>
          </a:prstGeom>
          <a:noFill/>
          <a:ln/>
        </p:spPr>
        <p:txBody>
          <a:bodyPr wrap="square" rtlCol="0" anchor="ctr"/>
          <a:lstStyle/>
          <a:p>
            <a:pPr indent="0" marL="0">
              <a:buNone/>
            </a:pPr>
            <a:r>
              <a:rPr lang="en-US" sz="950" dirty="0">
                <a:solidFill>
                  <a:srgbClr val="121C2B"/>
                </a:solidFill>
                <a:latin typeface="Arial" pitchFamily="34" charset="0"/>
                <a:ea typeface="Arial" pitchFamily="34" charset="-122"/>
                <a:cs typeface="Arial" pitchFamily="34" charset="-120"/>
              </a:rPr>
              <a:t>20%</a:t>
            </a:r>
            <a:endParaRPr lang="en-US" sz="950" dirty="0"/>
          </a:p>
        </p:txBody>
      </p:sp>
      <p:sp>
        <p:nvSpPr>
          <p:cNvPr id="46" name="Shape 44"/>
          <p:cNvSpPr/>
          <p:nvPr/>
        </p:nvSpPr>
        <p:spPr>
          <a:xfrm>
            <a:off x="2194560" y="2057400"/>
            <a:ext cx="1371600" cy="365760"/>
          </a:xfrm>
          <a:prstGeom prst="rect">
            <a:avLst/>
          </a:prstGeom>
          <a:solidFill>
            <a:srgbClr val="FFFFFF"/>
          </a:solidFill>
          <a:ln w="3810">
            <a:solidFill>
              <a:srgbClr val="D0D8E0"/>
            </a:solidFill>
            <a:prstDash val="solid"/>
          </a:ln>
        </p:spPr>
      </p:sp>
      <p:sp>
        <p:nvSpPr>
          <p:cNvPr id="47" name="Text 45"/>
          <p:cNvSpPr/>
          <p:nvPr/>
        </p:nvSpPr>
        <p:spPr>
          <a:xfrm>
            <a:off x="2231136" y="2093976"/>
            <a:ext cx="1298448" cy="292608"/>
          </a:xfrm>
          <a:prstGeom prst="rect">
            <a:avLst/>
          </a:prstGeom>
          <a:noFill/>
          <a:ln/>
        </p:spPr>
        <p:txBody>
          <a:bodyPr wrap="square" rtlCol="0" anchor="ctr"/>
          <a:lstStyle/>
          <a:p>
            <a:pPr indent="0" marL="0">
              <a:buNone/>
            </a:pPr>
            <a:r>
              <a:rPr lang="en-US" sz="950" dirty="0">
                <a:solidFill>
                  <a:srgbClr val="121C2B"/>
                </a:solidFill>
                <a:latin typeface="Arial" pitchFamily="34" charset="0"/>
                <a:ea typeface="Arial" pitchFamily="34" charset="-122"/>
                <a:cs typeface="Arial" pitchFamily="34" charset="-120"/>
              </a:rPr>
              <a:t>±1.16</a:t>
            </a:r>
            <a:endParaRPr lang="en-US" sz="950" dirty="0"/>
          </a:p>
        </p:txBody>
      </p:sp>
      <p:sp>
        <p:nvSpPr>
          <p:cNvPr id="48" name="Shape 46"/>
          <p:cNvSpPr/>
          <p:nvPr/>
        </p:nvSpPr>
        <p:spPr>
          <a:xfrm>
            <a:off x="3566160" y="2057400"/>
            <a:ext cx="1463040" cy="365760"/>
          </a:xfrm>
          <a:prstGeom prst="rect">
            <a:avLst/>
          </a:prstGeom>
          <a:solidFill>
            <a:srgbClr val="FFFFFF"/>
          </a:solidFill>
          <a:ln w="3810">
            <a:solidFill>
              <a:srgbClr val="D0D8E0"/>
            </a:solidFill>
            <a:prstDash val="solid"/>
          </a:ln>
        </p:spPr>
      </p:sp>
      <p:sp>
        <p:nvSpPr>
          <p:cNvPr id="49" name="Text 47"/>
          <p:cNvSpPr/>
          <p:nvPr/>
        </p:nvSpPr>
        <p:spPr>
          <a:xfrm>
            <a:off x="3602736" y="2093976"/>
            <a:ext cx="1389888" cy="292608"/>
          </a:xfrm>
          <a:prstGeom prst="rect">
            <a:avLst/>
          </a:prstGeom>
          <a:noFill/>
          <a:ln/>
        </p:spPr>
        <p:txBody>
          <a:bodyPr wrap="square" rtlCol="0" anchor="ctr"/>
          <a:lstStyle/>
          <a:p>
            <a:pPr indent="0" marL="0">
              <a:buNone/>
            </a:pPr>
            <a:r>
              <a:rPr lang="en-US" sz="950" dirty="0">
                <a:solidFill>
                  <a:srgbClr val="121C2B"/>
                </a:solidFill>
                <a:latin typeface="Arial" pitchFamily="34" charset="0"/>
                <a:ea typeface="Arial" pitchFamily="34" charset="-122"/>
                <a:cs typeface="Arial" pitchFamily="34" charset="-120"/>
              </a:rPr>
              <a:t>±12.4</a:t>
            </a:r>
            <a:endParaRPr lang="en-US" sz="950" dirty="0"/>
          </a:p>
        </p:txBody>
      </p:sp>
      <p:sp>
        <p:nvSpPr>
          <p:cNvPr id="50" name="Shape 48"/>
          <p:cNvSpPr/>
          <p:nvPr/>
        </p:nvSpPr>
        <p:spPr>
          <a:xfrm>
            <a:off x="5029200" y="2057400"/>
            <a:ext cx="1097280" cy="365760"/>
          </a:xfrm>
          <a:prstGeom prst="rect">
            <a:avLst/>
          </a:prstGeom>
          <a:solidFill>
            <a:srgbClr val="FFFFFF"/>
          </a:solidFill>
          <a:ln w="3810">
            <a:solidFill>
              <a:srgbClr val="D0D8E0"/>
            </a:solidFill>
            <a:prstDash val="solid"/>
          </a:ln>
        </p:spPr>
      </p:sp>
      <p:sp>
        <p:nvSpPr>
          <p:cNvPr id="51" name="Text 49"/>
          <p:cNvSpPr/>
          <p:nvPr/>
        </p:nvSpPr>
        <p:spPr>
          <a:xfrm>
            <a:off x="5065776" y="2093976"/>
            <a:ext cx="1024128" cy="292608"/>
          </a:xfrm>
          <a:prstGeom prst="rect">
            <a:avLst/>
          </a:prstGeom>
          <a:noFill/>
          <a:ln/>
        </p:spPr>
        <p:txBody>
          <a:bodyPr wrap="square" rtlCol="0" anchor="ctr"/>
          <a:lstStyle/>
          <a:p>
            <a:pPr indent="0" marL="0">
              <a:buNone/>
            </a:pPr>
            <a:r>
              <a:rPr lang="en-US" sz="950" dirty="0">
                <a:solidFill>
                  <a:srgbClr val="121C2B"/>
                </a:solidFill>
                <a:latin typeface="Arial" pitchFamily="34" charset="0"/>
                <a:ea typeface="Arial" pitchFamily="34" charset="-122"/>
                <a:cs typeface="Arial" pitchFamily="34" charset="-120"/>
              </a:rPr>
              <a:t>0.19</a:t>
            </a:r>
            <a:endParaRPr lang="en-US" sz="950" dirty="0"/>
          </a:p>
        </p:txBody>
      </p:sp>
      <p:sp>
        <p:nvSpPr>
          <p:cNvPr id="52" name="Shape 50"/>
          <p:cNvSpPr/>
          <p:nvPr/>
        </p:nvSpPr>
        <p:spPr>
          <a:xfrm>
            <a:off x="6126480" y="2057400"/>
            <a:ext cx="1463040" cy="365760"/>
          </a:xfrm>
          <a:prstGeom prst="rect">
            <a:avLst/>
          </a:prstGeom>
          <a:solidFill>
            <a:srgbClr val="FFFFFF"/>
          </a:solidFill>
          <a:ln w="3810">
            <a:solidFill>
              <a:srgbClr val="D0D8E0"/>
            </a:solidFill>
            <a:prstDash val="solid"/>
          </a:ln>
        </p:spPr>
      </p:sp>
      <p:sp>
        <p:nvSpPr>
          <p:cNvPr id="53" name="Text 51"/>
          <p:cNvSpPr/>
          <p:nvPr/>
        </p:nvSpPr>
        <p:spPr>
          <a:xfrm>
            <a:off x="6163056" y="2093976"/>
            <a:ext cx="1389888" cy="292608"/>
          </a:xfrm>
          <a:prstGeom prst="rect">
            <a:avLst/>
          </a:prstGeom>
          <a:noFill/>
          <a:ln/>
        </p:spPr>
        <p:txBody>
          <a:bodyPr wrap="square" rtlCol="0" anchor="ctr"/>
          <a:lstStyle/>
          <a:p>
            <a:pPr indent="0" marL="0">
              <a:buNone/>
            </a:pPr>
            <a:r>
              <a:rPr lang="en-US" sz="950" dirty="0">
                <a:solidFill>
                  <a:srgbClr val="121C2B"/>
                </a:solidFill>
                <a:latin typeface="Arial" pitchFamily="34" charset="0"/>
                <a:ea typeface="Arial" pitchFamily="34" charset="-122"/>
                <a:cs typeface="Arial" pitchFamily="34" charset="-120"/>
              </a:rPr>
              <a:t>0.981</a:t>
            </a:r>
            <a:endParaRPr lang="en-US" sz="950" dirty="0"/>
          </a:p>
        </p:txBody>
      </p:sp>
      <p:sp>
        <p:nvSpPr>
          <p:cNvPr id="54" name="Shape 52"/>
          <p:cNvSpPr/>
          <p:nvPr/>
        </p:nvSpPr>
        <p:spPr>
          <a:xfrm>
            <a:off x="274320" y="2423160"/>
            <a:ext cx="1280160" cy="365760"/>
          </a:xfrm>
          <a:prstGeom prst="rect">
            <a:avLst/>
          </a:prstGeom>
          <a:solidFill>
            <a:srgbClr val="F4F6F9"/>
          </a:solidFill>
          <a:ln w="3810">
            <a:solidFill>
              <a:srgbClr val="D0D8E0"/>
            </a:solidFill>
            <a:prstDash val="solid"/>
          </a:ln>
        </p:spPr>
      </p:sp>
      <p:sp>
        <p:nvSpPr>
          <p:cNvPr id="55" name="Text 53"/>
          <p:cNvSpPr/>
          <p:nvPr/>
        </p:nvSpPr>
        <p:spPr>
          <a:xfrm>
            <a:off x="310896" y="2459736"/>
            <a:ext cx="1207008" cy="292608"/>
          </a:xfrm>
          <a:prstGeom prst="rect">
            <a:avLst/>
          </a:prstGeom>
          <a:noFill/>
          <a:ln/>
        </p:spPr>
        <p:txBody>
          <a:bodyPr wrap="square" rtlCol="0" anchor="ctr"/>
          <a:lstStyle/>
          <a:p>
            <a:pPr indent="0" marL="0">
              <a:buNone/>
            </a:pPr>
            <a:r>
              <a:rPr lang="en-US" sz="950" dirty="0">
                <a:solidFill>
                  <a:srgbClr val="121C2B"/>
                </a:solidFill>
                <a:latin typeface="Arial" pitchFamily="34" charset="0"/>
                <a:ea typeface="Arial" pitchFamily="34" charset="-122"/>
                <a:cs typeface="Arial" pitchFamily="34" charset="-120"/>
              </a:rPr>
              <a:t>Flood Risk</a:t>
            </a:r>
            <a:endParaRPr lang="en-US" sz="950" dirty="0"/>
          </a:p>
        </p:txBody>
      </p:sp>
      <p:sp>
        <p:nvSpPr>
          <p:cNvPr id="56" name="Shape 54"/>
          <p:cNvSpPr/>
          <p:nvPr/>
        </p:nvSpPr>
        <p:spPr>
          <a:xfrm>
            <a:off x="1554480" y="2423160"/>
            <a:ext cx="640080" cy="365760"/>
          </a:xfrm>
          <a:prstGeom prst="rect">
            <a:avLst/>
          </a:prstGeom>
          <a:solidFill>
            <a:srgbClr val="F4F6F9"/>
          </a:solidFill>
          <a:ln w="3810">
            <a:solidFill>
              <a:srgbClr val="D0D8E0"/>
            </a:solidFill>
            <a:prstDash val="solid"/>
          </a:ln>
        </p:spPr>
      </p:sp>
      <p:sp>
        <p:nvSpPr>
          <p:cNvPr id="57" name="Text 55"/>
          <p:cNvSpPr/>
          <p:nvPr/>
        </p:nvSpPr>
        <p:spPr>
          <a:xfrm>
            <a:off x="1591056" y="2459736"/>
            <a:ext cx="566928" cy="292608"/>
          </a:xfrm>
          <a:prstGeom prst="rect">
            <a:avLst/>
          </a:prstGeom>
          <a:noFill/>
          <a:ln/>
        </p:spPr>
        <p:txBody>
          <a:bodyPr wrap="square" rtlCol="0" anchor="ctr"/>
          <a:lstStyle/>
          <a:p>
            <a:pPr indent="0" marL="0">
              <a:buNone/>
            </a:pPr>
            <a:r>
              <a:rPr lang="en-US" sz="950" dirty="0">
                <a:solidFill>
                  <a:srgbClr val="121C2B"/>
                </a:solidFill>
                <a:latin typeface="Arial" pitchFamily="34" charset="0"/>
                <a:ea typeface="Arial" pitchFamily="34" charset="-122"/>
                <a:cs typeface="Arial" pitchFamily="34" charset="-120"/>
              </a:rPr>
              <a:t>20%</a:t>
            </a:r>
            <a:endParaRPr lang="en-US" sz="950" dirty="0"/>
          </a:p>
        </p:txBody>
      </p:sp>
      <p:sp>
        <p:nvSpPr>
          <p:cNvPr id="58" name="Shape 56"/>
          <p:cNvSpPr/>
          <p:nvPr/>
        </p:nvSpPr>
        <p:spPr>
          <a:xfrm>
            <a:off x="2194560" y="2423160"/>
            <a:ext cx="1371600" cy="365760"/>
          </a:xfrm>
          <a:prstGeom prst="rect">
            <a:avLst/>
          </a:prstGeom>
          <a:solidFill>
            <a:srgbClr val="F4F6F9"/>
          </a:solidFill>
          <a:ln w="3810">
            <a:solidFill>
              <a:srgbClr val="D0D8E0"/>
            </a:solidFill>
            <a:prstDash val="solid"/>
          </a:ln>
        </p:spPr>
      </p:sp>
      <p:sp>
        <p:nvSpPr>
          <p:cNvPr id="59" name="Text 57"/>
          <p:cNvSpPr/>
          <p:nvPr/>
        </p:nvSpPr>
        <p:spPr>
          <a:xfrm>
            <a:off x="2231136" y="2459736"/>
            <a:ext cx="1298448" cy="292608"/>
          </a:xfrm>
          <a:prstGeom prst="rect">
            <a:avLst/>
          </a:prstGeom>
          <a:noFill/>
          <a:ln/>
        </p:spPr>
        <p:txBody>
          <a:bodyPr wrap="square" rtlCol="0" anchor="ctr"/>
          <a:lstStyle/>
          <a:p>
            <a:pPr indent="0" marL="0">
              <a:buNone/>
            </a:pPr>
            <a:r>
              <a:rPr lang="en-US" sz="950" dirty="0">
                <a:solidFill>
                  <a:srgbClr val="121C2B"/>
                </a:solidFill>
                <a:latin typeface="Arial" pitchFamily="34" charset="0"/>
                <a:ea typeface="Arial" pitchFamily="34" charset="-122"/>
                <a:cs typeface="Arial" pitchFamily="34" charset="-120"/>
              </a:rPr>
              <a:t>±1.31</a:t>
            </a:r>
            <a:endParaRPr lang="en-US" sz="950" dirty="0"/>
          </a:p>
        </p:txBody>
      </p:sp>
      <p:sp>
        <p:nvSpPr>
          <p:cNvPr id="60" name="Shape 58"/>
          <p:cNvSpPr/>
          <p:nvPr/>
        </p:nvSpPr>
        <p:spPr>
          <a:xfrm>
            <a:off x="3566160" y="2423160"/>
            <a:ext cx="1463040" cy="365760"/>
          </a:xfrm>
          <a:prstGeom prst="rect">
            <a:avLst/>
          </a:prstGeom>
          <a:solidFill>
            <a:srgbClr val="F4F6F9"/>
          </a:solidFill>
          <a:ln w="3810">
            <a:solidFill>
              <a:srgbClr val="D0D8E0"/>
            </a:solidFill>
            <a:prstDash val="solid"/>
          </a:ln>
        </p:spPr>
      </p:sp>
      <p:sp>
        <p:nvSpPr>
          <p:cNvPr id="61" name="Text 59"/>
          <p:cNvSpPr/>
          <p:nvPr/>
        </p:nvSpPr>
        <p:spPr>
          <a:xfrm>
            <a:off x="3602736" y="2459736"/>
            <a:ext cx="1389888" cy="292608"/>
          </a:xfrm>
          <a:prstGeom prst="rect">
            <a:avLst/>
          </a:prstGeom>
          <a:noFill/>
          <a:ln/>
        </p:spPr>
        <p:txBody>
          <a:bodyPr wrap="square" rtlCol="0" anchor="ctr"/>
          <a:lstStyle/>
          <a:p>
            <a:pPr indent="0" marL="0">
              <a:buNone/>
            </a:pPr>
            <a:r>
              <a:rPr lang="en-US" sz="950" dirty="0">
                <a:solidFill>
                  <a:srgbClr val="121C2B"/>
                </a:solidFill>
                <a:latin typeface="Arial" pitchFamily="34" charset="0"/>
                <a:ea typeface="Arial" pitchFamily="34" charset="-122"/>
                <a:cs typeface="Arial" pitchFamily="34" charset="-120"/>
              </a:rPr>
              <a:t>±14.2</a:t>
            </a:r>
            <a:endParaRPr lang="en-US" sz="950" dirty="0"/>
          </a:p>
        </p:txBody>
      </p:sp>
      <p:sp>
        <p:nvSpPr>
          <p:cNvPr id="62" name="Shape 60"/>
          <p:cNvSpPr/>
          <p:nvPr/>
        </p:nvSpPr>
        <p:spPr>
          <a:xfrm>
            <a:off x="5029200" y="2423160"/>
            <a:ext cx="1097280" cy="365760"/>
          </a:xfrm>
          <a:prstGeom prst="rect">
            <a:avLst/>
          </a:prstGeom>
          <a:solidFill>
            <a:srgbClr val="F4F6F9"/>
          </a:solidFill>
          <a:ln w="3810">
            <a:solidFill>
              <a:srgbClr val="D0D8E0"/>
            </a:solidFill>
            <a:prstDash val="solid"/>
          </a:ln>
        </p:spPr>
      </p:sp>
      <p:sp>
        <p:nvSpPr>
          <p:cNvPr id="63" name="Text 61"/>
          <p:cNvSpPr/>
          <p:nvPr/>
        </p:nvSpPr>
        <p:spPr>
          <a:xfrm>
            <a:off x="5065776" y="2459736"/>
            <a:ext cx="1024128" cy="292608"/>
          </a:xfrm>
          <a:prstGeom prst="rect">
            <a:avLst/>
          </a:prstGeom>
          <a:noFill/>
          <a:ln/>
        </p:spPr>
        <p:txBody>
          <a:bodyPr wrap="square" rtlCol="0" anchor="ctr"/>
          <a:lstStyle/>
          <a:p>
            <a:pPr indent="0" marL="0">
              <a:buNone/>
            </a:pPr>
            <a:r>
              <a:rPr lang="en-US" sz="950" dirty="0">
                <a:solidFill>
                  <a:srgbClr val="121C2B"/>
                </a:solidFill>
                <a:latin typeface="Arial" pitchFamily="34" charset="0"/>
                <a:ea typeface="Arial" pitchFamily="34" charset="-122"/>
                <a:cs typeface="Arial" pitchFamily="34" charset="-120"/>
              </a:rPr>
              <a:t>0.27</a:t>
            </a:r>
            <a:endParaRPr lang="en-US" sz="950" dirty="0"/>
          </a:p>
        </p:txBody>
      </p:sp>
      <p:sp>
        <p:nvSpPr>
          <p:cNvPr id="64" name="Shape 62"/>
          <p:cNvSpPr/>
          <p:nvPr/>
        </p:nvSpPr>
        <p:spPr>
          <a:xfrm>
            <a:off x="6126480" y="2423160"/>
            <a:ext cx="1463040" cy="365760"/>
          </a:xfrm>
          <a:prstGeom prst="rect">
            <a:avLst/>
          </a:prstGeom>
          <a:solidFill>
            <a:srgbClr val="F4F6F9"/>
          </a:solidFill>
          <a:ln w="3810">
            <a:solidFill>
              <a:srgbClr val="D0D8E0"/>
            </a:solidFill>
            <a:prstDash val="solid"/>
          </a:ln>
        </p:spPr>
      </p:sp>
      <p:sp>
        <p:nvSpPr>
          <p:cNvPr id="65" name="Text 63"/>
          <p:cNvSpPr/>
          <p:nvPr/>
        </p:nvSpPr>
        <p:spPr>
          <a:xfrm>
            <a:off x="6163056" y="2459736"/>
            <a:ext cx="1389888" cy="292608"/>
          </a:xfrm>
          <a:prstGeom prst="rect">
            <a:avLst/>
          </a:prstGeom>
          <a:noFill/>
          <a:ln/>
        </p:spPr>
        <p:txBody>
          <a:bodyPr wrap="square" rtlCol="0" anchor="ctr"/>
          <a:lstStyle/>
          <a:p>
            <a:pPr indent="0" marL="0">
              <a:buNone/>
            </a:pPr>
            <a:r>
              <a:rPr lang="en-US" sz="950" dirty="0">
                <a:solidFill>
                  <a:srgbClr val="121C2B"/>
                </a:solidFill>
                <a:latin typeface="Arial" pitchFamily="34" charset="0"/>
                <a:ea typeface="Arial" pitchFamily="34" charset="-122"/>
                <a:cs typeface="Arial" pitchFamily="34" charset="-120"/>
              </a:rPr>
              <a:t>0.979</a:t>
            </a:r>
            <a:endParaRPr lang="en-US" sz="950" dirty="0"/>
          </a:p>
        </p:txBody>
      </p:sp>
      <p:sp>
        <p:nvSpPr>
          <p:cNvPr id="66" name="Shape 64"/>
          <p:cNvSpPr/>
          <p:nvPr/>
        </p:nvSpPr>
        <p:spPr>
          <a:xfrm>
            <a:off x="274320" y="2926080"/>
            <a:ext cx="4023360" cy="1645920"/>
          </a:xfrm>
          <a:prstGeom prst="rect">
            <a:avLst/>
          </a:prstGeom>
          <a:solidFill>
            <a:srgbClr val="EEF5FB"/>
          </a:solidFill>
          <a:ln w="6350">
            <a:solidFill>
              <a:srgbClr val="2E6DA4"/>
            </a:solidFill>
            <a:prstDash val="solid"/>
          </a:ln>
        </p:spPr>
      </p:sp>
      <p:sp>
        <p:nvSpPr>
          <p:cNvPr id="67" name="Text 65"/>
          <p:cNvSpPr/>
          <p:nvPr/>
        </p:nvSpPr>
        <p:spPr>
          <a:xfrm>
            <a:off x="411480" y="2999232"/>
            <a:ext cx="3749040" cy="274320"/>
          </a:xfrm>
          <a:prstGeom prst="rect">
            <a:avLst/>
          </a:prstGeom>
          <a:noFill/>
          <a:ln/>
        </p:spPr>
        <p:txBody>
          <a:bodyPr wrap="square" rtlCol="0" anchor="ctr"/>
          <a:lstStyle/>
          <a:p>
            <a:pPr indent="0" marL="0">
              <a:buNone/>
            </a:pPr>
            <a:r>
              <a:rPr lang="en-US" sz="1100" b="1" dirty="0">
                <a:solidFill>
                  <a:srgbClr val="0B1F3A"/>
                </a:solidFill>
                <a:latin typeface="Arial" pitchFamily="34" charset="0"/>
                <a:ea typeface="Arial" pitchFamily="34" charset="-122"/>
                <a:cs typeface="Arial" pitchFamily="34" charset="-120"/>
              </a:rPr>
              <a:t>Key findings</a:t>
            </a:r>
            <a:endParaRPr lang="en-US" sz="1100" dirty="0"/>
          </a:p>
        </p:txBody>
      </p:sp>
      <p:sp>
        <p:nvSpPr>
          <p:cNvPr id="68" name="Text 66"/>
          <p:cNvSpPr/>
          <p:nvPr/>
        </p:nvSpPr>
        <p:spPr>
          <a:xfrm>
            <a:off x="411480" y="3291840"/>
            <a:ext cx="3749040" cy="1207008"/>
          </a:xfrm>
          <a:prstGeom prst="rect">
            <a:avLst/>
          </a:prstGeom>
          <a:noFill/>
          <a:ln/>
        </p:spPr>
        <p:txBody>
          <a:bodyPr wrap="square" rtlCol="0" anchor="ctr"/>
          <a:lstStyle/>
          <a:p>
            <a:pPr indent="0" marL="0">
              <a:buNone/>
            </a:pPr>
            <a:r>
              <a:rPr lang="en-US" sz="950" dirty="0">
                <a:solidFill>
                  <a:srgbClr val="1A2A40"/>
                </a:solidFill>
                <a:latin typeface="Arial" pitchFamily="34" charset="0"/>
                <a:ea typeface="Arial" pitchFamily="34" charset="-122"/>
                <a:cs typeface="Arial" pitchFamily="34" charset="-120"/>
              </a:rPr>
              <a:t>Healthcare &amp; Education are highest-sensitivity drivers (rank shift ~1.4)</a:t>
            </a:r>
            <a:endParaRPr lang="en-US" sz="950" dirty="0"/>
          </a:p>
          <a:p>
            <a:pPr indent="0" marL="0">
              <a:buNone/>
            </a:pPr>
            <a:r>
              <a:rPr lang="en-US" sz="950" dirty="0">
                <a:solidFill>
                  <a:srgbClr val="1A2A40"/>
                </a:solidFill>
                <a:latin typeface="Arial" pitchFamily="34" charset="0"/>
                <a:ea typeface="Arial" pitchFamily="34" charset="-122"/>
                <a:cs typeface="Arial" pitchFamily="34" charset="-120"/>
              </a:rPr>
              <a:t>9/32 wards achieve classification robustness (≥80% quintile agreement)</a:t>
            </a:r>
            <a:endParaRPr lang="en-US" sz="950" dirty="0"/>
          </a:p>
          <a:p>
            <a:pPr indent="0" marL="0">
              <a:buNone/>
            </a:pPr>
            <a:r>
              <a:rPr lang="en-US" sz="950" dirty="0">
                <a:solidFill>
                  <a:srgbClr val="1A2A40"/>
                </a:solidFill>
                <a:latin typeface="Arial" pitchFamily="34" charset="0"/>
                <a:ea typeface="Arial" pitchFamily="34" charset="-122"/>
                <a:cs typeface="Arial" pitchFamily="34" charset="-120"/>
              </a:rPr>
              <a:t>EDE Spearman ρ ≥ 0.99 across full κ range [0.1–2.0]</a:t>
            </a:r>
            <a:endParaRPr lang="en-US" sz="950" dirty="0"/>
          </a:p>
          <a:p>
            <a:pPr indent="0" marL="0">
              <a:buNone/>
            </a:pPr>
            <a:r>
              <a:rPr lang="en-US" sz="950" dirty="0">
                <a:solidFill>
                  <a:srgbClr val="1A2A40"/>
                </a:solidFill>
                <a:latin typeface="Arial" pitchFamily="34" charset="0"/>
                <a:ea typeface="Arial" pitchFamily="34" charset="-122"/>
                <a:cs typeface="Arial" pitchFamily="34" charset="-120"/>
              </a:rPr>
              <a:t>Monte Carlo CI width correlates with ward peripherality</a:t>
            </a:r>
            <a:endParaRPr lang="en-US" sz="950" dirty="0"/>
          </a:p>
        </p:txBody>
      </p:sp>
      <p:sp>
        <p:nvSpPr>
          <p:cNvPr id="69" name="Shape 67"/>
          <p:cNvSpPr/>
          <p:nvPr/>
        </p:nvSpPr>
        <p:spPr>
          <a:xfrm>
            <a:off x="4434840" y="2926080"/>
            <a:ext cx="4434840" cy="1645920"/>
          </a:xfrm>
          <a:prstGeom prst="rect">
            <a:avLst/>
          </a:prstGeom>
          <a:solidFill>
            <a:srgbClr val="FFF4E8"/>
          </a:solidFill>
          <a:ln w="6350">
            <a:solidFill>
              <a:srgbClr val="B7770D"/>
            </a:solidFill>
            <a:prstDash val="solid"/>
          </a:ln>
        </p:spPr>
      </p:sp>
      <p:sp>
        <p:nvSpPr>
          <p:cNvPr id="70" name="Text 68"/>
          <p:cNvSpPr/>
          <p:nvPr/>
        </p:nvSpPr>
        <p:spPr>
          <a:xfrm>
            <a:off x="4572000" y="2999232"/>
            <a:ext cx="4114800" cy="274320"/>
          </a:xfrm>
          <a:prstGeom prst="rect">
            <a:avLst/>
          </a:prstGeom>
          <a:noFill/>
          <a:ln/>
        </p:spPr>
        <p:txBody>
          <a:bodyPr wrap="square" rtlCol="0" anchor="ctr"/>
          <a:lstStyle/>
          <a:p>
            <a:pPr indent="0" marL="0">
              <a:buNone/>
            </a:pPr>
            <a:r>
              <a:rPr lang="en-US" sz="1100" b="1" dirty="0">
                <a:solidFill>
                  <a:srgbClr val="6A3000"/>
                </a:solidFill>
                <a:latin typeface="Arial" pitchFamily="34" charset="0"/>
                <a:ea typeface="Arial" pitchFamily="34" charset="-122"/>
                <a:cs typeface="Arial" pitchFamily="34" charset="-120"/>
              </a:rPr>
              <a:t>Dirichlet MC rationale</a:t>
            </a:r>
            <a:endParaRPr lang="en-US" sz="1100" dirty="0"/>
          </a:p>
        </p:txBody>
      </p:sp>
      <p:sp>
        <p:nvSpPr>
          <p:cNvPr id="71" name="Text 69"/>
          <p:cNvSpPr/>
          <p:nvPr/>
        </p:nvSpPr>
        <p:spPr>
          <a:xfrm>
            <a:off x="4572000" y="3291840"/>
            <a:ext cx="4114800" cy="1207008"/>
          </a:xfrm>
          <a:prstGeom prst="rect">
            <a:avLst/>
          </a:prstGeom>
          <a:noFill/>
          <a:ln/>
        </p:spPr>
        <p:txBody>
          <a:bodyPr wrap="square" rtlCol="0" anchor="ctr"/>
          <a:lstStyle/>
          <a:p>
            <a:pPr indent="0" marL="0">
              <a:buNone/>
            </a:pPr>
            <a:r>
              <a:rPr lang="en-US" sz="950" dirty="0">
                <a:solidFill>
                  <a:srgbClr val="3A1A00"/>
                </a:solidFill>
                <a:latin typeface="Arial" pitchFamily="34" charset="0"/>
                <a:ea typeface="Arial" pitchFamily="34" charset="-122"/>
                <a:cs typeface="Arial" pitchFamily="34" charset="-120"/>
              </a:rPr>
              <a:t>Dirichlet(α) is the natural distribution for weight vectors that sum to 1 (simplex). It produces physically valid weight combinations without post-hoc renormalisation. Concentration parameter α controls spread: α→∞ gives equal weights, α→0 gives corner solutions. The symmetric Dirichlet(1,1,1,1) used here is equivalent to uniform sampling over the simplex.</a:t>
            </a:r>
            <a:endParaRPr lang="en-US" sz="950" dirty="0"/>
          </a:p>
        </p:txBody>
      </p:sp>
      <p:sp>
        <p:nvSpPr>
          <p:cNvPr id="72" name="Text 70"/>
          <p:cNvSpPr/>
          <p:nvPr/>
        </p:nvSpPr>
        <p:spPr>
          <a:xfrm>
            <a:off x="8412480" y="4869180"/>
            <a:ext cx="640080" cy="201168"/>
          </a:xfrm>
          <a:prstGeom prst="rect">
            <a:avLst/>
          </a:prstGeom>
          <a:noFill/>
          <a:ln/>
        </p:spPr>
        <p:txBody>
          <a:bodyPr wrap="square" rtlCol="0" anchor="ctr"/>
          <a:lstStyle/>
          <a:p>
            <a:pPr algn="r" indent="0" marL="0">
              <a:buNone/>
            </a:pPr>
            <a:r>
              <a:rPr lang="en-US" sz="900" dirty="0">
                <a:solidFill>
                  <a:srgbClr val="5A6272"/>
                </a:solidFill>
                <a:latin typeface="Arial" pitchFamily="34" charset="0"/>
                <a:ea typeface="Arial" pitchFamily="34" charset="-122"/>
                <a:cs typeface="Arial" pitchFamily="34" charset="-120"/>
              </a:rPr>
              <a:t>4 / 16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B1F3A"/>
          </a:solidFill>
          <a:ln w="12700">
            <a:solidFill>
              <a:srgbClr val="0B1F3A"/>
            </a:solidFill>
            <a:prstDash val="solid"/>
          </a:ln>
        </p:spPr>
      </p:sp>
      <p:sp>
        <p:nvSpPr>
          <p:cNvPr id="3" name="Text 1"/>
          <p:cNvSpPr/>
          <p:nvPr/>
        </p:nvSpPr>
        <p:spPr>
          <a:xfrm>
            <a:off x="228600" y="73152"/>
            <a:ext cx="8686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BYM2 Bayesian spatial model</a:t>
            </a:r>
            <a:endParaRPr lang="en-US" sz="2200" dirty="0"/>
          </a:p>
        </p:txBody>
      </p:sp>
      <p:sp>
        <p:nvSpPr>
          <p:cNvPr id="4" name="Text 2"/>
          <p:cNvSpPr/>
          <p:nvPr/>
        </p:nvSpPr>
        <p:spPr>
          <a:xfrm>
            <a:off x="228600" y="512064"/>
            <a:ext cx="8686800" cy="256032"/>
          </a:xfrm>
          <a:prstGeom prst="rect">
            <a:avLst/>
          </a:prstGeom>
          <a:noFill/>
          <a:ln/>
        </p:spPr>
        <p:txBody>
          <a:bodyPr wrap="square" rtlCol="0" anchor="ctr"/>
          <a:lstStyle/>
          <a:p>
            <a:pPr indent="0" marL="0">
              <a:buNone/>
            </a:pPr>
            <a:r>
              <a:rPr lang="en-US" sz="1100" dirty="0">
                <a:solidFill>
                  <a:srgbClr val="A0C0E0"/>
                </a:solidFill>
                <a:latin typeface="Arial" pitchFamily="34" charset="0"/>
                <a:ea typeface="Arial" pitchFamily="34" charset="-122"/>
                <a:cs typeface="Arial" pitchFamily="34" charset="-120"/>
              </a:rPr>
              <a:t>ICAR prior · PC hyperpriors · PyMC 5 NUTS</a:t>
            </a:r>
            <a:endParaRPr lang="en-US" sz="1100" dirty="0"/>
          </a:p>
        </p:txBody>
      </p:sp>
      <p:sp>
        <p:nvSpPr>
          <p:cNvPr id="5" name="Shape 3"/>
          <p:cNvSpPr/>
          <p:nvPr/>
        </p:nvSpPr>
        <p:spPr>
          <a:xfrm>
            <a:off x="0" y="777240"/>
            <a:ext cx="9144000" cy="0"/>
          </a:xfrm>
          <a:prstGeom prst="line">
            <a:avLst/>
          </a:prstGeom>
          <a:noFill/>
          <a:ln w="38100">
            <a:solidFill>
              <a:srgbClr val="D4A820"/>
            </a:solidFill>
            <a:prstDash val="solid"/>
          </a:ln>
        </p:spPr>
      </p:sp>
      <p:sp>
        <p:nvSpPr>
          <p:cNvPr id="6" name="Shape 4"/>
          <p:cNvSpPr/>
          <p:nvPr/>
        </p:nvSpPr>
        <p:spPr>
          <a:xfrm>
            <a:off x="274320" y="914400"/>
            <a:ext cx="5029200" cy="3200400"/>
          </a:xfrm>
          <a:prstGeom prst="rect">
            <a:avLst/>
          </a:prstGeom>
          <a:solidFill>
            <a:srgbClr val="F0F5FA"/>
          </a:solidFill>
          <a:ln w="8890">
            <a:solidFill>
              <a:srgbClr val="1A4A8A"/>
            </a:solidFill>
            <a:prstDash val="solid"/>
          </a:ln>
        </p:spPr>
      </p:sp>
      <p:sp>
        <p:nvSpPr>
          <p:cNvPr id="7" name="Text 5"/>
          <p:cNvSpPr/>
          <p:nvPr/>
        </p:nvSpPr>
        <p:spPr>
          <a:xfrm>
            <a:off x="457200" y="987552"/>
            <a:ext cx="4572000" cy="274320"/>
          </a:xfrm>
          <a:prstGeom prst="rect">
            <a:avLst/>
          </a:prstGeom>
          <a:noFill/>
          <a:ln/>
        </p:spPr>
        <p:txBody>
          <a:bodyPr wrap="square" rtlCol="0" anchor="ctr"/>
          <a:lstStyle/>
          <a:p>
            <a:pPr indent="0" marL="0">
              <a:buNone/>
            </a:pPr>
            <a:r>
              <a:rPr lang="en-US" sz="1100" b="1" dirty="0">
                <a:solidFill>
                  <a:srgbClr val="0B1F3A"/>
                </a:solidFill>
                <a:latin typeface="Arial" pitchFamily="34" charset="0"/>
                <a:ea typeface="Arial" pitchFamily="34" charset="-122"/>
                <a:cs typeface="Arial" pitchFamily="34" charset="-120"/>
              </a:rPr>
              <a:t>Model specification</a:t>
            </a:r>
            <a:endParaRPr lang="en-US" sz="1100" dirty="0"/>
          </a:p>
        </p:txBody>
      </p:sp>
      <p:sp>
        <p:nvSpPr>
          <p:cNvPr id="8" name="Text 6"/>
          <p:cNvSpPr/>
          <p:nvPr/>
        </p:nvSpPr>
        <p:spPr>
          <a:xfrm>
            <a:off x="457200" y="1353312"/>
            <a:ext cx="4754880" cy="347472"/>
          </a:xfrm>
          <a:prstGeom prst="rect">
            <a:avLst/>
          </a:prstGeom>
          <a:noFill/>
          <a:ln/>
        </p:spPr>
        <p:txBody>
          <a:bodyPr wrap="square" rtlCol="0" anchor="ctr"/>
          <a:lstStyle/>
          <a:p>
            <a:pPr indent="0" marL="0">
              <a:buNone/>
            </a:pPr>
            <a:r>
              <a:rPr lang="en-US" sz="1200" dirty="0">
                <a:solidFill>
                  <a:srgbClr val="121C2B"/>
                </a:solidFill>
                <a:latin typeface="Courier New" pitchFamily="34" charset="0"/>
                <a:ea typeface="Courier New" pitchFamily="34" charset="-122"/>
                <a:cs typeface="Courier New" pitchFamily="34" charset="-120"/>
              </a:rPr>
              <a:t>y_i ~ Normal(μ_i, σ_ε²)</a:t>
            </a:r>
            <a:endParaRPr lang="en-US" sz="1200" dirty="0"/>
          </a:p>
        </p:txBody>
      </p:sp>
      <p:sp>
        <p:nvSpPr>
          <p:cNvPr id="9" name="Text 7"/>
          <p:cNvSpPr/>
          <p:nvPr/>
        </p:nvSpPr>
        <p:spPr>
          <a:xfrm>
            <a:off x="457200" y="1755648"/>
            <a:ext cx="4754880" cy="347472"/>
          </a:xfrm>
          <a:prstGeom prst="rect">
            <a:avLst/>
          </a:prstGeom>
          <a:noFill/>
          <a:ln/>
        </p:spPr>
        <p:txBody>
          <a:bodyPr wrap="square" rtlCol="0" anchor="ctr"/>
          <a:lstStyle/>
          <a:p>
            <a:pPr indent="0" marL="0">
              <a:buNone/>
            </a:pPr>
            <a:r>
              <a:rPr lang="en-US" sz="1200" dirty="0">
                <a:solidFill>
                  <a:srgbClr val="121C2B"/>
                </a:solidFill>
                <a:latin typeface="Courier New" pitchFamily="34" charset="0"/>
                <a:ea typeface="Courier New" pitchFamily="34" charset="-122"/>
                <a:cs typeface="Courier New" pitchFamily="34" charset="-120"/>
              </a:rPr>
              <a:t>μ_i = α + Σ βⱼ xᵢⱼ + bᵢ</a:t>
            </a:r>
            <a:endParaRPr lang="en-US" sz="1200" dirty="0"/>
          </a:p>
        </p:txBody>
      </p:sp>
      <p:sp>
        <p:nvSpPr>
          <p:cNvPr id="10" name="Text 8"/>
          <p:cNvSpPr/>
          <p:nvPr/>
        </p:nvSpPr>
        <p:spPr>
          <a:xfrm>
            <a:off x="457200" y="2157984"/>
            <a:ext cx="4754880" cy="347472"/>
          </a:xfrm>
          <a:prstGeom prst="rect">
            <a:avLst/>
          </a:prstGeom>
          <a:noFill/>
          <a:ln/>
        </p:spPr>
        <p:txBody>
          <a:bodyPr wrap="square" rtlCol="0" anchor="ctr"/>
          <a:lstStyle/>
          <a:p>
            <a:pPr indent="0" marL="0">
              <a:buNone/>
            </a:pPr>
            <a:r>
              <a:rPr lang="en-US" sz="1200" dirty="0">
                <a:solidFill>
                  <a:srgbClr val="121C2B"/>
                </a:solidFill>
                <a:latin typeface="Courier New" pitchFamily="34" charset="0"/>
                <a:ea typeface="Courier New" pitchFamily="34" charset="-122"/>
                <a:cs typeface="Courier New" pitchFamily="34" charset="-120"/>
              </a:rPr>
              <a:t>bᵢ = σ_b · (√φ · u*ᵢ + √(1−φ) · v*ᵢ)</a:t>
            </a:r>
            <a:endParaRPr lang="en-US" sz="1200" dirty="0"/>
          </a:p>
        </p:txBody>
      </p:sp>
      <p:sp>
        <p:nvSpPr>
          <p:cNvPr id="11" name="Text 9"/>
          <p:cNvSpPr/>
          <p:nvPr/>
        </p:nvSpPr>
        <p:spPr>
          <a:xfrm>
            <a:off x="457200" y="2560320"/>
            <a:ext cx="4754880" cy="347472"/>
          </a:xfrm>
          <a:prstGeom prst="rect">
            <a:avLst/>
          </a:prstGeom>
          <a:noFill/>
          <a:ln/>
        </p:spPr>
        <p:txBody>
          <a:bodyPr wrap="square" rtlCol="0" anchor="ctr"/>
          <a:lstStyle/>
          <a:p>
            <a:pPr indent="0" marL="0">
              <a:buNone/>
            </a:pPr>
            <a:r>
              <a:rPr lang="en-US" sz="1200" dirty="0">
                <a:solidFill>
                  <a:srgbClr val="121C2B"/>
                </a:solidFill>
                <a:latin typeface="Courier New" pitchFamily="34" charset="0"/>
                <a:ea typeface="Courier New" pitchFamily="34" charset="-122"/>
                <a:cs typeface="Courier New" pitchFamily="34" charset="-120"/>
              </a:rPr>
              <a:t>u* ~ ICAR(W)   [scaled]</a:t>
            </a:r>
            <a:endParaRPr lang="en-US" sz="1200" dirty="0"/>
          </a:p>
        </p:txBody>
      </p:sp>
      <p:sp>
        <p:nvSpPr>
          <p:cNvPr id="12" name="Text 10"/>
          <p:cNvSpPr/>
          <p:nvPr/>
        </p:nvSpPr>
        <p:spPr>
          <a:xfrm>
            <a:off x="457200" y="2962656"/>
            <a:ext cx="4754880" cy="347472"/>
          </a:xfrm>
          <a:prstGeom prst="rect">
            <a:avLst/>
          </a:prstGeom>
          <a:noFill/>
          <a:ln/>
        </p:spPr>
        <p:txBody>
          <a:bodyPr wrap="square" rtlCol="0" anchor="ctr"/>
          <a:lstStyle/>
          <a:p>
            <a:pPr indent="0" marL="0">
              <a:buNone/>
            </a:pPr>
            <a:r>
              <a:rPr lang="en-US" sz="1200" dirty="0">
                <a:solidFill>
                  <a:srgbClr val="121C2B"/>
                </a:solidFill>
                <a:latin typeface="Courier New" pitchFamily="34" charset="0"/>
                <a:ea typeface="Courier New" pitchFamily="34" charset="-122"/>
                <a:cs typeface="Courier New" pitchFamily="34" charset="-120"/>
              </a:rPr>
              <a:t>v*ᵢ ~ Normal(0, 1)   [IID]</a:t>
            </a:r>
            <a:endParaRPr lang="en-US" sz="1200" dirty="0"/>
          </a:p>
        </p:txBody>
      </p:sp>
      <p:sp>
        <p:nvSpPr>
          <p:cNvPr id="13" name="Shape 11"/>
          <p:cNvSpPr/>
          <p:nvPr/>
        </p:nvSpPr>
        <p:spPr>
          <a:xfrm>
            <a:off x="5486400" y="914400"/>
            <a:ext cx="3383280" cy="457200"/>
          </a:xfrm>
          <a:prstGeom prst="rect">
            <a:avLst/>
          </a:prstGeom>
          <a:solidFill>
            <a:srgbClr val="EEF4FB"/>
          </a:solidFill>
          <a:ln w="3810">
            <a:solidFill>
              <a:srgbClr val="B0C8E0"/>
            </a:solidFill>
            <a:prstDash val="solid"/>
          </a:ln>
        </p:spPr>
      </p:sp>
      <p:sp>
        <p:nvSpPr>
          <p:cNvPr id="14" name="Text 12"/>
          <p:cNvSpPr/>
          <p:nvPr/>
        </p:nvSpPr>
        <p:spPr>
          <a:xfrm>
            <a:off x="5623560" y="969264"/>
            <a:ext cx="3108960" cy="201168"/>
          </a:xfrm>
          <a:prstGeom prst="rect">
            <a:avLst/>
          </a:prstGeom>
          <a:noFill/>
          <a:ln/>
        </p:spPr>
        <p:txBody>
          <a:bodyPr wrap="square" rtlCol="0" anchor="ctr"/>
          <a:lstStyle/>
          <a:p>
            <a:pPr indent="0" marL="0">
              <a:buNone/>
            </a:pPr>
            <a:r>
              <a:rPr lang="en-US" sz="1000" b="1" dirty="0">
                <a:solidFill>
                  <a:srgbClr val="1A4A8A"/>
                </a:solidFill>
                <a:latin typeface="Courier New" pitchFamily="34" charset="0"/>
                <a:ea typeface="Courier New" pitchFamily="34" charset="-122"/>
                <a:cs typeface="Courier New" pitchFamily="34" charset="-120"/>
              </a:rPr>
              <a:t>σ_b ~ HalfNormal(0.5)  [PC]</a:t>
            </a:r>
            <a:endParaRPr lang="en-US" sz="1000" dirty="0"/>
          </a:p>
        </p:txBody>
      </p:sp>
      <p:sp>
        <p:nvSpPr>
          <p:cNvPr id="15" name="Text 13"/>
          <p:cNvSpPr/>
          <p:nvPr/>
        </p:nvSpPr>
        <p:spPr>
          <a:xfrm>
            <a:off x="5623560" y="1170432"/>
            <a:ext cx="3108960" cy="164592"/>
          </a:xfrm>
          <a:prstGeom prst="rect">
            <a:avLst/>
          </a:prstGeom>
          <a:noFill/>
          <a:ln/>
        </p:spPr>
        <p:txBody>
          <a:bodyPr wrap="square" rtlCol="0" anchor="ctr"/>
          <a:lstStyle/>
          <a:p>
            <a:pPr indent="0" marL="0">
              <a:buNone/>
            </a:pPr>
            <a:r>
              <a:rPr lang="en-US" sz="900" dirty="0">
                <a:solidFill>
                  <a:srgbClr val="5A6272"/>
                </a:solidFill>
                <a:latin typeface="Arial" pitchFamily="34" charset="0"/>
                <a:ea typeface="Arial" pitchFamily="34" charset="-122"/>
                <a:cs typeface="Arial" pitchFamily="34" charset="-120"/>
              </a:rPr>
              <a:t>P(σ_b &gt; 1.0) = 0.01</a:t>
            </a:r>
            <a:endParaRPr lang="en-US" sz="900" dirty="0"/>
          </a:p>
        </p:txBody>
      </p:sp>
      <p:sp>
        <p:nvSpPr>
          <p:cNvPr id="16" name="Shape 14"/>
          <p:cNvSpPr/>
          <p:nvPr/>
        </p:nvSpPr>
        <p:spPr>
          <a:xfrm>
            <a:off x="5486400" y="1444752"/>
            <a:ext cx="3383280" cy="457200"/>
          </a:xfrm>
          <a:prstGeom prst="rect">
            <a:avLst/>
          </a:prstGeom>
          <a:solidFill>
            <a:srgbClr val="F8FBFE"/>
          </a:solidFill>
          <a:ln w="3810">
            <a:solidFill>
              <a:srgbClr val="B0C8E0"/>
            </a:solidFill>
            <a:prstDash val="solid"/>
          </a:ln>
        </p:spPr>
      </p:sp>
      <p:sp>
        <p:nvSpPr>
          <p:cNvPr id="17" name="Text 15"/>
          <p:cNvSpPr/>
          <p:nvPr/>
        </p:nvSpPr>
        <p:spPr>
          <a:xfrm>
            <a:off x="5623560" y="1499616"/>
            <a:ext cx="3108960" cy="201168"/>
          </a:xfrm>
          <a:prstGeom prst="rect">
            <a:avLst/>
          </a:prstGeom>
          <a:noFill/>
          <a:ln/>
        </p:spPr>
        <p:txBody>
          <a:bodyPr wrap="square" rtlCol="0" anchor="ctr"/>
          <a:lstStyle/>
          <a:p>
            <a:pPr indent="0" marL="0">
              <a:buNone/>
            </a:pPr>
            <a:r>
              <a:rPr lang="en-US" sz="1000" b="1" dirty="0">
                <a:solidFill>
                  <a:srgbClr val="1A4A8A"/>
                </a:solidFill>
                <a:latin typeface="Courier New" pitchFamily="34" charset="0"/>
                <a:ea typeface="Courier New" pitchFamily="34" charset="-122"/>
                <a:cs typeface="Courier New" pitchFamily="34" charset="-120"/>
              </a:rPr>
              <a:t>φ ~ Beta(0.5, 0.5)  [PC]</a:t>
            </a:r>
            <a:endParaRPr lang="en-US" sz="1000" dirty="0"/>
          </a:p>
        </p:txBody>
      </p:sp>
      <p:sp>
        <p:nvSpPr>
          <p:cNvPr id="18" name="Text 16"/>
          <p:cNvSpPr/>
          <p:nvPr/>
        </p:nvSpPr>
        <p:spPr>
          <a:xfrm>
            <a:off x="5623560" y="1700784"/>
            <a:ext cx="3108960" cy="164592"/>
          </a:xfrm>
          <a:prstGeom prst="rect">
            <a:avLst/>
          </a:prstGeom>
          <a:noFill/>
          <a:ln/>
        </p:spPr>
        <p:txBody>
          <a:bodyPr wrap="square" rtlCol="0" anchor="ctr"/>
          <a:lstStyle/>
          <a:p>
            <a:pPr indent="0" marL="0">
              <a:buNone/>
            </a:pPr>
            <a:r>
              <a:rPr lang="en-US" sz="900" dirty="0">
                <a:solidFill>
                  <a:srgbClr val="5A6272"/>
                </a:solidFill>
                <a:latin typeface="Arial" pitchFamily="34" charset="0"/>
                <a:ea typeface="Arial" pitchFamily="34" charset="-122"/>
                <a:cs typeface="Arial" pitchFamily="34" charset="-120"/>
              </a:rPr>
              <a:t>Mildly favours structured</a:t>
            </a:r>
            <a:endParaRPr lang="en-US" sz="900" dirty="0"/>
          </a:p>
        </p:txBody>
      </p:sp>
      <p:sp>
        <p:nvSpPr>
          <p:cNvPr id="19" name="Shape 17"/>
          <p:cNvSpPr/>
          <p:nvPr/>
        </p:nvSpPr>
        <p:spPr>
          <a:xfrm>
            <a:off x="5486400" y="1975104"/>
            <a:ext cx="3383280" cy="457200"/>
          </a:xfrm>
          <a:prstGeom prst="rect">
            <a:avLst/>
          </a:prstGeom>
          <a:solidFill>
            <a:srgbClr val="EEF4FB"/>
          </a:solidFill>
          <a:ln w="3810">
            <a:solidFill>
              <a:srgbClr val="B0C8E0"/>
            </a:solidFill>
            <a:prstDash val="solid"/>
          </a:ln>
        </p:spPr>
      </p:sp>
      <p:sp>
        <p:nvSpPr>
          <p:cNvPr id="20" name="Text 18"/>
          <p:cNvSpPr/>
          <p:nvPr/>
        </p:nvSpPr>
        <p:spPr>
          <a:xfrm>
            <a:off x="5623560" y="2029968"/>
            <a:ext cx="3108960" cy="201168"/>
          </a:xfrm>
          <a:prstGeom prst="rect">
            <a:avLst/>
          </a:prstGeom>
          <a:noFill/>
          <a:ln/>
        </p:spPr>
        <p:txBody>
          <a:bodyPr wrap="square" rtlCol="0" anchor="ctr"/>
          <a:lstStyle/>
          <a:p>
            <a:pPr indent="0" marL="0">
              <a:buNone/>
            </a:pPr>
            <a:r>
              <a:rPr lang="en-US" sz="1000" b="1" dirty="0">
                <a:solidFill>
                  <a:srgbClr val="1A4A8A"/>
                </a:solidFill>
                <a:latin typeface="Courier New" pitchFamily="34" charset="0"/>
                <a:ea typeface="Courier New" pitchFamily="34" charset="-122"/>
                <a:cs typeface="Courier New" pitchFamily="34" charset="-120"/>
              </a:rPr>
              <a:t>α ~ Normal(0, 1)</a:t>
            </a:r>
            <a:endParaRPr lang="en-US" sz="1000" dirty="0"/>
          </a:p>
        </p:txBody>
      </p:sp>
      <p:sp>
        <p:nvSpPr>
          <p:cNvPr id="21" name="Text 19"/>
          <p:cNvSpPr/>
          <p:nvPr/>
        </p:nvSpPr>
        <p:spPr>
          <a:xfrm>
            <a:off x="5623560" y="2231136"/>
            <a:ext cx="3108960" cy="164592"/>
          </a:xfrm>
          <a:prstGeom prst="rect">
            <a:avLst/>
          </a:prstGeom>
          <a:noFill/>
          <a:ln/>
        </p:spPr>
        <p:txBody>
          <a:bodyPr wrap="square" rtlCol="0" anchor="ctr"/>
          <a:lstStyle/>
          <a:p>
            <a:pPr indent="0" marL="0">
              <a:buNone/>
            </a:pPr>
            <a:r>
              <a:rPr lang="en-US" sz="900" dirty="0">
                <a:solidFill>
                  <a:srgbClr val="5A6272"/>
                </a:solidFill>
                <a:latin typeface="Arial" pitchFamily="34" charset="0"/>
                <a:ea typeface="Arial" pitchFamily="34" charset="-122"/>
                <a:cs typeface="Arial" pitchFamily="34" charset="-120"/>
              </a:rPr>
              <a:t>Weakly informative intercept</a:t>
            </a:r>
            <a:endParaRPr lang="en-US" sz="900" dirty="0"/>
          </a:p>
        </p:txBody>
      </p:sp>
      <p:sp>
        <p:nvSpPr>
          <p:cNvPr id="22" name="Shape 20"/>
          <p:cNvSpPr/>
          <p:nvPr/>
        </p:nvSpPr>
        <p:spPr>
          <a:xfrm>
            <a:off x="5486400" y="2505456"/>
            <a:ext cx="3383280" cy="457200"/>
          </a:xfrm>
          <a:prstGeom prst="rect">
            <a:avLst/>
          </a:prstGeom>
          <a:solidFill>
            <a:srgbClr val="F8FBFE"/>
          </a:solidFill>
          <a:ln w="3810">
            <a:solidFill>
              <a:srgbClr val="B0C8E0"/>
            </a:solidFill>
            <a:prstDash val="solid"/>
          </a:ln>
        </p:spPr>
      </p:sp>
      <p:sp>
        <p:nvSpPr>
          <p:cNvPr id="23" name="Text 21"/>
          <p:cNvSpPr/>
          <p:nvPr/>
        </p:nvSpPr>
        <p:spPr>
          <a:xfrm>
            <a:off x="5623560" y="2560320"/>
            <a:ext cx="3108960" cy="201168"/>
          </a:xfrm>
          <a:prstGeom prst="rect">
            <a:avLst/>
          </a:prstGeom>
          <a:noFill/>
          <a:ln/>
        </p:spPr>
        <p:txBody>
          <a:bodyPr wrap="square" rtlCol="0" anchor="ctr"/>
          <a:lstStyle/>
          <a:p>
            <a:pPr indent="0" marL="0">
              <a:buNone/>
            </a:pPr>
            <a:r>
              <a:rPr lang="en-US" sz="1000" b="1" dirty="0">
                <a:solidFill>
                  <a:srgbClr val="1A4A8A"/>
                </a:solidFill>
                <a:latin typeface="Courier New" pitchFamily="34" charset="0"/>
                <a:ea typeface="Courier New" pitchFamily="34" charset="-122"/>
                <a:cs typeface="Courier New" pitchFamily="34" charset="-120"/>
              </a:rPr>
              <a:t>β ~ Normal(0, 1)</a:t>
            </a:r>
            <a:endParaRPr lang="en-US" sz="1000" dirty="0"/>
          </a:p>
        </p:txBody>
      </p:sp>
      <p:sp>
        <p:nvSpPr>
          <p:cNvPr id="24" name="Text 22"/>
          <p:cNvSpPr/>
          <p:nvPr/>
        </p:nvSpPr>
        <p:spPr>
          <a:xfrm>
            <a:off x="5623560" y="2761488"/>
            <a:ext cx="3108960" cy="164592"/>
          </a:xfrm>
          <a:prstGeom prst="rect">
            <a:avLst/>
          </a:prstGeom>
          <a:noFill/>
          <a:ln/>
        </p:spPr>
        <p:txBody>
          <a:bodyPr wrap="square" rtlCol="0" anchor="ctr"/>
          <a:lstStyle/>
          <a:p>
            <a:pPr indent="0" marL="0">
              <a:buNone/>
            </a:pPr>
            <a:r>
              <a:rPr lang="en-US" sz="900" dirty="0">
                <a:solidFill>
                  <a:srgbClr val="5A6272"/>
                </a:solidFill>
                <a:latin typeface="Arial" pitchFamily="34" charset="0"/>
                <a:ea typeface="Arial" pitchFamily="34" charset="-122"/>
                <a:cs typeface="Arial" pitchFamily="34" charset="-120"/>
              </a:rPr>
              <a:t>Per-component coefficient</a:t>
            </a:r>
            <a:endParaRPr lang="en-US" sz="900" dirty="0"/>
          </a:p>
        </p:txBody>
      </p:sp>
      <p:sp>
        <p:nvSpPr>
          <p:cNvPr id="25" name="Shape 23"/>
          <p:cNvSpPr/>
          <p:nvPr/>
        </p:nvSpPr>
        <p:spPr>
          <a:xfrm>
            <a:off x="5486400" y="3108960"/>
            <a:ext cx="3383280" cy="1005840"/>
          </a:xfrm>
          <a:prstGeom prst="rect">
            <a:avLst/>
          </a:prstGeom>
          <a:solidFill>
            <a:srgbClr val="FFF0F0"/>
          </a:solidFill>
          <a:ln w="10160">
            <a:solidFill>
              <a:srgbClr val="C0392B"/>
            </a:solidFill>
            <a:prstDash val="solid"/>
          </a:ln>
        </p:spPr>
      </p:sp>
      <p:sp>
        <p:nvSpPr>
          <p:cNvPr id="26" name="Text 24"/>
          <p:cNvSpPr/>
          <p:nvPr/>
        </p:nvSpPr>
        <p:spPr>
          <a:xfrm>
            <a:off x="5623560" y="3182112"/>
            <a:ext cx="3154680" cy="256032"/>
          </a:xfrm>
          <a:prstGeom prst="rect">
            <a:avLst/>
          </a:prstGeom>
          <a:noFill/>
          <a:ln/>
        </p:spPr>
        <p:txBody>
          <a:bodyPr wrap="square" rtlCol="0" anchor="ctr"/>
          <a:lstStyle/>
          <a:p>
            <a:pPr indent="0" marL="0">
              <a:buNone/>
            </a:pPr>
            <a:r>
              <a:rPr lang="en-US" sz="1000" b="1" dirty="0">
                <a:solidFill>
                  <a:srgbClr val="C0392B"/>
                </a:solidFill>
                <a:latin typeface="Arial" pitchFamily="34" charset="0"/>
                <a:ea typeface="Arial" pitchFamily="34" charset="-122"/>
                <a:cs typeface="Arial" pitchFamily="34" charset="-120"/>
              </a:rPr>
              <a:t>Critical: do NOT use pm.CAR</a:t>
            </a:r>
            <a:endParaRPr lang="en-US" sz="1000" dirty="0"/>
          </a:p>
        </p:txBody>
      </p:sp>
      <p:sp>
        <p:nvSpPr>
          <p:cNvPr id="27" name="Text 25"/>
          <p:cNvSpPr/>
          <p:nvPr/>
        </p:nvSpPr>
        <p:spPr>
          <a:xfrm>
            <a:off x="5623560" y="3456432"/>
            <a:ext cx="3154680" cy="594360"/>
          </a:xfrm>
          <a:prstGeom prst="rect">
            <a:avLst/>
          </a:prstGeom>
          <a:noFill/>
          <a:ln/>
        </p:spPr>
        <p:txBody>
          <a:bodyPr wrap="square" rtlCol="0" anchor="ctr"/>
          <a:lstStyle/>
          <a:p>
            <a:pPr indent="0" marL="0">
              <a:buNone/>
            </a:pPr>
            <a:r>
              <a:rPr lang="en-US" sz="900" dirty="0">
                <a:solidFill>
                  <a:srgbClr val="5A1010"/>
                </a:solidFill>
                <a:latin typeface="Arial" pitchFamily="34" charset="0"/>
                <a:ea typeface="Arial" pitchFamily="34" charset="-122"/>
                <a:cs typeface="Arial" pitchFamily="34" charset="-120"/>
              </a:rPr>
              <a:t>pm.CAR(alpha=0.99) approximates ICAR but hardcodes τ=1 and produces biased σ_b. Use explicit ICAR log-potential via pm.Potential('icar', icar_logp(...)).</a:t>
            </a:r>
            <a:endParaRPr lang="en-US" sz="900" dirty="0"/>
          </a:p>
        </p:txBody>
      </p:sp>
      <p:sp>
        <p:nvSpPr>
          <p:cNvPr id="28" name="Shape 26"/>
          <p:cNvSpPr/>
          <p:nvPr/>
        </p:nvSpPr>
        <p:spPr>
          <a:xfrm>
            <a:off x="274320" y="4206240"/>
            <a:ext cx="5029200" cy="621792"/>
          </a:xfrm>
          <a:prstGeom prst="rect">
            <a:avLst/>
          </a:prstGeom>
          <a:solidFill>
            <a:srgbClr val="0B1F3A"/>
          </a:solidFill>
          <a:ln w="12700">
            <a:solidFill>
              <a:srgbClr val="0B1F3A"/>
            </a:solidFill>
            <a:prstDash val="solid"/>
          </a:ln>
        </p:spPr>
      </p:sp>
      <p:sp>
        <p:nvSpPr>
          <p:cNvPr id="29" name="Text 27"/>
          <p:cNvSpPr/>
          <p:nvPr/>
        </p:nvSpPr>
        <p:spPr>
          <a:xfrm>
            <a:off x="457200" y="4279392"/>
            <a:ext cx="4663440" cy="457200"/>
          </a:xfrm>
          <a:prstGeom prst="rect">
            <a:avLst/>
          </a:prstGeom>
          <a:noFill/>
          <a:ln/>
        </p:spPr>
        <p:txBody>
          <a:bodyPr wrap="square" rtlCol="0" anchor="ctr"/>
          <a:lstStyle/>
          <a:p>
            <a:pPr indent="0" marL="0">
              <a:buNone/>
            </a:pPr>
            <a:r>
              <a:rPr lang="en-US" sz="950" dirty="0">
                <a:solidFill>
                  <a:srgbClr val="A0C8F0"/>
                </a:solidFill>
                <a:latin typeface="Courier New" pitchFamily="34" charset="0"/>
                <a:ea typeface="Courier New" pitchFamily="34" charset="-122"/>
                <a:cs typeface="Courier New" pitchFamily="34" charset="-120"/>
              </a:rPr>
              <a:t>NUTS: 4 chains × 2000 draws, tune=1000, target_accept=0.90  |  Adjacency: city2graph Queen contiguity</a:t>
            </a:r>
            <a:endParaRPr lang="en-US" sz="950" dirty="0"/>
          </a:p>
        </p:txBody>
      </p:sp>
      <p:sp>
        <p:nvSpPr>
          <p:cNvPr id="30" name="Text 28"/>
          <p:cNvSpPr/>
          <p:nvPr/>
        </p:nvSpPr>
        <p:spPr>
          <a:xfrm>
            <a:off x="8412480" y="4869180"/>
            <a:ext cx="640080" cy="201168"/>
          </a:xfrm>
          <a:prstGeom prst="rect">
            <a:avLst/>
          </a:prstGeom>
          <a:noFill/>
          <a:ln/>
        </p:spPr>
        <p:txBody>
          <a:bodyPr wrap="square" rtlCol="0" anchor="ctr"/>
          <a:lstStyle/>
          <a:p>
            <a:pPr algn="r" indent="0" marL="0">
              <a:buNone/>
            </a:pPr>
            <a:r>
              <a:rPr lang="en-US" sz="900" dirty="0">
                <a:solidFill>
                  <a:srgbClr val="5A6272"/>
                </a:solidFill>
                <a:latin typeface="Arial" pitchFamily="34" charset="0"/>
                <a:ea typeface="Arial" pitchFamily="34" charset="-122"/>
                <a:cs typeface="Arial" pitchFamily="34" charset="-120"/>
              </a:rPr>
              <a:t>5 / 16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B1F3A"/>
          </a:solidFill>
          <a:ln w="12700">
            <a:solidFill>
              <a:srgbClr val="0B1F3A"/>
            </a:solidFill>
            <a:prstDash val="solid"/>
          </a:ln>
        </p:spPr>
      </p:sp>
      <p:sp>
        <p:nvSpPr>
          <p:cNvPr id="3" name="Text 1"/>
          <p:cNvSpPr/>
          <p:nvPr/>
        </p:nvSpPr>
        <p:spPr>
          <a:xfrm>
            <a:off x="228600" y="73152"/>
            <a:ext cx="8686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SWMM: why it took 17 minutes (and the fix)</a:t>
            </a:r>
            <a:endParaRPr lang="en-US" sz="2200" dirty="0"/>
          </a:p>
        </p:txBody>
      </p:sp>
      <p:sp>
        <p:nvSpPr>
          <p:cNvPr id="4" name="Text 2"/>
          <p:cNvSpPr/>
          <p:nvPr/>
        </p:nvSpPr>
        <p:spPr>
          <a:xfrm>
            <a:off x="228600" y="512064"/>
            <a:ext cx="8686800" cy="256032"/>
          </a:xfrm>
          <a:prstGeom prst="rect">
            <a:avLst/>
          </a:prstGeom>
          <a:noFill/>
          <a:ln/>
        </p:spPr>
        <p:txBody>
          <a:bodyPr wrap="square" rtlCol="0" anchor="ctr"/>
          <a:lstStyle/>
          <a:p>
            <a:pPr indent="0" marL="0">
              <a:buNone/>
            </a:pPr>
            <a:r>
              <a:rPr lang="en-US" sz="1100" dirty="0">
                <a:solidFill>
                  <a:srgbClr val="A0C0E0"/>
                </a:solidFill>
                <a:latin typeface="Arial" pitchFamily="34" charset="0"/>
                <a:ea typeface="Arial" pitchFamily="34" charset="-122"/>
                <a:cs typeface="Arial" pitchFamily="34" charset="-120"/>
              </a:rPr>
              <a:t>4 compounding root causes in build_swm.py</a:t>
            </a:r>
            <a:endParaRPr lang="en-US" sz="1100" dirty="0"/>
          </a:p>
        </p:txBody>
      </p:sp>
      <p:sp>
        <p:nvSpPr>
          <p:cNvPr id="5" name="Shape 3"/>
          <p:cNvSpPr/>
          <p:nvPr/>
        </p:nvSpPr>
        <p:spPr>
          <a:xfrm>
            <a:off x="0" y="777240"/>
            <a:ext cx="9144000" cy="0"/>
          </a:xfrm>
          <a:prstGeom prst="line">
            <a:avLst/>
          </a:prstGeom>
          <a:noFill/>
          <a:ln w="38100">
            <a:solidFill>
              <a:srgbClr val="D4A820"/>
            </a:solidFill>
            <a:prstDash val="solid"/>
          </a:ln>
        </p:spPr>
      </p:sp>
      <p:sp>
        <p:nvSpPr>
          <p:cNvPr id="6" name="Shape 4"/>
          <p:cNvSpPr/>
          <p:nvPr/>
        </p:nvSpPr>
        <p:spPr>
          <a:xfrm>
            <a:off x="274320" y="960120"/>
            <a:ext cx="457200" cy="822960"/>
          </a:xfrm>
          <a:prstGeom prst="rect">
            <a:avLst/>
          </a:prstGeom>
          <a:solidFill>
            <a:srgbClr val="C0392B"/>
          </a:solidFill>
          <a:ln w="12700">
            <a:solidFill>
              <a:srgbClr val="C0392B"/>
            </a:solidFill>
            <a:prstDash val="solid"/>
          </a:ln>
        </p:spPr>
      </p:sp>
      <p:sp>
        <p:nvSpPr>
          <p:cNvPr id="7" name="Text 5"/>
          <p:cNvSpPr/>
          <p:nvPr/>
        </p:nvSpPr>
        <p:spPr>
          <a:xfrm>
            <a:off x="274320" y="960120"/>
            <a:ext cx="457200" cy="82296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8" name="Shape 6"/>
          <p:cNvSpPr/>
          <p:nvPr/>
        </p:nvSpPr>
        <p:spPr>
          <a:xfrm>
            <a:off x="777240" y="960120"/>
            <a:ext cx="3840480" cy="822960"/>
          </a:xfrm>
          <a:prstGeom prst="rect">
            <a:avLst/>
          </a:prstGeom>
          <a:solidFill>
            <a:srgbClr val="FDF0F0"/>
          </a:solidFill>
          <a:ln w="5080">
            <a:solidFill>
              <a:srgbClr val="D0A0A0"/>
            </a:solidFill>
            <a:prstDash val="solid"/>
          </a:ln>
        </p:spPr>
      </p:sp>
      <p:sp>
        <p:nvSpPr>
          <p:cNvPr id="9" name="Text 7"/>
          <p:cNvSpPr/>
          <p:nvPr/>
        </p:nvSpPr>
        <p:spPr>
          <a:xfrm>
            <a:off x="868680" y="996696"/>
            <a:ext cx="3657600" cy="256032"/>
          </a:xfrm>
          <a:prstGeom prst="rect">
            <a:avLst/>
          </a:prstGeom>
          <a:noFill/>
          <a:ln/>
        </p:spPr>
        <p:txBody>
          <a:bodyPr wrap="square" rtlCol="0" anchor="ctr"/>
          <a:lstStyle/>
          <a:p>
            <a:pPr indent="0" marL="0">
              <a:buNone/>
            </a:pPr>
            <a:r>
              <a:rPr lang="en-US" sz="1100" b="1" dirty="0">
                <a:solidFill>
                  <a:srgbClr val="5A0000"/>
                </a:solidFill>
                <a:latin typeface="Arial" pitchFamily="34" charset="0"/>
                <a:ea typeface="Arial" pitchFamily="34" charset="-122"/>
                <a:cs typeface="Arial" pitchFamily="34" charset="-120"/>
              </a:rPr>
              <a:t>Network scale</a:t>
            </a:r>
            <a:endParaRPr lang="en-US" sz="1100" dirty="0"/>
          </a:p>
        </p:txBody>
      </p:sp>
      <p:sp>
        <p:nvSpPr>
          <p:cNvPr id="10" name="Text 8"/>
          <p:cNvSpPr/>
          <p:nvPr/>
        </p:nvSpPr>
        <p:spPr>
          <a:xfrm>
            <a:off x="868680" y="1271016"/>
            <a:ext cx="3657600" cy="201168"/>
          </a:xfrm>
          <a:prstGeom prst="rect">
            <a:avLst/>
          </a:prstGeom>
          <a:noFill/>
          <a:ln/>
        </p:spPr>
        <p:txBody>
          <a:bodyPr wrap="square" rtlCol="0" anchor="ctr"/>
          <a:lstStyle/>
          <a:p>
            <a:pPr indent="0" marL="0">
              <a:buNone/>
            </a:pPr>
            <a:r>
              <a:rPr lang="en-US" sz="950" dirty="0">
                <a:solidFill>
                  <a:srgbClr val="C0392B"/>
                </a:solidFill>
                <a:latin typeface="Arial" pitchFamily="34" charset="0"/>
                <a:ea typeface="Arial" pitchFamily="34" charset="-122"/>
                <a:cs typeface="Arial" pitchFamily="34" charset="-120"/>
              </a:rPr>
              <a:t>BROKEN: 18,000 nodes (full drive)</a:t>
            </a:r>
            <a:endParaRPr lang="en-US" sz="950" dirty="0"/>
          </a:p>
        </p:txBody>
      </p:sp>
      <p:sp>
        <p:nvSpPr>
          <p:cNvPr id="11" name="Shape 9"/>
          <p:cNvSpPr/>
          <p:nvPr/>
        </p:nvSpPr>
        <p:spPr>
          <a:xfrm>
            <a:off x="4709160" y="960120"/>
            <a:ext cx="228600" cy="822960"/>
          </a:xfrm>
          <a:prstGeom prst="rect">
            <a:avLst/>
          </a:prstGeom>
          <a:solidFill>
            <a:srgbClr val="D4A820"/>
          </a:solidFill>
          <a:ln w="12700">
            <a:solidFill>
              <a:srgbClr val="D4A820"/>
            </a:solidFill>
            <a:prstDash val="solid"/>
          </a:ln>
        </p:spPr>
      </p:sp>
      <p:sp>
        <p:nvSpPr>
          <p:cNvPr id="12" name="Text 10"/>
          <p:cNvSpPr/>
          <p:nvPr/>
        </p:nvSpPr>
        <p:spPr>
          <a:xfrm>
            <a:off x="4709160" y="960120"/>
            <a:ext cx="228600" cy="8229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13" name="Shape 11"/>
          <p:cNvSpPr/>
          <p:nvPr/>
        </p:nvSpPr>
        <p:spPr>
          <a:xfrm>
            <a:off x="4983480" y="960120"/>
            <a:ext cx="3840480" cy="822960"/>
          </a:xfrm>
          <a:prstGeom prst="rect">
            <a:avLst/>
          </a:prstGeom>
          <a:solidFill>
            <a:srgbClr val="F0FAF0"/>
          </a:solidFill>
          <a:ln w="5080">
            <a:solidFill>
              <a:srgbClr val="90C090"/>
            </a:solidFill>
            <a:prstDash val="solid"/>
          </a:ln>
        </p:spPr>
      </p:sp>
      <p:sp>
        <p:nvSpPr>
          <p:cNvPr id="14" name="Text 12"/>
          <p:cNvSpPr/>
          <p:nvPr/>
        </p:nvSpPr>
        <p:spPr>
          <a:xfrm>
            <a:off x="5074920" y="996696"/>
            <a:ext cx="3657600" cy="256032"/>
          </a:xfrm>
          <a:prstGeom prst="rect">
            <a:avLst/>
          </a:prstGeom>
          <a:noFill/>
          <a:ln/>
        </p:spPr>
        <p:txBody>
          <a:bodyPr wrap="square" rtlCol="0" anchor="ctr"/>
          <a:lstStyle/>
          <a:p>
            <a:pPr indent="0" marL="0">
              <a:buNone/>
            </a:pPr>
            <a:r>
              <a:rPr lang="en-US" sz="1100" b="1" dirty="0">
                <a:solidFill>
                  <a:srgbClr val="005A00"/>
                </a:solidFill>
                <a:latin typeface="Arial" pitchFamily="34" charset="0"/>
                <a:ea typeface="Arial" pitchFamily="34" charset="-122"/>
                <a:cs typeface="Arial" pitchFamily="34" charset="-120"/>
              </a:rPr>
              <a:t>Network scale</a:t>
            </a:r>
            <a:endParaRPr lang="en-US" sz="1100" dirty="0"/>
          </a:p>
        </p:txBody>
      </p:sp>
      <p:sp>
        <p:nvSpPr>
          <p:cNvPr id="15" name="Text 13"/>
          <p:cNvSpPr/>
          <p:nvPr/>
        </p:nvSpPr>
        <p:spPr>
          <a:xfrm>
            <a:off x="5074920" y="1271016"/>
            <a:ext cx="3657600" cy="201168"/>
          </a:xfrm>
          <a:prstGeom prst="rect">
            <a:avLst/>
          </a:prstGeom>
          <a:noFill/>
          <a:ln/>
        </p:spPr>
        <p:txBody>
          <a:bodyPr wrap="square" rtlCol="0" anchor="ctr"/>
          <a:lstStyle/>
          <a:p>
            <a:pPr indent="0" marL="0">
              <a:buNone/>
            </a:pPr>
            <a:r>
              <a:rPr lang="en-US" sz="950" dirty="0">
                <a:solidFill>
                  <a:srgbClr val="1A6B5A"/>
                </a:solidFill>
                <a:latin typeface="Arial" pitchFamily="34" charset="0"/>
                <a:ea typeface="Arial" pitchFamily="34" charset="-122"/>
                <a:cs typeface="Arial" pitchFamily="34" charset="-120"/>
              </a:rPr>
              <a:t>FIXED: ~700 nodes (major roads)</a:t>
            </a:r>
            <a:endParaRPr lang="en-US" sz="950" dirty="0"/>
          </a:p>
        </p:txBody>
      </p:sp>
      <p:sp>
        <p:nvSpPr>
          <p:cNvPr id="16" name="Shape 14"/>
          <p:cNvSpPr/>
          <p:nvPr/>
        </p:nvSpPr>
        <p:spPr>
          <a:xfrm>
            <a:off x="274320" y="1965960"/>
            <a:ext cx="457200" cy="822960"/>
          </a:xfrm>
          <a:prstGeom prst="rect">
            <a:avLst/>
          </a:prstGeom>
          <a:solidFill>
            <a:srgbClr val="8A5000"/>
          </a:solidFill>
          <a:ln w="12700">
            <a:solidFill>
              <a:srgbClr val="8A5000"/>
            </a:solidFill>
            <a:prstDash val="solid"/>
          </a:ln>
        </p:spPr>
      </p:sp>
      <p:sp>
        <p:nvSpPr>
          <p:cNvPr id="17" name="Text 15"/>
          <p:cNvSpPr/>
          <p:nvPr/>
        </p:nvSpPr>
        <p:spPr>
          <a:xfrm>
            <a:off x="274320" y="1965960"/>
            <a:ext cx="457200" cy="82296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8" name="Shape 16"/>
          <p:cNvSpPr/>
          <p:nvPr/>
        </p:nvSpPr>
        <p:spPr>
          <a:xfrm>
            <a:off x="777240" y="1965960"/>
            <a:ext cx="3840480" cy="822960"/>
          </a:xfrm>
          <a:prstGeom prst="rect">
            <a:avLst/>
          </a:prstGeom>
          <a:solidFill>
            <a:srgbClr val="FDF0F0"/>
          </a:solidFill>
          <a:ln w="5080">
            <a:solidFill>
              <a:srgbClr val="D0A0A0"/>
            </a:solidFill>
            <a:prstDash val="solid"/>
          </a:ln>
        </p:spPr>
      </p:sp>
      <p:sp>
        <p:nvSpPr>
          <p:cNvPr id="19" name="Text 17"/>
          <p:cNvSpPr/>
          <p:nvPr/>
        </p:nvSpPr>
        <p:spPr>
          <a:xfrm>
            <a:off x="868680" y="2002536"/>
            <a:ext cx="3657600" cy="256032"/>
          </a:xfrm>
          <a:prstGeom prst="rect">
            <a:avLst/>
          </a:prstGeom>
          <a:noFill/>
          <a:ln/>
        </p:spPr>
        <p:txBody>
          <a:bodyPr wrap="square" rtlCol="0" anchor="ctr"/>
          <a:lstStyle/>
          <a:p>
            <a:pPr indent="0" marL="0">
              <a:buNone/>
            </a:pPr>
            <a:r>
              <a:rPr lang="en-US" sz="1100" b="1" dirty="0">
                <a:solidFill>
                  <a:srgbClr val="5A0000"/>
                </a:solidFill>
                <a:latin typeface="Arial" pitchFamily="34" charset="0"/>
                <a:ea typeface="Arial" pitchFamily="34" charset="-122"/>
                <a:cs typeface="Arial" pitchFamily="34" charset="-120"/>
              </a:rPr>
              <a:t>Inflow rate</a:t>
            </a:r>
            <a:endParaRPr lang="en-US" sz="1100" dirty="0"/>
          </a:p>
        </p:txBody>
      </p:sp>
      <p:sp>
        <p:nvSpPr>
          <p:cNvPr id="20" name="Text 18"/>
          <p:cNvSpPr/>
          <p:nvPr/>
        </p:nvSpPr>
        <p:spPr>
          <a:xfrm>
            <a:off x="868680" y="2276856"/>
            <a:ext cx="3657600" cy="201168"/>
          </a:xfrm>
          <a:prstGeom prst="rect">
            <a:avLst/>
          </a:prstGeom>
          <a:noFill/>
          <a:ln/>
        </p:spPr>
        <p:txBody>
          <a:bodyPr wrap="square" rtlCol="0" anchor="ctr"/>
          <a:lstStyle/>
          <a:p>
            <a:pPr indent="0" marL="0">
              <a:buNone/>
            </a:pPr>
            <a:r>
              <a:rPr lang="en-US" sz="950" dirty="0">
                <a:solidFill>
                  <a:srgbClr val="C0392B"/>
                </a:solidFill>
                <a:latin typeface="Arial" pitchFamily="34" charset="0"/>
                <a:ea typeface="Arial" pitchFamily="34" charset="-122"/>
                <a:cs typeface="Arial" pitchFamily="34" charset="-120"/>
              </a:rPr>
              <a:t>BROKEN: 0.05 CMS × 18k = 900 CMS constant</a:t>
            </a:r>
            <a:endParaRPr lang="en-US" sz="950" dirty="0"/>
          </a:p>
        </p:txBody>
      </p:sp>
      <p:sp>
        <p:nvSpPr>
          <p:cNvPr id="21" name="Shape 19"/>
          <p:cNvSpPr/>
          <p:nvPr/>
        </p:nvSpPr>
        <p:spPr>
          <a:xfrm>
            <a:off x="4709160" y="1965960"/>
            <a:ext cx="228600" cy="822960"/>
          </a:xfrm>
          <a:prstGeom prst="rect">
            <a:avLst/>
          </a:prstGeom>
          <a:solidFill>
            <a:srgbClr val="D4A820"/>
          </a:solidFill>
          <a:ln w="12700">
            <a:solidFill>
              <a:srgbClr val="D4A820"/>
            </a:solidFill>
            <a:prstDash val="solid"/>
          </a:ln>
        </p:spPr>
      </p:sp>
      <p:sp>
        <p:nvSpPr>
          <p:cNvPr id="22" name="Text 20"/>
          <p:cNvSpPr/>
          <p:nvPr/>
        </p:nvSpPr>
        <p:spPr>
          <a:xfrm>
            <a:off x="4709160" y="1965960"/>
            <a:ext cx="228600" cy="8229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23" name="Shape 21"/>
          <p:cNvSpPr/>
          <p:nvPr/>
        </p:nvSpPr>
        <p:spPr>
          <a:xfrm>
            <a:off x="4983480" y="1965960"/>
            <a:ext cx="3840480" cy="822960"/>
          </a:xfrm>
          <a:prstGeom prst="rect">
            <a:avLst/>
          </a:prstGeom>
          <a:solidFill>
            <a:srgbClr val="F0FAF0"/>
          </a:solidFill>
          <a:ln w="5080">
            <a:solidFill>
              <a:srgbClr val="90C090"/>
            </a:solidFill>
            <a:prstDash val="solid"/>
          </a:ln>
        </p:spPr>
      </p:sp>
      <p:sp>
        <p:nvSpPr>
          <p:cNvPr id="24" name="Text 22"/>
          <p:cNvSpPr/>
          <p:nvPr/>
        </p:nvSpPr>
        <p:spPr>
          <a:xfrm>
            <a:off x="5074920" y="2002536"/>
            <a:ext cx="3657600" cy="256032"/>
          </a:xfrm>
          <a:prstGeom prst="rect">
            <a:avLst/>
          </a:prstGeom>
          <a:noFill/>
          <a:ln/>
        </p:spPr>
        <p:txBody>
          <a:bodyPr wrap="square" rtlCol="0" anchor="ctr"/>
          <a:lstStyle/>
          <a:p>
            <a:pPr indent="0" marL="0">
              <a:buNone/>
            </a:pPr>
            <a:r>
              <a:rPr lang="en-US" sz="1100" b="1" dirty="0">
                <a:solidFill>
                  <a:srgbClr val="005A00"/>
                </a:solidFill>
                <a:latin typeface="Arial" pitchFamily="34" charset="0"/>
                <a:ea typeface="Arial" pitchFamily="34" charset="-122"/>
                <a:cs typeface="Arial" pitchFamily="34" charset="-120"/>
              </a:rPr>
              <a:t>Inflow rate</a:t>
            </a:r>
            <a:endParaRPr lang="en-US" sz="1100" dirty="0"/>
          </a:p>
        </p:txBody>
      </p:sp>
      <p:sp>
        <p:nvSpPr>
          <p:cNvPr id="25" name="Text 23"/>
          <p:cNvSpPr/>
          <p:nvPr/>
        </p:nvSpPr>
        <p:spPr>
          <a:xfrm>
            <a:off x="5074920" y="2276856"/>
            <a:ext cx="3657600" cy="201168"/>
          </a:xfrm>
          <a:prstGeom prst="rect">
            <a:avLst/>
          </a:prstGeom>
          <a:noFill/>
          <a:ln/>
        </p:spPr>
        <p:txBody>
          <a:bodyPr wrap="square" rtlCol="0" anchor="ctr"/>
          <a:lstStyle/>
          <a:p>
            <a:pPr indent="0" marL="0">
              <a:buNone/>
            </a:pPr>
            <a:r>
              <a:rPr lang="en-US" sz="950" dirty="0">
                <a:solidFill>
                  <a:srgbClr val="1A6B5A"/>
                </a:solidFill>
                <a:latin typeface="Arial" pitchFamily="34" charset="0"/>
                <a:ea typeface="Arial" pitchFamily="34" charset="-122"/>
                <a:cs typeface="Arial" pitchFamily="34" charset="-120"/>
              </a:rPr>
              <a:t>FIXED: 0.005 CMS peak / node storm TS</a:t>
            </a:r>
            <a:endParaRPr lang="en-US" sz="950" dirty="0"/>
          </a:p>
        </p:txBody>
      </p:sp>
      <p:sp>
        <p:nvSpPr>
          <p:cNvPr id="26" name="Shape 24"/>
          <p:cNvSpPr/>
          <p:nvPr/>
        </p:nvSpPr>
        <p:spPr>
          <a:xfrm>
            <a:off x="274320" y="2971800"/>
            <a:ext cx="457200" cy="822960"/>
          </a:xfrm>
          <a:prstGeom prst="rect">
            <a:avLst/>
          </a:prstGeom>
          <a:solidFill>
            <a:srgbClr val="1A4A8A"/>
          </a:solidFill>
          <a:ln w="12700">
            <a:solidFill>
              <a:srgbClr val="1A4A8A"/>
            </a:solidFill>
            <a:prstDash val="solid"/>
          </a:ln>
        </p:spPr>
      </p:sp>
      <p:sp>
        <p:nvSpPr>
          <p:cNvPr id="27" name="Text 25"/>
          <p:cNvSpPr/>
          <p:nvPr/>
        </p:nvSpPr>
        <p:spPr>
          <a:xfrm>
            <a:off x="274320" y="2971800"/>
            <a:ext cx="457200" cy="82296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28" name="Shape 26"/>
          <p:cNvSpPr/>
          <p:nvPr/>
        </p:nvSpPr>
        <p:spPr>
          <a:xfrm>
            <a:off x="777240" y="2971800"/>
            <a:ext cx="3840480" cy="822960"/>
          </a:xfrm>
          <a:prstGeom prst="rect">
            <a:avLst/>
          </a:prstGeom>
          <a:solidFill>
            <a:srgbClr val="FDF0F0"/>
          </a:solidFill>
          <a:ln w="5080">
            <a:solidFill>
              <a:srgbClr val="D0A0A0"/>
            </a:solidFill>
            <a:prstDash val="solid"/>
          </a:ln>
        </p:spPr>
      </p:sp>
      <p:sp>
        <p:nvSpPr>
          <p:cNvPr id="29" name="Text 27"/>
          <p:cNvSpPr/>
          <p:nvPr/>
        </p:nvSpPr>
        <p:spPr>
          <a:xfrm>
            <a:off x="868680" y="3008376"/>
            <a:ext cx="3657600" cy="256032"/>
          </a:xfrm>
          <a:prstGeom prst="rect">
            <a:avLst/>
          </a:prstGeom>
          <a:noFill/>
          <a:ln/>
        </p:spPr>
        <p:txBody>
          <a:bodyPr wrap="square" rtlCol="0" anchor="ctr"/>
          <a:lstStyle/>
          <a:p>
            <a:pPr indent="0" marL="0">
              <a:buNone/>
            </a:pPr>
            <a:r>
              <a:rPr lang="en-US" sz="1100" b="1" dirty="0">
                <a:solidFill>
                  <a:srgbClr val="5A0000"/>
                </a:solidFill>
                <a:latin typeface="Arial" pitchFamily="34" charset="0"/>
                <a:ea typeface="Arial" pitchFamily="34" charset="-122"/>
                <a:cs typeface="Arial" pitchFamily="34" charset="-120"/>
              </a:rPr>
              <a:t>Elevations</a:t>
            </a:r>
            <a:endParaRPr lang="en-US" sz="1100" dirty="0"/>
          </a:p>
        </p:txBody>
      </p:sp>
      <p:sp>
        <p:nvSpPr>
          <p:cNvPr id="30" name="Text 28"/>
          <p:cNvSpPr/>
          <p:nvPr/>
        </p:nvSpPr>
        <p:spPr>
          <a:xfrm>
            <a:off x="868680" y="3282696"/>
            <a:ext cx="3657600" cy="201168"/>
          </a:xfrm>
          <a:prstGeom prst="rect">
            <a:avLst/>
          </a:prstGeom>
          <a:noFill/>
          <a:ln/>
        </p:spPr>
        <p:txBody>
          <a:bodyPr wrap="square" rtlCol="0" anchor="ctr"/>
          <a:lstStyle/>
          <a:p>
            <a:pPr indent="0" marL="0">
              <a:buNone/>
            </a:pPr>
            <a:r>
              <a:rPr lang="en-US" sz="950" dirty="0">
                <a:solidFill>
                  <a:srgbClr val="C0392B"/>
                </a:solidFill>
                <a:latin typeface="Arial" pitchFamily="34" charset="0"/>
                <a:ea typeface="Arial" pitchFamily="34" charset="-122"/>
                <a:cs typeface="Arial" pitchFamily="34" charset="-120"/>
              </a:rPr>
              <a:t>BROKEN: np.random.uniform(30,40) → 50% uphill</a:t>
            </a:r>
            <a:endParaRPr lang="en-US" sz="950" dirty="0"/>
          </a:p>
        </p:txBody>
      </p:sp>
      <p:sp>
        <p:nvSpPr>
          <p:cNvPr id="31" name="Shape 29"/>
          <p:cNvSpPr/>
          <p:nvPr/>
        </p:nvSpPr>
        <p:spPr>
          <a:xfrm>
            <a:off x="4709160" y="2971800"/>
            <a:ext cx="228600" cy="822960"/>
          </a:xfrm>
          <a:prstGeom prst="rect">
            <a:avLst/>
          </a:prstGeom>
          <a:solidFill>
            <a:srgbClr val="D4A820"/>
          </a:solidFill>
          <a:ln w="12700">
            <a:solidFill>
              <a:srgbClr val="D4A820"/>
            </a:solidFill>
            <a:prstDash val="solid"/>
          </a:ln>
        </p:spPr>
      </p:sp>
      <p:sp>
        <p:nvSpPr>
          <p:cNvPr id="32" name="Text 30"/>
          <p:cNvSpPr/>
          <p:nvPr/>
        </p:nvSpPr>
        <p:spPr>
          <a:xfrm>
            <a:off x="4709160" y="2971800"/>
            <a:ext cx="228600" cy="8229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33" name="Shape 31"/>
          <p:cNvSpPr/>
          <p:nvPr/>
        </p:nvSpPr>
        <p:spPr>
          <a:xfrm>
            <a:off x="4983480" y="2971800"/>
            <a:ext cx="3840480" cy="822960"/>
          </a:xfrm>
          <a:prstGeom prst="rect">
            <a:avLst/>
          </a:prstGeom>
          <a:solidFill>
            <a:srgbClr val="F0FAF0"/>
          </a:solidFill>
          <a:ln w="5080">
            <a:solidFill>
              <a:srgbClr val="90C090"/>
            </a:solidFill>
            <a:prstDash val="solid"/>
          </a:ln>
        </p:spPr>
      </p:sp>
      <p:sp>
        <p:nvSpPr>
          <p:cNvPr id="34" name="Text 32"/>
          <p:cNvSpPr/>
          <p:nvPr/>
        </p:nvSpPr>
        <p:spPr>
          <a:xfrm>
            <a:off x="5074920" y="3008376"/>
            <a:ext cx="3657600" cy="256032"/>
          </a:xfrm>
          <a:prstGeom prst="rect">
            <a:avLst/>
          </a:prstGeom>
          <a:noFill/>
          <a:ln/>
        </p:spPr>
        <p:txBody>
          <a:bodyPr wrap="square" rtlCol="0" anchor="ctr"/>
          <a:lstStyle/>
          <a:p>
            <a:pPr indent="0" marL="0">
              <a:buNone/>
            </a:pPr>
            <a:r>
              <a:rPr lang="en-US" sz="1100" b="1" dirty="0">
                <a:solidFill>
                  <a:srgbClr val="005A00"/>
                </a:solidFill>
                <a:latin typeface="Arial" pitchFamily="34" charset="0"/>
                <a:ea typeface="Arial" pitchFamily="34" charset="-122"/>
                <a:cs typeface="Arial" pitchFamily="34" charset="-120"/>
              </a:rPr>
              <a:t>Elevations</a:t>
            </a:r>
            <a:endParaRPr lang="en-US" sz="1100" dirty="0"/>
          </a:p>
        </p:txBody>
      </p:sp>
      <p:sp>
        <p:nvSpPr>
          <p:cNvPr id="35" name="Text 33"/>
          <p:cNvSpPr/>
          <p:nvPr/>
        </p:nvSpPr>
        <p:spPr>
          <a:xfrm>
            <a:off x="5074920" y="3282696"/>
            <a:ext cx="3657600" cy="201168"/>
          </a:xfrm>
          <a:prstGeom prst="rect">
            <a:avLst/>
          </a:prstGeom>
          <a:noFill/>
          <a:ln/>
        </p:spPr>
        <p:txBody>
          <a:bodyPr wrap="square" rtlCol="0" anchor="ctr"/>
          <a:lstStyle/>
          <a:p>
            <a:pPr indent="0" marL="0">
              <a:buNone/>
            </a:pPr>
            <a:r>
              <a:rPr lang="en-US" sz="950" dirty="0">
                <a:solidFill>
                  <a:srgbClr val="1A6B5A"/>
                </a:solidFill>
                <a:latin typeface="Arial" pitchFamily="34" charset="0"/>
                <a:ea typeface="Arial" pitchFamily="34" charset="-122"/>
                <a:cs typeface="Arial" pitchFamily="34" charset="-120"/>
              </a:rPr>
              <a:t>FIXED: Synthetic DEM slope toward Vishwamitri</a:t>
            </a:r>
            <a:endParaRPr lang="en-US" sz="950" dirty="0"/>
          </a:p>
        </p:txBody>
      </p:sp>
      <p:sp>
        <p:nvSpPr>
          <p:cNvPr id="36" name="Shape 34"/>
          <p:cNvSpPr/>
          <p:nvPr/>
        </p:nvSpPr>
        <p:spPr>
          <a:xfrm>
            <a:off x="274320" y="3977640"/>
            <a:ext cx="457200" cy="822960"/>
          </a:xfrm>
          <a:prstGeom prst="rect">
            <a:avLst/>
          </a:prstGeom>
          <a:solidFill>
            <a:srgbClr val="1A6B5A"/>
          </a:solidFill>
          <a:ln w="12700">
            <a:solidFill>
              <a:srgbClr val="1A6B5A"/>
            </a:solidFill>
            <a:prstDash val="solid"/>
          </a:ln>
        </p:spPr>
      </p:sp>
      <p:sp>
        <p:nvSpPr>
          <p:cNvPr id="37" name="Text 35"/>
          <p:cNvSpPr/>
          <p:nvPr/>
        </p:nvSpPr>
        <p:spPr>
          <a:xfrm>
            <a:off x="274320" y="3977640"/>
            <a:ext cx="457200" cy="82296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38" name="Shape 36"/>
          <p:cNvSpPr/>
          <p:nvPr/>
        </p:nvSpPr>
        <p:spPr>
          <a:xfrm>
            <a:off x="777240" y="3977640"/>
            <a:ext cx="3840480" cy="822960"/>
          </a:xfrm>
          <a:prstGeom prst="rect">
            <a:avLst/>
          </a:prstGeom>
          <a:solidFill>
            <a:srgbClr val="FDF0F0"/>
          </a:solidFill>
          <a:ln w="5080">
            <a:solidFill>
              <a:srgbClr val="D0A0A0"/>
            </a:solidFill>
            <a:prstDash val="solid"/>
          </a:ln>
        </p:spPr>
      </p:sp>
      <p:sp>
        <p:nvSpPr>
          <p:cNvPr id="39" name="Text 37"/>
          <p:cNvSpPr/>
          <p:nvPr/>
        </p:nvSpPr>
        <p:spPr>
          <a:xfrm>
            <a:off x="868680" y="4014216"/>
            <a:ext cx="3657600" cy="256032"/>
          </a:xfrm>
          <a:prstGeom prst="rect">
            <a:avLst/>
          </a:prstGeom>
          <a:noFill/>
          <a:ln/>
        </p:spPr>
        <p:txBody>
          <a:bodyPr wrap="square" rtlCol="0" anchor="ctr"/>
          <a:lstStyle/>
          <a:p>
            <a:pPr indent="0" marL="0">
              <a:buNone/>
            </a:pPr>
            <a:r>
              <a:rPr lang="en-US" sz="1100" b="1" dirty="0">
                <a:solidFill>
                  <a:srgbClr val="5A0000"/>
                </a:solidFill>
                <a:latin typeface="Arial" pitchFamily="34" charset="0"/>
                <a:ea typeface="Arial" pitchFamily="34" charset="-122"/>
                <a:cs typeface="Arial" pitchFamily="34" charset="-120"/>
              </a:rPr>
              <a:t>MaxDepth &amp; outfalls</a:t>
            </a:r>
            <a:endParaRPr lang="en-US" sz="1100" dirty="0"/>
          </a:p>
        </p:txBody>
      </p:sp>
      <p:sp>
        <p:nvSpPr>
          <p:cNvPr id="40" name="Text 38"/>
          <p:cNvSpPr/>
          <p:nvPr/>
        </p:nvSpPr>
        <p:spPr>
          <a:xfrm>
            <a:off x="868680" y="4288536"/>
            <a:ext cx="3657600" cy="201168"/>
          </a:xfrm>
          <a:prstGeom prst="rect">
            <a:avLst/>
          </a:prstGeom>
          <a:noFill/>
          <a:ln/>
        </p:spPr>
        <p:txBody>
          <a:bodyPr wrap="square" rtlCol="0" anchor="ctr"/>
          <a:lstStyle/>
          <a:p>
            <a:pPr indent="0" marL="0">
              <a:buNone/>
            </a:pPr>
            <a:r>
              <a:rPr lang="en-US" sz="950" dirty="0">
                <a:solidFill>
                  <a:srgbClr val="C0392B"/>
                </a:solidFill>
                <a:latin typeface="Arial" pitchFamily="34" charset="0"/>
                <a:ea typeface="Arial" pitchFamily="34" charset="-122"/>
                <a:cs typeface="Arial" pitchFamily="34" charset="-120"/>
              </a:rPr>
              <a:t>BROKEN: MaxDepth=0, 1 dummy outfall</a:t>
            </a:r>
            <a:endParaRPr lang="en-US" sz="950" dirty="0"/>
          </a:p>
        </p:txBody>
      </p:sp>
      <p:sp>
        <p:nvSpPr>
          <p:cNvPr id="41" name="Shape 39"/>
          <p:cNvSpPr/>
          <p:nvPr/>
        </p:nvSpPr>
        <p:spPr>
          <a:xfrm>
            <a:off x="4709160" y="3977640"/>
            <a:ext cx="228600" cy="822960"/>
          </a:xfrm>
          <a:prstGeom prst="rect">
            <a:avLst/>
          </a:prstGeom>
          <a:solidFill>
            <a:srgbClr val="D4A820"/>
          </a:solidFill>
          <a:ln w="12700">
            <a:solidFill>
              <a:srgbClr val="D4A820"/>
            </a:solidFill>
            <a:prstDash val="solid"/>
          </a:ln>
        </p:spPr>
      </p:sp>
      <p:sp>
        <p:nvSpPr>
          <p:cNvPr id="42" name="Text 40"/>
          <p:cNvSpPr/>
          <p:nvPr/>
        </p:nvSpPr>
        <p:spPr>
          <a:xfrm>
            <a:off x="4709160" y="3977640"/>
            <a:ext cx="228600" cy="8229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t>
            </a:r>
            <a:endParaRPr lang="en-US" sz="1400" dirty="0"/>
          </a:p>
        </p:txBody>
      </p:sp>
      <p:sp>
        <p:nvSpPr>
          <p:cNvPr id="43" name="Shape 41"/>
          <p:cNvSpPr/>
          <p:nvPr/>
        </p:nvSpPr>
        <p:spPr>
          <a:xfrm>
            <a:off x="4983480" y="3977640"/>
            <a:ext cx="3840480" cy="822960"/>
          </a:xfrm>
          <a:prstGeom prst="rect">
            <a:avLst/>
          </a:prstGeom>
          <a:solidFill>
            <a:srgbClr val="F0FAF0"/>
          </a:solidFill>
          <a:ln w="5080">
            <a:solidFill>
              <a:srgbClr val="90C090"/>
            </a:solidFill>
            <a:prstDash val="solid"/>
          </a:ln>
        </p:spPr>
      </p:sp>
      <p:sp>
        <p:nvSpPr>
          <p:cNvPr id="44" name="Text 42"/>
          <p:cNvSpPr/>
          <p:nvPr/>
        </p:nvSpPr>
        <p:spPr>
          <a:xfrm>
            <a:off x="5074920" y="4014216"/>
            <a:ext cx="3657600" cy="256032"/>
          </a:xfrm>
          <a:prstGeom prst="rect">
            <a:avLst/>
          </a:prstGeom>
          <a:noFill/>
          <a:ln/>
        </p:spPr>
        <p:txBody>
          <a:bodyPr wrap="square" rtlCol="0" anchor="ctr"/>
          <a:lstStyle/>
          <a:p>
            <a:pPr indent="0" marL="0">
              <a:buNone/>
            </a:pPr>
            <a:r>
              <a:rPr lang="en-US" sz="1100" b="1" dirty="0">
                <a:solidFill>
                  <a:srgbClr val="005A00"/>
                </a:solidFill>
                <a:latin typeface="Arial" pitchFamily="34" charset="0"/>
                <a:ea typeface="Arial" pitchFamily="34" charset="-122"/>
                <a:cs typeface="Arial" pitchFamily="34" charset="-120"/>
              </a:rPr>
              <a:t>MaxDepth &amp; outfalls</a:t>
            </a:r>
            <a:endParaRPr lang="en-US" sz="1100" dirty="0"/>
          </a:p>
        </p:txBody>
      </p:sp>
      <p:sp>
        <p:nvSpPr>
          <p:cNvPr id="45" name="Text 43"/>
          <p:cNvSpPr/>
          <p:nvPr/>
        </p:nvSpPr>
        <p:spPr>
          <a:xfrm>
            <a:off x="5074920" y="4288536"/>
            <a:ext cx="3657600" cy="201168"/>
          </a:xfrm>
          <a:prstGeom prst="rect">
            <a:avLst/>
          </a:prstGeom>
          <a:noFill/>
          <a:ln/>
        </p:spPr>
        <p:txBody>
          <a:bodyPr wrap="square" rtlCol="0" anchor="ctr"/>
          <a:lstStyle/>
          <a:p>
            <a:pPr indent="0" marL="0">
              <a:buNone/>
            </a:pPr>
            <a:r>
              <a:rPr lang="en-US" sz="950" dirty="0">
                <a:solidFill>
                  <a:srgbClr val="1A6B5A"/>
                </a:solidFill>
                <a:latin typeface="Arial" pitchFamily="34" charset="0"/>
                <a:ea typeface="Arial" pitchFamily="34" charset="-122"/>
                <a:cs typeface="Arial" pitchFamily="34" charset="-120"/>
              </a:rPr>
              <a:t>FIXED: MaxDepth=2.0m, 5 boundary outfalls</a:t>
            </a:r>
            <a:endParaRPr lang="en-US" sz="950" dirty="0"/>
          </a:p>
        </p:txBody>
      </p:sp>
      <p:sp>
        <p:nvSpPr>
          <p:cNvPr id="46" name="Text 44"/>
          <p:cNvSpPr/>
          <p:nvPr/>
        </p:nvSpPr>
        <p:spPr>
          <a:xfrm>
            <a:off x="3200400" y="4773168"/>
            <a:ext cx="3200400" cy="256032"/>
          </a:xfrm>
          <a:prstGeom prst="rect">
            <a:avLst/>
          </a:prstGeom>
          <a:noFill/>
          <a:ln/>
        </p:spPr>
        <p:txBody>
          <a:bodyPr wrap="square" rtlCol="0" anchor="ctr"/>
          <a:lstStyle/>
          <a:p>
            <a:pPr algn="ctr" indent="0" marL="0">
              <a:buNone/>
            </a:pPr>
            <a:r>
              <a:rPr lang="en-US" sz="1100" b="1" dirty="0">
                <a:solidFill>
                  <a:srgbClr val="0B1F3A"/>
                </a:solidFill>
                <a:latin typeface="Arial" pitchFamily="34" charset="0"/>
                <a:ea typeface="Arial" pitchFamily="34" charset="-122"/>
                <a:cs typeface="Arial" pitchFamily="34" charset="-120"/>
              </a:rPr>
              <a:t>Result: 17+ minutes → &lt;30 seconds</a:t>
            </a:r>
            <a:endParaRPr lang="en-US" sz="1100" dirty="0"/>
          </a:p>
        </p:txBody>
      </p:sp>
      <p:sp>
        <p:nvSpPr>
          <p:cNvPr id="47" name="Text 45"/>
          <p:cNvSpPr/>
          <p:nvPr/>
        </p:nvSpPr>
        <p:spPr>
          <a:xfrm>
            <a:off x="8412480" y="4869180"/>
            <a:ext cx="640080" cy="201168"/>
          </a:xfrm>
          <a:prstGeom prst="rect">
            <a:avLst/>
          </a:prstGeom>
          <a:noFill/>
          <a:ln/>
        </p:spPr>
        <p:txBody>
          <a:bodyPr wrap="square" rtlCol="0" anchor="ctr"/>
          <a:lstStyle/>
          <a:p>
            <a:pPr algn="r" indent="0" marL="0">
              <a:buNone/>
            </a:pPr>
            <a:r>
              <a:rPr lang="en-US" sz="900" dirty="0">
                <a:solidFill>
                  <a:srgbClr val="5A6272"/>
                </a:solidFill>
                <a:latin typeface="Arial" pitchFamily="34" charset="0"/>
                <a:ea typeface="Arial" pitchFamily="34" charset="-122"/>
                <a:cs typeface="Arial" pitchFamily="34" charset="-120"/>
              </a:rPr>
              <a:t>6 / 16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B1F3A"/>
          </a:solidFill>
          <a:ln w="12700">
            <a:solidFill>
              <a:srgbClr val="0B1F3A"/>
            </a:solidFill>
            <a:prstDash val="solid"/>
          </a:ln>
        </p:spPr>
      </p:sp>
      <p:sp>
        <p:nvSpPr>
          <p:cNvPr id="3" name="Text 1"/>
          <p:cNvSpPr/>
          <p:nvPr/>
        </p:nvSpPr>
        <p:spPr>
          <a:xfrm>
            <a:off x="228600" y="73152"/>
            <a:ext cx="8686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city2graph integration</a:t>
            </a:r>
            <a:endParaRPr lang="en-US" sz="2200" dirty="0"/>
          </a:p>
        </p:txBody>
      </p:sp>
      <p:sp>
        <p:nvSpPr>
          <p:cNvPr id="4" name="Text 2"/>
          <p:cNvSpPr/>
          <p:nvPr/>
        </p:nvSpPr>
        <p:spPr>
          <a:xfrm>
            <a:off x="228600" y="512064"/>
            <a:ext cx="8686800" cy="256032"/>
          </a:xfrm>
          <a:prstGeom prst="rect">
            <a:avLst/>
          </a:prstGeom>
          <a:noFill/>
          <a:ln/>
        </p:spPr>
        <p:txBody>
          <a:bodyPr wrap="square" rtlCol="0" anchor="ctr"/>
          <a:lstStyle/>
          <a:p>
            <a:pPr indent="0" marL="0">
              <a:buNone/>
            </a:pPr>
            <a:r>
              <a:rPr lang="en-US" sz="1100" dirty="0">
                <a:solidFill>
                  <a:srgbClr val="A0C0E0"/>
                </a:solidFill>
                <a:latin typeface="Arial" pitchFamily="34" charset="0"/>
                <a:ea typeface="Arial" pitchFamily="34" charset="-122"/>
                <a:cs typeface="Arial" pitchFamily="34" charset="-120"/>
              </a:rPr>
              <a:t>Replacing libpysal with the Sato (2025) geospatial graph library</a:t>
            </a:r>
            <a:endParaRPr lang="en-US" sz="1100" dirty="0"/>
          </a:p>
        </p:txBody>
      </p:sp>
      <p:sp>
        <p:nvSpPr>
          <p:cNvPr id="5" name="Shape 3"/>
          <p:cNvSpPr/>
          <p:nvPr/>
        </p:nvSpPr>
        <p:spPr>
          <a:xfrm>
            <a:off x="0" y="777240"/>
            <a:ext cx="9144000" cy="0"/>
          </a:xfrm>
          <a:prstGeom prst="line">
            <a:avLst/>
          </a:prstGeom>
          <a:noFill/>
          <a:ln w="38100">
            <a:solidFill>
              <a:srgbClr val="D4A820"/>
            </a:solidFill>
            <a:prstDash val="solid"/>
          </a:ln>
        </p:spPr>
      </p:sp>
      <p:sp>
        <p:nvSpPr>
          <p:cNvPr id="6" name="Text 4"/>
          <p:cNvSpPr/>
          <p:nvPr/>
        </p:nvSpPr>
        <p:spPr>
          <a:xfrm>
            <a:off x="274320" y="932688"/>
            <a:ext cx="8595360" cy="274320"/>
          </a:xfrm>
          <a:prstGeom prst="rect">
            <a:avLst/>
          </a:prstGeom>
          <a:noFill/>
          <a:ln/>
        </p:spPr>
        <p:txBody>
          <a:bodyPr wrap="square" rtlCol="0" anchor="ctr"/>
          <a:lstStyle/>
          <a:p>
            <a:pPr indent="0" marL="0">
              <a:buNone/>
            </a:pPr>
            <a:r>
              <a:rPr lang="en-US" sz="1000" i="1" dirty="0">
                <a:solidFill>
                  <a:srgbClr val="1A4A8A"/>
                </a:solidFill>
                <a:latin typeface="Arial" pitchFamily="34" charset="0"/>
                <a:ea typeface="Arial" pitchFamily="34" charset="-122"/>
                <a:cs typeface="Arial" pitchFamily="34" charset="-120"/>
              </a:rPr>
              <a:t>Key principle: edges have MultiIndex (src_idx, tgt_idx) — directly usable as BYM2 node1/node2 arrays</a:t>
            </a:r>
            <a:endParaRPr lang="en-US" sz="1000" dirty="0"/>
          </a:p>
        </p:txBody>
      </p:sp>
      <p:sp>
        <p:nvSpPr>
          <p:cNvPr id="7" name="Shape 5"/>
          <p:cNvSpPr/>
          <p:nvPr/>
        </p:nvSpPr>
        <p:spPr>
          <a:xfrm>
            <a:off x="274320" y="1298448"/>
            <a:ext cx="2788920" cy="329184"/>
          </a:xfrm>
          <a:prstGeom prst="rect">
            <a:avLst/>
          </a:prstGeom>
          <a:solidFill>
            <a:srgbClr val="0B1F3A"/>
          </a:solidFill>
          <a:ln w="3810">
            <a:solidFill>
              <a:srgbClr val="1A4A8A"/>
            </a:solidFill>
            <a:prstDash val="solid"/>
          </a:ln>
        </p:spPr>
      </p:sp>
      <p:sp>
        <p:nvSpPr>
          <p:cNvPr id="8" name="Text 6"/>
          <p:cNvSpPr/>
          <p:nvPr/>
        </p:nvSpPr>
        <p:spPr>
          <a:xfrm>
            <a:off x="347472" y="1335024"/>
            <a:ext cx="2560320" cy="256032"/>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Function</a:t>
            </a:r>
            <a:endParaRPr lang="en-US" sz="1000" dirty="0"/>
          </a:p>
        </p:txBody>
      </p:sp>
      <p:sp>
        <p:nvSpPr>
          <p:cNvPr id="9" name="Shape 7"/>
          <p:cNvSpPr/>
          <p:nvPr/>
        </p:nvSpPr>
        <p:spPr>
          <a:xfrm>
            <a:off x="3154680" y="1298448"/>
            <a:ext cx="2560320" cy="329184"/>
          </a:xfrm>
          <a:prstGeom prst="rect">
            <a:avLst/>
          </a:prstGeom>
          <a:solidFill>
            <a:srgbClr val="0B1F3A"/>
          </a:solidFill>
          <a:ln w="3810">
            <a:solidFill>
              <a:srgbClr val="1A4A8A"/>
            </a:solidFill>
            <a:prstDash val="solid"/>
          </a:ln>
        </p:spPr>
      </p:sp>
      <p:sp>
        <p:nvSpPr>
          <p:cNvPr id="10" name="Text 8"/>
          <p:cNvSpPr/>
          <p:nvPr/>
        </p:nvSpPr>
        <p:spPr>
          <a:xfrm>
            <a:off x="3227832" y="1335024"/>
            <a:ext cx="2560320" cy="256032"/>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Use case</a:t>
            </a:r>
            <a:endParaRPr lang="en-US" sz="1000" dirty="0"/>
          </a:p>
        </p:txBody>
      </p:sp>
      <p:sp>
        <p:nvSpPr>
          <p:cNvPr id="11" name="Shape 9"/>
          <p:cNvSpPr/>
          <p:nvPr/>
        </p:nvSpPr>
        <p:spPr>
          <a:xfrm>
            <a:off x="5806440" y="1298448"/>
            <a:ext cx="3063240" cy="329184"/>
          </a:xfrm>
          <a:prstGeom prst="rect">
            <a:avLst/>
          </a:prstGeom>
          <a:solidFill>
            <a:srgbClr val="0B1F3A"/>
          </a:solidFill>
          <a:ln w="3810">
            <a:solidFill>
              <a:srgbClr val="1A4A8A"/>
            </a:solidFill>
            <a:prstDash val="solid"/>
          </a:ln>
        </p:spPr>
      </p:sp>
      <p:sp>
        <p:nvSpPr>
          <p:cNvPr id="12" name="Text 10"/>
          <p:cNvSpPr/>
          <p:nvPr/>
        </p:nvSpPr>
        <p:spPr>
          <a:xfrm>
            <a:off x="5879592" y="1335024"/>
            <a:ext cx="2560320" cy="256032"/>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Note</a:t>
            </a:r>
            <a:endParaRPr lang="en-US" sz="1000" dirty="0"/>
          </a:p>
        </p:txBody>
      </p:sp>
      <p:sp>
        <p:nvSpPr>
          <p:cNvPr id="13" name="Shape 11"/>
          <p:cNvSpPr/>
          <p:nvPr/>
        </p:nvSpPr>
        <p:spPr>
          <a:xfrm>
            <a:off x="274320" y="1664208"/>
            <a:ext cx="2788920" cy="402336"/>
          </a:xfrm>
          <a:prstGeom prst="rect">
            <a:avLst/>
          </a:prstGeom>
          <a:solidFill>
            <a:srgbClr val="FFFFFF"/>
          </a:solidFill>
          <a:ln w="3810">
            <a:solidFill>
              <a:srgbClr val="C8D8E8"/>
            </a:solidFill>
            <a:prstDash val="solid"/>
          </a:ln>
        </p:spPr>
      </p:sp>
      <p:sp>
        <p:nvSpPr>
          <p:cNvPr id="14" name="Text 12"/>
          <p:cNvSpPr/>
          <p:nvPr/>
        </p:nvSpPr>
        <p:spPr>
          <a:xfrm>
            <a:off x="347472" y="1700784"/>
            <a:ext cx="2679192" cy="329184"/>
          </a:xfrm>
          <a:prstGeom prst="rect">
            <a:avLst/>
          </a:prstGeom>
          <a:noFill/>
          <a:ln/>
        </p:spPr>
        <p:txBody>
          <a:bodyPr wrap="square" rtlCol="0" anchor="ctr"/>
          <a:lstStyle/>
          <a:p>
            <a:pPr indent="0" marL="0">
              <a:buNone/>
            </a:pPr>
            <a:r>
              <a:rPr lang="en-US" sz="900" dirty="0">
                <a:solidFill>
                  <a:srgbClr val="00305A"/>
                </a:solidFill>
                <a:latin typeface="Courier New" pitchFamily="34" charset="0"/>
                <a:ea typeface="Courier New" pitchFamily="34" charset="-122"/>
                <a:cs typeface="Courier New" pitchFamily="34" charset="-120"/>
              </a:rPr>
              <a:t>contiguity_graph(wards,'queen')</a:t>
            </a:r>
            <a:endParaRPr lang="en-US" sz="900" dirty="0"/>
          </a:p>
        </p:txBody>
      </p:sp>
      <p:sp>
        <p:nvSpPr>
          <p:cNvPr id="15" name="Shape 13"/>
          <p:cNvSpPr/>
          <p:nvPr/>
        </p:nvSpPr>
        <p:spPr>
          <a:xfrm>
            <a:off x="3154680" y="1664208"/>
            <a:ext cx="2560320" cy="402336"/>
          </a:xfrm>
          <a:prstGeom prst="rect">
            <a:avLst/>
          </a:prstGeom>
          <a:solidFill>
            <a:srgbClr val="FFFFFF"/>
          </a:solidFill>
          <a:ln w="3810">
            <a:solidFill>
              <a:srgbClr val="C8D8E8"/>
            </a:solidFill>
            <a:prstDash val="solid"/>
          </a:ln>
        </p:spPr>
      </p:sp>
      <p:sp>
        <p:nvSpPr>
          <p:cNvPr id="16" name="Text 14"/>
          <p:cNvSpPr/>
          <p:nvPr/>
        </p:nvSpPr>
        <p:spPr>
          <a:xfrm>
            <a:off x="3227832" y="1700784"/>
            <a:ext cx="2450592" cy="32918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BYM2 adjacency W</a:t>
            </a:r>
            <a:endParaRPr lang="en-US" sz="900" dirty="0"/>
          </a:p>
        </p:txBody>
      </p:sp>
      <p:sp>
        <p:nvSpPr>
          <p:cNvPr id="17" name="Shape 15"/>
          <p:cNvSpPr/>
          <p:nvPr/>
        </p:nvSpPr>
        <p:spPr>
          <a:xfrm>
            <a:off x="5806440" y="1664208"/>
            <a:ext cx="3063240" cy="402336"/>
          </a:xfrm>
          <a:prstGeom prst="rect">
            <a:avLst/>
          </a:prstGeom>
          <a:solidFill>
            <a:srgbClr val="FFFFFF"/>
          </a:solidFill>
          <a:ln w="3810">
            <a:solidFill>
              <a:srgbClr val="C8D8E8"/>
            </a:solidFill>
            <a:prstDash val="solid"/>
          </a:ln>
        </p:spPr>
      </p:sp>
      <p:sp>
        <p:nvSpPr>
          <p:cNvPr id="18" name="Text 16"/>
          <p:cNvSpPr/>
          <p:nvPr/>
        </p:nvSpPr>
        <p:spPr>
          <a:xfrm>
            <a:off x="5879592" y="1700784"/>
            <a:ext cx="2953512" cy="329184"/>
          </a:xfrm>
          <a:prstGeom prst="rect">
            <a:avLst/>
          </a:prstGeom>
          <a:noFill/>
          <a:ln/>
        </p:spPr>
        <p:txBody>
          <a:bodyPr wrap="square" rtlCol="0" anchor="ctr"/>
          <a:lstStyle/>
          <a:p>
            <a:pPr indent="0" marL="0">
              <a:buNone/>
            </a:pPr>
            <a:r>
              <a:rPr lang="en-US" sz="900" dirty="0">
                <a:solidFill>
                  <a:srgbClr val="5A6272"/>
                </a:solidFill>
                <a:latin typeface="Arial" pitchFamily="34" charset="0"/>
                <a:ea typeface="Arial" pitchFamily="34" charset="-122"/>
                <a:cs typeface="Arial" pitchFamily="34" charset="-120"/>
              </a:rPr>
              <a:t>Extract via edges.reset_index()['level_0']</a:t>
            </a:r>
            <a:endParaRPr lang="en-US" sz="900" dirty="0"/>
          </a:p>
        </p:txBody>
      </p:sp>
      <p:sp>
        <p:nvSpPr>
          <p:cNvPr id="19" name="Shape 17"/>
          <p:cNvSpPr/>
          <p:nvPr/>
        </p:nvSpPr>
        <p:spPr>
          <a:xfrm>
            <a:off x="274320" y="2103120"/>
            <a:ext cx="2788920" cy="402336"/>
          </a:xfrm>
          <a:prstGeom prst="rect">
            <a:avLst/>
          </a:prstGeom>
          <a:solidFill>
            <a:srgbClr val="F4F6F9"/>
          </a:solidFill>
          <a:ln w="3810">
            <a:solidFill>
              <a:srgbClr val="C8D8E8"/>
            </a:solidFill>
            <a:prstDash val="solid"/>
          </a:ln>
        </p:spPr>
      </p:sp>
      <p:sp>
        <p:nvSpPr>
          <p:cNvPr id="20" name="Text 18"/>
          <p:cNvSpPr/>
          <p:nvPr/>
        </p:nvSpPr>
        <p:spPr>
          <a:xfrm>
            <a:off x="347472" y="2139696"/>
            <a:ext cx="2679192" cy="329184"/>
          </a:xfrm>
          <a:prstGeom prst="rect">
            <a:avLst/>
          </a:prstGeom>
          <a:noFill/>
          <a:ln/>
        </p:spPr>
        <p:txBody>
          <a:bodyPr wrap="square" rtlCol="0" anchor="ctr"/>
          <a:lstStyle/>
          <a:p>
            <a:pPr indent="0" marL="0">
              <a:buNone/>
            </a:pPr>
            <a:r>
              <a:rPr lang="en-US" sz="900" dirty="0">
                <a:solidFill>
                  <a:srgbClr val="00305A"/>
                </a:solidFill>
                <a:latin typeface="Courier New" pitchFamily="34" charset="0"/>
                <a:ea typeface="Courier New" pitchFamily="34" charset="-122"/>
                <a:cs typeface="Courier New" pitchFamily="34" charset="-120"/>
              </a:rPr>
              <a:t>group_nodes(wards, hospitals)</a:t>
            </a:r>
            <a:endParaRPr lang="en-US" sz="900" dirty="0"/>
          </a:p>
        </p:txBody>
      </p:sp>
      <p:sp>
        <p:nvSpPr>
          <p:cNvPr id="21" name="Shape 19"/>
          <p:cNvSpPr/>
          <p:nvPr/>
        </p:nvSpPr>
        <p:spPr>
          <a:xfrm>
            <a:off x="3154680" y="2103120"/>
            <a:ext cx="2560320" cy="402336"/>
          </a:xfrm>
          <a:prstGeom prst="rect">
            <a:avLst/>
          </a:prstGeom>
          <a:solidFill>
            <a:srgbClr val="F4F6F9"/>
          </a:solidFill>
          <a:ln w="3810">
            <a:solidFill>
              <a:srgbClr val="C8D8E8"/>
            </a:solidFill>
            <a:prstDash val="solid"/>
          </a:ln>
        </p:spPr>
      </p:sp>
      <p:sp>
        <p:nvSpPr>
          <p:cNvPr id="22" name="Text 20"/>
          <p:cNvSpPr/>
          <p:nvPr/>
        </p:nvSpPr>
        <p:spPr>
          <a:xfrm>
            <a:off x="3227832" y="2139696"/>
            <a:ext cx="2450592" cy="32918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Ward→POI bipartite edges</a:t>
            </a:r>
            <a:endParaRPr lang="en-US" sz="900" dirty="0"/>
          </a:p>
        </p:txBody>
      </p:sp>
      <p:sp>
        <p:nvSpPr>
          <p:cNvPr id="23" name="Shape 21"/>
          <p:cNvSpPr/>
          <p:nvPr/>
        </p:nvSpPr>
        <p:spPr>
          <a:xfrm>
            <a:off x="5806440" y="2103120"/>
            <a:ext cx="3063240" cy="402336"/>
          </a:xfrm>
          <a:prstGeom prst="rect">
            <a:avLst/>
          </a:prstGeom>
          <a:solidFill>
            <a:srgbClr val="F4F6F9"/>
          </a:solidFill>
          <a:ln w="3810">
            <a:solidFill>
              <a:srgbClr val="C8D8E8"/>
            </a:solidFill>
            <a:prstDash val="solid"/>
          </a:ln>
        </p:spPr>
      </p:sp>
      <p:sp>
        <p:nvSpPr>
          <p:cNvPr id="24" name="Text 22"/>
          <p:cNvSpPr/>
          <p:nvPr/>
        </p:nvSpPr>
        <p:spPr>
          <a:xfrm>
            <a:off x="5879592" y="2139696"/>
            <a:ext cx="2953512" cy="329184"/>
          </a:xfrm>
          <a:prstGeom prst="rect">
            <a:avLst/>
          </a:prstGeom>
          <a:noFill/>
          <a:ln/>
        </p:spPr>
        <p:txBody>
          <a:bodyPr wrap="square" rtlCol="0" anchor="ctr"/>
          <a:lstStyle/>
          <a:p>
            <a:pPr indent="0" marL="0">
              <a:buNone/>
            </a:pPr>
            <a:r>
              <a:rPr lang="en-US" sz="900" dirty="0">
                <a:solidFill>
                  <a:srgbClr val="5A6272"/>
                </a:solidFill>
                <a:latin typeface="Arial" pitchFamily="34" charset="0"/>
                <a:ea typeface="Arial" pitchFamily="34" charset="-122"/>
                <a:cs typeface="Arial" pitchFamily="34" charset="-120"/>
              </a:rPr>
              <a:t>predicate='covered_by'</a:t>
            </a:r>
            <a:endParaRPr lang="en-US" sz="900" dirty="0"/>
          </a:p>
        </p:txBody>
      </p:sp>
      <p:sp>
        <p:nvSpPr>
          <p:cNvPr id="25" name="Shape 23"/>
          <p:cNvSpPr/>
          <p:nvPr/>
        </p:nvSpPr>
        <p:spPr>
          <a:xfrm>
            <a:off x="274320" y="2542032"/>
            <a:ext cx="2788920" cy="402336"/>
          </a:xfrm>
          <a:prstGeom prst="rect">
            <a:avLst/>
          </a:prstGeom>
          <a:solidFill>
            <a:srgbClr val="FFFFFF"/>
          </a:solidFill>
          <a:ln w="3810">
            <a:solidFill>
              <a:srgbClr val="C8D8E8"/>
            </a:solidFill>
            <a:prstDash val="solid"/>
          </a:ln>
        </p:spPr>
      </p:sp>
      <p:sp>
        <p:nvSpPr>
          <p:cNvPr id="26" name="Text 24"/>
          <p:cNvSpPr/>
          <p:nvPr/>
        </p:nvSpPr>
        <p:spPr>
          <a:xfrm>
            <a:off x="347472" y="2578608"/>
            <a:ext cx="2679192" cy="329184"/>
          </a:xfrm>
          <a:prstGeom prst="rect">
            <a:avLst/>
          </a:prstGeom>
          <a:noFill/>
          <a:ln/>
        </p:spPr>
        <p:txBody>
          <a:bodyPr wrap="square" rtlCol="0" anchor="ctr"/>
          <a:lstStyle/>
          <a:p>
            <a:pPr indent="0" marL="0">
              <a:buNone/>
            </a:pPr>
            <a:r>
              <a:rPr lang="en-US" sz="900" dirty="0">
                <a:solidFill>
                  <a:srgbClr val="00305A"/>
                </a:solidFill>
                <a:latin typeface="Courier New" pitchFamily="34" charset="0"/>
                <a:ea typeface="Courier New" pitchFamily="34" charset="-122"/>
                <a:cs typeface="Courier New" pitchFamily="34" charset="-120"/>
              </a:rPr>
              <a:t>knn_graph(centroids, k=3)</a:t>
            </a:r>
            <a:endParaRPr lang="en-US" sz="900" dirty="0"/>
          </a:p>
        </p:txBody>
      </p:sp>
      <p:sp>
        <p:nvSpPr>
          <p:cNvPr id="27" name="Shape 25"/>
          <p:cNvSpPr/>
          <p:nvPr/>
        </p:nvSpPr>
        <p:spPr>
          <a:xfrm>
            <a:off x="3154680" y="2542032"/>
            <a:ext cx="2560320" cy="402336"/>
          </a:xfrm>
          <a:prstGeom prst="rect">
            <a:avLst/>
          </a:prstGeom>
          <a:solidFill>
            <a:srgbClr val="FFFFFF"/>
          </a:solidFill>
          <a:ln w="3810">
            <a:solidFill>
              <a:srgbClr val="C8D8E8"/>
            </a:solidFill>
            <a:prstDash val="solid"/>
          </a:ln>
        </p:spPr>
      </p:sp>
      <p:sp>
        <p:nvSpPr>
          <p:cNvPr id="28" name="Text 26"/>
          <p:cNvSpPr/>
          <p:nvPr/>
        </p:nvSpPr>
        <p:spPr>
          <a:xfrm>
            <a:off x="3227832" y="2578608"/>
            <a:ext cx="2450592" cy="32918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KNN spatial proximity</a:t>
            </a:r>
            <a:endParaRPr lang="en-US" sz="900" dirty="0"/>
          </a:p>
        </p:txBody>
      </p:sp>
      <p:sp>
        <p:nvSpPr>
          <p:cNvPr id="29" name="Shape 27"/>
          <p:cNvSpPr/>
          <p:nvPr/>
        </p:nvSpPr>
        <p:spPr>
          <a:xfrm>
            <a:off x="5806440" y="2542032"/>
            <a:ext cx="3063240" cy="402336"/>
          </a:xfrm>
          <a:prstGeom prst="rect">
            <a:avLst/>
          </a:prstGeom>
          <a:solidFill>
            <a:srgbClr val="FFFFFF"/>
          </a:solidFill>
          <a:ln w="3810">
            <a:solidFill>
              <a:srgbClr val="C8D8E8"/>
            </a:solidFill>
            <a:prstDash val="solid"/>
          </a:ln>
        </p:spPr>
      </p:sp>
      <p:sp>
        <p:nvSpPr>
          <p:cNvPr id="30" name="Text 28"/>
          <p:cNvSpPr/>
          <p:nvPr/>
        </p:nvSpPr>
        <p:spPr>
          <a:xfrm>
            <a:off x="5879592" y="2578608"/>
            <a:ext cx="2953512" cy="329184"/>
          </a:xfrm>
          <a:prstGeom prst="rect">
            <a:avLst/>
          </a:prstGeom>
          <a:noFill/>
          <a:ln/>
        </p:spPr>
        <p:txBody>
          <a:bodyPr wrap="square" rtlCol="0" anchor="ctr"/>
          <a:lstStyle/>
          <a:p>
            <a:pPr indent="0" marL="0">
              <a:buNone/>
            </a:pPr>
            <a:r>
              <a:rPr lang="en-US" sz="900" dirty="0">
                <a:solidFill>
                  <a:srgbClr val="5A6272"/>
                </a:solidFill>
                <a:latin typeface="Arial" pitchFamily="34" charset="0"/>
                <a:ea typeface="Arial" pitchFamily="34" charset="-122"/>
                <a:cs typeface="Arial" pitchFamily="34" charset="-120"/>
              </a:rPr>
              <a:t>Robust alternative to Queen</a:t>
            </a:r>
            <a:endParaRPr lang="en-US" sz="900" dirty="0"/>
          </a:p>
        </p:txBody>
      </p:sp>
      <p:sp>
        <p:nvSpPr>
          <p:cNvPr id="31" name="Shape 29"/>
          <p:cNvSpPr/>
          <p:nvPr/>
        </p:nvSpPr>
        <p:spPr>
          <a:xfrm>
            <a:off x="274320" y="2980944"/>
            <a:ext cx="2788920" cy="402336"/>
          </a:xfrm>
          <a:prstGeom prst="rect">
            <a:avLst/>
          </a:prstGeom>
          <a:solidFill>
            <a:srgbClr val="F4F6F9"/>
          </a:solidFill>
          <a:ln w="3810">
            <a:solidFill>
              <a:srgbClr val="C8D8E8"/>
            </a:solidFill>
            <a:prstDash val="solid"/>
          </a:ln>
        </p:spPr>
      </p:sp>
      <p:sp>
        <p:nvSpPr>
          <p:cNvPr id="32" name="Text 30"/>
          <p:cNvSpPr/>
          <p:nvPr/>
        </p:nvSpPr>
        <p:spPr>
          <a:xfrm>
            <a:off x="347472" y="3017520"/>
            <a:ext cx="2679192" cy="329184"/>
          </a:xfrm>
          <a:prstGeom prst="rect">
            <a:avLst/>
          </a:prstGeom>
          <a:noFill/>
          <a:ln/>
        </p:spPr>
        <p:txBody>
          <a:bodyPr wrap="square" rtlCol="0" anchor="ctr"/>
          <a:lstStyle/>
          <a:p>
            <a:pPr indent="0" marL="0">
              <a:buNone/>
            </a:pPr>
            <a:r>
              <a:rPr lang="en-US" sz="900" dirty="0">
                <a:solidFill>
                  <a:srgbClr val="00305A"/>
                </a:solidFill>
                <a:latin typeface="Courier New" pitchFamily="34" charset="0"/>
                <a:ea typeface="Courier New" pitchFamily="34" charset="-122"/>
                <a:cs typeface="Courier New" pitchFamily="34" charset="-120"/>
              </a:rPr>
              <a:t>delaunay_graph(centroids)</a:t>
            </a:r>
            <a:endParaRPr lang="en-US" sz="900" dirty="0"/>
          </a:p>
        </p:txBody>
      </p:sp>
      <p:sp>
        <p:nvSpPr>
          <p:cNvPr id="33" name="Shape 31"/>
          <p:cNvSpPr/>
          <p:nvPr/>
        </p:nvSpPr>
        <p:spPr>
          <a:xfrm>
            <a:off x="3154680" y="2980944"/>
            <a:ext cx="2560320" cy="402336"/>
          </a:xfrm>
          <a:prstGeom prst="rect">
            <a:avLst/>
          </a:prstGeom>
          <a:solidFill>
            <a:srgbClr val="F4F6F9"/>
          </a:solidFill>
          <a:ln w="3810">
            <a:solidFill>
              <a:srgbClr val="C8D8E8"/>
            </a:solidFill>
            <a:prstDash val="solid"/>
          </a:ln>
        </p:spPr>
      </p:sp>
      <p:sp>
        <p:nvSpPr>
          <p:cNvPr id="34" name="Text 32"/>
          <p:cNvSpPr/>
          <p:nvPr/>
        </p:nvSpPr>
        <p:spPr>
          <a:xfrm>
            <a:off x="3227832" y="3017520"/>
            <a:ext cx="2450592" cy="32918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Delaunay triangulation</a:t>
            </a:r>
            <a:endParaRPr lang="en-US" sz="900" dirty="0"/>
          </a:p>
        </p:txBody>
      </p:sp>
      <p:sp>
        <p:nvSpPr>
          <p:cNvPr id="35" name="Shape 33"/>
          <p:cNvSpPr/>
          <p:nvPr/>
        </p:nvSpPr>
        <p:spPr>
          <a:xfrm>
            <a:off x="5806440" y="2980944"/>
            <a:ext cx="3063240" cy="402336"/>
          </a:xfrm>
          <a:prstGeom prst="rect">
            <a:avLst/>
          </a:prstGeom>
          <a:solidFill>
            <a:srgbClr val="F4F6F9"/>
          </a:solidFill>
          <a:ln w="3810">
            <a:solidFill>
              <a:srgbClr val="C8D8E8"/>
            </a:solidFill>
            <a:prstDash val="solid"/>
          </a:ln>
        </p:spPr>
      </p:sp>
      <p:sp>
        <p:nvSpPr>
          <p:cNvPr id="36" name="Text 34"/>
          <p:cNvSpPr/>
          <p:nvPr/>
        </p:nvSpPr>
        <p:spPr>
          <a:xfrm>
            <a:off x="5879592" y="3017520"/>
            <a:ext cx="2953512" cy="329184"/>
          </a:xfrm>
          <a:prstGeom prst="rect">
            <a:avLst/>
          </a:prstGeom>
          <a:noFill/>
          <a:ln/>
        </p:spPr>
        <p:txBody>
          <a:bodyPr wrap="square" rtlCol="0" anchor="ctr"/>
          <a:lstStyle/>
          <a:p>
            <a:pPr indent="0" marL="0">
              <a:buNone/>
            </a:pPr>
            <a:r>
              <a:rPr lang="en-US" sz="900" dirty="0">
                <a:solidFill>
                  <a:srgbClr val="5A6272"/>
                </a:solidFill>
                <a:latin typeface="Arial" pitchFamily="34" charset="0"/>
                <a:ea typeface="Arial" pitchFamily="34" charset="-122"/>
                <a:cs typeface="Arial" pitchFamily="34" charset="-120"/>
              </a:rPr>
              <a:t>Always connected, unlike Queen</a:t>
            </a:r>
            <a:endParaRPr lang="en-US" sz="900" dirty="0"/>
          </a:p>
        </p:txBody>
      </p:sp>
      <p:sp>
        <p:nvSpPr>
          <p:cNvPr id="37" name="Shape 35"/>
          <p:cNvSpPr/>
          <p:nvPr/>
        </p:nvSpPr>
        <p:spPr>
          <a:xfrm>
            <a:off x="274320" y="3419856"/>
            <a:ext cx="2788920" cy="402336"/>
          </a:xfrm>
          <a:prstGeom prst="rect">
            <a:avLst/>
          </a:prstGeom>
          <a:solidFill>
            <a:srgbClr val="FFFFFF"/>
          </a:solidFill>
          <a:ln w="3810">
            <a:solidFill>
              <a:srgbClr val="C8D8E8"/>
            </a:solidFill>
            <a:prstDash val="solid"/>
          </a:ln>
        </p:spPr>
      </p:sp>
      <p:sp>
        <p:nvSpPr>
          <p:cNvPr id="38" name="Text 36"/>
          <p:cNvSpPr/>
          <p:nvPr/>
        </p:nvSpPr>
        <p:spPr>
          <a:xfrm>
            <a:off x="347472" y="3456432"/>
            <a:ext cx="2679192" cy="329184"/>
          </a:xfrm>
          <a:prstGeom prst="rect">
            <a:avLst/>
          </a:prstGeom>
          <a:noFill/>
          <a:ln/>
        </p:spPr>
        <p:txBody>
          <a:bodyPr wrap="square" rtlCol="0" anchor="ctr"/>
          <a:lstStyle/>
          <a:p>
            <a:pPr indent="0" marL="0">
              <a:buNone/>
            </a:pPr>
            <a:r>
              <a:rPr lang="en-US" sz="900" dirty="0">
                <a:solidFill>
                  <a:srgbClr val="00305A"/>
                </a:solidFill>
                <a:latin typeface="Courier New" pitchFamily="34" charset="0"/>
                <a:ea typeface="Courier New" pitchFamily="34" charset="-122"/>
                <a:cs typeface="Courier New" pitchFamily="34" charset="-120"/>
              </a:rPr>
              <a:t>gdf_to_pyg(nodes, edges)</a:t>
            </a:r>
            <a:endParaRPr lang="en-US" sz="900" dirty="0"/>
          </a:p>
        </p:txBody>
      </p:sp>
      <p:sp>
        <p:nvSpPr>
          <p:cNvPr id="39" name="Shape 37"/>
          <p:cNvSpPr/>
          <p:nvPr/>
        </p:nvSpPr>
        <p:spPr>
          <a:xfrm>
            <a:off x="3154680" y="3419856"/>
            <a:ext cx="2560320" cy="402336"/>
          </a:xfrm>
          <a:prstGeom prst="rect">
            <a:avLst/>
          </a:prstGeom>
          <a:solidFill>
            <a:srgbClr val="FFFFFF"/>
          </a:solidFill>
          <a:ln w="3810">
            <a:solidFill>
              <a:srgbClr val="C8D8E8"/>
            </a:solidFill>
            <a:prstDash val="solid"/>
          </a:ln>
        </p:spPr>
      </p:sp>
      <p:sp>
        <p:nvSpPr>
          <p:cNvPr id="40" name="Text 38"/>
          <p:cNvSpPr/>
          <p:nvPr/>
        </p:nvSpPr>
        <p:spPr>
          <a:xfrm>
            <a:off x="3227832" y="3456432"/>
            <a:ext cx="2450592" cy="32918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PyTorch Geometric HeteroData</a:t>
            </a:r>
            <a:endParaRPr lang="en-US" sz="900" dirty="0"/>
          </a:p>
        </p:txBody>
      </p:sp>
      <p:sp>
        <p:nvSpPr>
          <p:cNvPr id="41" name="Shape 39"/>
          <p:cNvSpPr/>
          <p:nvPr/>
        </p:nvSpPr>
        <p:spPr>
          <a:xfrm>
            <a:off x="5806440" y="3419856"/>
            <a:ext cx="3063240" cy="402336"/>
          </a:xfrm>
          <a:prstGeom prst="rect">
            <a:avLst/>
          </a:prstGeom>
          <a:solidFill>
            <a:srgbClr val="FFFFFF"/>
          </a:solidFill>
          <a:ln w="3810">
            <a:solidFill>
              <a:srgbClr val="C8D8E8"/>
            </a:solidFill>
            <a:prstDash val="solid"/>
          </a:ln>
        </p:spPr>
      </p:sp>
      <p:sp>
        <p:nvSpPr>
          <p:cNvPr id="42" name="Text 40"/>
          <p:cNvSpPr/>
          <p:nvPr/>
        </p:nvSpPr>
        <p:spPr>
          <a:xfrm>
            <a:off x="5879592" y="3456432"/>
            <a:ext cx="2953512" cy="329184"/>
          </a:xfrm>
          <a:prstGeom prst="rect">
            <a:avLst/>
          </a:prstGeom>
          <a:noFill/>
          <a:ln/>
        </p:spPr>
        <p:txBody>
          <a:bodyPr wrap="square" rtlCol="0" anchor="ctr"/>
          <a:lstStyle/>
          <a:p>
            <a:pPr indent="0" marL="0">
              <a:buNone/>
            </a:pPr>
            <a:r>
              <a:rPr lang="en-US" sz="900" dirty="0">
                <a:solidFill>
                  <a:srgbClr val="5A6272"/>
                </a:solidFill>
                <a:latin typeface="Arial" pitchFamily="34" charset="0"/>
                <a:ea typeface="Arial" pitchFamily="34" charset="-122"/>
                <a:cs typeface="Arial" pitchFamily="34" charset="-120"/>
              </a:rPr>
              <a:t>Requires city2graph[cpu]</a:t>
            </a:r>
            <a:endParaRPr lang="en-US" sz="900" dirty="0"/>
          </a:p>
        </p:txBody>
      </p:sp>
      <p:sp>
        <p:nvSpPr>
          <p:cNvPr id="43" name="Shape 41"/>
          <p:cNvSpPr/>
          <p:nvPr/>
        </p:nvSpPr>
        <p:spPr>
          <a:xfrm>
            <a:off x="274320" y="3858768"/>
            <a:ext cx="2788920" cy="402336"/>
          </a:xfrm>
          <a:prstGeom prst="rect">
            <a:avLst/>
          </a:prstGeom>
          <a:solidFill>
            <a:srgbClr val="F4F6F9"/>
          </a:solidFill>
          <a:ln w="3810">
            <a:solidFill>
              <a:srgbClr val="C8D8E8"/>
            </a:solidFill>
            <a:prstDash val="solid"/>
          </a:ln>
        </p:spPr>
      </p:sp>
      <p:sp>
        <p:nvSpPr>
          <p:cNvPr id="44" name="Text 42"/>
          <p:cNvSpPr/>
          <p:nvPr/>
        </p:nvSpPr>
        <p:spPr>
          <a:xfrm>
            <a:off x="347472" y="3895344"/>
            <a:ext cx="2679192" cy="329184"/>
          </a:xfrm>
          <a:prstGeom prst="rect">
            <a:avLst/>
          </a:prstGeom>
          <a:noFill/>
          <a:ln/>
        </p:spPr>
        <p:txBody>
          <a:bodyPr wrap="square" rtlCol="0" anchor="ctr"/>
          <a:lstStyle/>
          <a:p>
            <a:pPr indent="0" marL="0">
              <a:buNone/>
            </a:pPr>
            <a:r>
              <a:rPr lang="en-US" sz="900" dirty="0">
                <a:solidFill>
                  <a:srgbClr val="00305A"/>
                </a:solidFill>
                <a:latin typeface="Courier New" pitchFamily="34" charset="0"/>
                <a:ea typeface="Courier New" pitchFamily="34" charset="-122"/>
                <a:cs typeface="Courier New" pitchFamily="34" charset="-120"/>
              </a:rPr>
              <a:t>load_gtfs(path) + travel_summary_graph</a:t>
            </a:r>
            <a:endParaRPr lang="en-US" sz="900" dirty="0"/>
          </a:p>
        </p:txBody>
      </p:sp>
      <p:sp>
        <p:nvSpPr>
          <p:cNvPr id="45" name="Shape 43"/>
          <p:cNvSpPr/>
          <p:nvPr/>
        </p:nvSpPr>
        <p:spPr>
          <a:xfrm>
            <a:off x="3154680" y="3858768"/>
            <a:ext cx="2560320" cy="402336"/>
          </a:xfrm>
          <a:prstGeom prst="rect">
            <a:avLst/>
          </a:prstGeom>
          <a:solidFill>
            <a:srgbClr val="F4F6F9"/>
          </a:solidFill>
          <a:ln w="3810">
            <a:solidFill>
              <a:srgbClr val="C8D8E8"/>
            </a:solidFill>
            <a:prstDash val="solid"/>
          </a:ln>
        </p:spPr>
      </p:sp>
      <p:sp>
        <p:nvSpPr>
          <p:cNvPr id="46" name="Text 44"/>
          <p:cNvSpPr/>
          <p:nvPr/>
        </p:nvSpPr>
        <p:spPr>
          <a:xfrm>
            <a:off x="3227832" y="3895344"/>
            <a:ext cx="2450592" cy="32918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GTFS transit graph</a:t>
            </a:r>
            <a:endParaRPr lang="en-US" sz="900" dirty="0"/>
          </a:p>
        </p:txBody>
      </p:sp>
      <p:sp>
        <p:nvSpPr>
          <p:cNvPr id="47" name="Shape 45"/>
          <p:cNvSpPr/>
          <p:nvPr/>
        </p:nvSpPr>
        <p:spPr>
          <a:xfrm>
            <a:off x="5806440" y="3858768"/>
            <a:ext cx="3063240" cy="402336"/>
          </a:xfrm>
          <a:prstGeom prst="rect">
            <a:avLst/>
          </a:prstGeom>
          <a:solidFill>
            <a:srgbClr val="F4F6F9"/>
          </a:solidFill>
          <a:ln w="3810">
            <a:solidFill>
              <a:srgbClr val="C8D8E8"/>
            </a:solidFill>
            <a:prstDash val="solid"/>
          </a:ln>
        </p:spPr>
      </p:sp>
      <p:sp>
        <p:nvSpPr>
          <p:cNvPr id="48" name="Text 46"/>
          <p:cNvSpPr/>
          <p:nvPr/>
        </p:nvSpPr>
        <p:spPr>
          <a:xfrm>
            <a:off x="5879592" y="3895344"/>
            <a:ext cx="2953512" cy="329184"/>
          </a:xfrm>
          <a:prstGeom prst="rect">
            <a:avLst/>
          </a:prstGeom>
          <a:noFill/>
          <a:ln/>
        </p:spPr>
        <p:txBody>
          <a:bodyPr wrap="square" rtlCol="0" anchor="ctr"/>
          <a:lstStyle/>
          <a:p>
            <a:pPr indent="0" marL="0">
              <a:buNone/>
            </a:pPr>
            <a:r>
              <a:rPr lang="en-US" sz="900" dirty="0">
                <a:solidFill>
                  <a:srgbClr val="5A6272"/>
                </a:solidFill>
                <a:latin typeface="Arial" pitchFamily="34" charset="0"/>
                <a:ea typeface="Arial" pitchFamily="34" charset="-122"/>
                <a:cs typeface="Arial" pitchFamily="34" charset="-120"/>
              </a:rPr>
              <a:t>Needs vadodara_gtfs.zip</a:t>
            </a:r>
            <a:endParaRPr lang="en-US" sz="900" dirty="0"/>
          </a:p>
        </p:txBody>
      </p:sp>
      <p:sp>
        <p:nvSpPr>
          <p:cNvPr id="49" name="Shape 47"/>
          <p:cNvSpPr/>
          <p:nvPr/>
        </p:nvSpPr>
        <p:spPr>
          <a:xfrm>
            <a:off x="274320" y="4681728"/>
            <a:ext cx="8595360" cy="329184"/>
          </a:xfrm>
          <a:prstGeom prst="rect">
            <a:avLst/>
          </a:prstGeom>
          <a:solidFill>
            <a:srgbClr val="D6E8F5"/>
          </a:solidFill>
          <a:ln w="5080">
            <a:solidFill>
              <a:srgbClr val="2E6DA4"/>
            </a:solidFill>
            <a:prstDash val="solid"/>
          </a:ln>
        </p:spPr>
      </p:sp>
      <p:sp>
        <p:nvSpPr>
          <p:cNvPr id="50" name="Text 48"/>
          <p:cNvSpPr/>
          <p:nvPr/>
        </p:nvSpPr>
        <p:spPr>
          <a:xfrm>
            <a:off x="411480" y="4718304"/>
            <a:ext cx="8229600" cy="256032"/>
          </a:xfrm>
          <a:prstGeom prst="rect">
            <a:avLst/>
          </a:prstGeom>
          <a:noFill/>
          <a:ln/>
        </p:spPr>
        <p:txBody>
          <a:bodyPr wrap="square" rtlCol="0" anchor="ctr"/>
          <a:lstStyle/>
          <a:p>
            <a:pPr indent="0" marL="0">
              <a:buNone/>
            </a:pPr>
            <a:r>
              <a:rPr lang="en-US" sz="900" dirty="0">
                <a:solidFill>
                  <a:srgbClr val="1A4A8A"/>
                </a:solidFill>
                <a:latin typeface="Arial" pitchFamily="34" charset="0"/>
                <a:ea typeface="Arial" pitchFamily="34" charset="-122"/>
                <a:cs typeface="Arial" pitchFamily="34" charset="-120"/>
              </a:rPr>
              <a:t>GraphML export: strip CRS attrs before nx.write_graphml()  |  PyG: c2g.gdf_to_pyg() returns HeteroData  |  GTFS: requires pip install 'city2graph[cpu]'</a:t>
            </a:r>
            <a:endParaRPr lang="en-US" sz="900" dirty="0"/>
          </a:p>
        </p:txBody>
      </p:sp>
      <p:sp>
        <p:nvSpPr>
          <p:cNvPr id="51" name="Text 49"/>
          <p:cNvSpPr/>
          <p:nvPr/>
        </p:nvSpPr>
        <p:spPr>
          <a:xfrm>
            <a:off x="8412480" y="4869180"/>
            <a:ext cx="640080" cy="201168"/>
          </a:xfrm>
          <a:prstGeom prst="rect">
            <a:avLst/>
          </a:prstGeom>
          <a:noFill/>
          <a:ln/>
        </p:spPr>
        <p:txBody>
          <a:bodyPr wrap="square" rtlCol="0" anchor="ctr"/>
          <a:lstStyle/>
          <a:p>
            <a:pPr algn="r" indent="0" marL="0">
              <a:buNone/>
            </a:pPr>
            <a:r>
              <a:rPr lang="en-US" sz="900" dirty="0">
                <a:solidFill>
                  <a:srgbClr val="5A6272"/>
                </a:solidFill>
                <a:latin typeface="Arial" pitchFamily="34" charset="0"/>
                <a:ea typeface="Arial" pitchFamily="34" charset="-122"/>
                <a:cs typeface="Arial" pitchFamily="34" charset="-120"/>
              </a:rPr>
              <a:t>7 / 16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B1F3A"/>
          </a:solidFill>
          <a:ln w="12700">
            <a:solidFill>
              <a:srgbClr val="0B1F3A"/>
            </a:solidFill>
            <a:prstDash val="solid"/>
          </a:ln>
        </p:spPr>
      </p:sp>
      <p:sp>
        <p:nvSpPr>
          <p:cNvPr id="3" name="Text 1"/>
          <p:cNvSpPr/>
          <p:nvPr/>
        </p:nvSpPr>
        <p:spPr>
          <a:xfrm>
            <a:off x="228600" y="73152"/>
            <a:ext cx="8686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GNN + BYM2 hybrid: critical bugs and fixes</a:t>
            </a:r>
            <a:endParaRPr lang="en-US" sz="2200" dirty="0"/>
          </a:p>
        </p:txBody>
      </p:sp>
      <p:sp>
        <p:nvSpPr>
          <p:cNvPr id="4" name="Text 2"/>
          <p:cNvSpPr/>
          <p:nvPr/>
        </p:nvSpPr>
        <p:spPr>
          <a:xfrm>
            <a:off x="228600" y="512064"/>
            <a:ext cx="8686800" cy="256032"/>
          </a:xfrm>
          <a:prstGeom prst="rect">
            <a:avLst/>
          </a:prstGeom>
          <a:noFill/>
          <a:ln/>
        </p:spPr>
        <p:txBody>
          <a:bodyPr wrap="square" rtlCol="0" anchor="ctr"/>
          <a:lstStyle/>
          <a:p>
            <a:pPr indent="0" marL="0">
              <a:buNone/>
            </a:pPr>
            <a:r>
              <a:rPr lang="en-US" sz="1100" dirty="0">
                <a:solidFill>
                  <a:srgbClr val="A0C0E0"/>
                </a:solidFill>
                <a:latin typeface="Arial" pitchFamily="34" charset="0"/>
                <a:ea typeface="Arial" pitchFamily="34" charset="-122"/>
                <a:cs typeface="Arial" pitchFamily="34" charset="-120"/>
              </a:rPr>
              <a:t>5 bugs in GNN.py that invalidate posterior inference</a:t>
            </a:r>
            <a:endParaRPr lang="en-US" sz="1100" dirty="0"/>
          </a:p>
        </p:txBody>
      </p:sp>
      <p:sp>
        <p:nvSpPr>
          <p:cNvPr id="5" name="Shape 3"/>
          <p:cNvSpPr/>
          <p:nvPr/>
        </p:nvSpPr>
        <p:spPr>
          <a:xfrm>
            <a:off x="0" y="777240"/>
            <a:ext cx="9144000" cy="0"/>
          </a:xfrm>
          <a:prstGeom prst="line">
            <a:avLst/>
          </a:prstGeom>
          <a:noFill/>
          <a:ln w="38100">
            <a:solidFill>
              <a:srgbClr val="D4A820"/>
            </a:solidFill>
            <a:prstDash val="solid"/>
          </a:ln>
        </p:spPr>
      </p:sp>
      <p:sp>
        <p:nvSpPr>
          <p:cNvPr id="6" name="Shape 4"/>
          <p:cNvSpPr/>
          <p:nvPr/>
        </p:nvSpPr>
        <p:spPr>
          <a:xfrm>
            <a:off x="274320" y="960120"/>
            <a:ext cx="822960" cy="685800"/>
          </a:xfrm>
          <a:prstGeom prst="rect">
            <a:avLst/>
          </a:prstGeom>
          <a:solidFill>
            <a:srgbClr val="C0392B"/>
          </a:solidFill>
          <a:ln w="12700">
            <a:solidFill>
              <a:srgbClr val="C0392B"/>
            </a:solidFill>
            <a:prstDash val="solid"/>
          </a:ln>
        </p:spPr>
      </p:sp>
      <p:sp>
        <p:nvSpPr>
          <p:cNvPr id="7" name="Text 5"/>
          <p:cNvSpPr/>
          <p:nvPr/>
        </p:nvSpPr>
        <p:spPr>
          <a:xfrm>
            <a:off x="274320" y="960120"/>
            <a:ext cx="822960" cy="68580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8" name="Shape 6"/>
          <p:cNvSpPr/>
          <p:nvPr/>
        </p:nvSpPr>
        <p:spPr>
          <a:xfrm>
            <a:off x="1170432" y="960120"/>
            <a:ext cx="7680960" cy="685800"/>
          </a:xfrm>
          <a:prstGeom prst="rect">
            <a:avLst/>
          </a:prstGeom>
          <a:solidFill>
            <a:srgbClr val="FEF8F8"/>
          </a:solidFill>
          <a:ln w="5080">
            <a:solidFill>
              <a:srgbClr val="D8C8C0"/>
            </a:solidFill>
            <a:prstDash val="solid"/>
          </a:ln>
        </p:spPr>
      </p:sp>
      <p:sp>
        <p:nvSpPr>
          <p:cNvPr id="9" name="Text 7"/>
          <p:cNvSpPr/>
          <p:nvPr/>
        </p:nvSpPr>
        <p:spPr>
          <a:xfrm>
            <a:off x="1298448" y="1014984"/>
            <a:ext cx="7406640" cy="237744"/>
          </a:xfrm>
          <a:prstGeom prst="rect">
            <a:avLst/>
          </a:prstGeom>
          <a:noFill/>
          <a:ln/>
        </p:spPr>
        <p:txBody>
          <a:bodyPr wrap="square" rtlCol="0" anchor="ctr"/>
          <a:lstStyle/>
          <a:p>
            <a:pPr indent="0" marL="0">
              <a:buNone/>
            </a:pPr>
            <a:r>
              <a:rPr lang="en-US" sz="1100" b="1" dirty="0">
                <a:solidFill>
                  <a:srgbClr val="121C2B"/>
                </a:solidFill>
                <a:latin typeface="Arial" pitchFamily="34" charset="0"/>
                <a:ea typeface="Arial" pitchFamily="34" charset="-122"/>
                <a:cs typeface="Arial" pitchFamily="34" charset="-120"/>
              </a:rPr>
              <a:t>pm.CAR instead of ICAR</a:t>
            </a:r>
            <a:endParaRPr lang="en-US" sz="1100" dirty="0"/>
          </a:p>
        </p:txBody>
      </p:sp>
      <p:sp>
        <p:nvSpPr>
          <p:cNvPr id="10" name="Text 8"/>
          <p:cNvSpPr/>
          <p:nvPr/>
        </p:nvSpPr>
        <p:spPr>
          <a:xfrm>
            <a:off x="1298448" y="1289304"/>
            <a:ext cx="7406640" cy="292608"/>
          </a:xfrm>
          <a:prstGeom prst="rect">
            <a:avLst/>
          </a:prstGeom>
          <a:noFill/>
          <a:ln/>
        </p:spPr>
        <p:txBody>
          <a:bodyPr wrap="square" rtlCol="0" anchor="ctr"/>
          <a:lstStyle/>
          <a:p>
            <a:pPr indent="0" marL="0">
              <a:buNone/>
            </a:pPr>
            <a:r>
              <a:rPr lang="en-US" sz="950" dirty="0">
                <a:solidFill>
                  <a:srgbClr val="2A3A50"/>
                </a:solidFill>
                <a:latin typeface="Arial" pitchFamily="34" charset="0"/>
                <a:ea typeface="Arial" pitchFamily="34" charset="-122"/>
                <a:cs typeface="Arial" pitchFamily="34" charset="-120"/>
              </a:rPr>
              <a:t>Fix: Use pm.Potential('icar', icar_logp(u_raw, node1, node2)). CAR≠ICAR; biased σ_b and φ.</a:t>
            </a:r>
            <a:endParaRPr lang="en-US" sz="950" dirty="0"/>
          </a:p>
        </p:txBody>
      </p:sp>
      <p:sp>
        <p:nvSpPr>
          <p:cNvPr id="11" name="Shape 9"/>
          <p:cNvSpPr/>
          <p:nvPr/>
        </p:nvSpPr>
        <p:spPr>
          <a:xfrm>
            <a:off x="274320" y="1764792"/>
            <a:ext cx="822960" cy="685800"/>
          </a:xfrm>
          <a:prstGeom prst="rect">
            <a:avLst/>
          </a:prstGeom>
          <a:solidFill>
            <a:srgbClr val="C0392B"/>
          </a:solidFill>
          <a:ln w="12700">
            <a:solidFill>
              <a:srgbClr val="C0392B"/>
            </a:solidFill>
            <a:prstDash val="solid"/>
          </a:ln>
        </p:spPr>
      </p:sp>
      <p:sp>
        <p:nvSpPr>
          <p:cNvPr id="12" name="Text 10"/>
          <p:cNvSpPr/>
          <p:nvPr/>
        </p:nvSpPr>
        <p:spPr>
          <a:xfrm>
            <a:off x="274320" y="1764792"/>
            <a:ext cx="822960" cy="68580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13" name="Shape 11"/>
          <p:cNvSpPr/>
          <p:nvPr/>
        </p:nvSpPr>
        <p:spPr>
          <a:xfrm>
            <a:off x="1170432" y="1764792"/>
            <a:ext cx="7680960" cy="685800"/>
          </a:xfrm>
          <a:prstGeom prst="rect">
            <a:avLst/>
          </a:prstGeom>
          <a:solidFill>
            <a:srgbClr val="FEFAF8"/>
          </a:solidFill>
          <a:ln w="5080">
            <a:solidFill>
              <a:srgbClr val="D8C8C0"/>
            </a:solidFill>
            <a:prstDash val="solid"/>
          </a:ln>
        </p:spPr>
      </p:sp>
      <p:sp>
        <p:nvSpPr>
          <p:cNvPr id="14" name="Text 12"/>
          <p:cNvSpPr/>
          <p:nvPr/>
        </p:nvSpPr>
        <p:spPr>
          <a:xfrm>
            <a:off x="1298448" y="1819656"/>
            <a:ext cx="7406640" cy="237744"/>
          </a:xfrm>
          <a:prstGeom prst="rect">
            <a:avLst/>
          </a:prstGeom>
          <a:noFill/>
          <a:ln/>
        </p:spPr>
        <p:txBody>
          <a:bodyPr wrap="square" rtlCol="0" anchor="ctr"/>
          <a:lstStyle/>
          <a:p>
            <a:pPr indent="0" marL="0">
              <a:buNone/>
            </a:pPr>
            <a:r>
              <a:rPr lang="en-US" sz="1100" b="1" dirty="0">
                <a:solidFill>
                  <a:srgbClr val="121C2B"/>
                </a:solidFill>
                <a:latin typeface="Arial" pitchFamily="34" charset="0"/>
                <a:ea typeface="Arial" pitchFamily="34" charset="-122"/>
                <a:cs typeface="Arial" pitchFamily="34" charset="-120"/>
              </a:rPr>
              <a:t>GNN predictions as fixed covariate</a:t>
            </a:r>
            <a:endParaRPr lang="en-US" sz="1100" dirty="0"/>
          </a:p>
        </p:txBody>
      </p:sp>
      <p:sp>
        <p:nvSpPr>
          <p:cNvPr id="15" name="Text 13"/>
          <p:cNvSpPr/>
          <p:nvPr/>
        </p:nvSpPr>
        <p:spPr>
          <a:xfrm>
            <a:off x="1298448" y="2093976"/>
            <a:ext cx="7406640" cy="292608"/>
          </a:xfrm>
          <a:prstGeom prst="rect">
            <a:avLst/>
          </a:prstGeom>
          <a:noFill/>
          <a:ln/>
        </p:spPr>
        <p:txBody>
          <a:bodyPr wrap="square" rtlCol="0" anchor="ctr"/>
          <a:lstStyle/>
          <a:p>
            <a:pPr indent="0" marL="0">
              <a:buNone/>
            </a:pPr>
            <a:r>
              <a:rPr lang="en-US" sz="950" dirty="0">
                <a:solidFill>
                  <a:srgbClr val="2A3A50"/>
                </a:solidFill>
                <a:latin typeface="Arial" pitchFamily="34" charset="0"/>
                <a:ea typeface="Arial" pitchFamily="34" charset="-122"/>
                <a:cs typeface="Arial" pitchFamily="34" charset="-120"/>
              </a:rPr>
              <a:t>Fix: Use LOO-CV predictions or penultimate embeddings. Fixed array → attenuation bias in β_gnn.</a:t>
            </a:r>
            <a:endParaRPr lang="en-US" sz="950" dirty="0"/>
          </a:p>
        </p:txBody>
      </p:sp>
      <p:sp>
        <p:nvSpPr>
          <p:cNvPr id="16" name="Shape 14"/>
          <p:cNvSpPr/>
          <p:nvPr/>
        </p:nvSpPr>
        <p:spPr>
          <a:xfrm>
            <a:off x="274320" y="2569464"/>
            <a:ext cx="822960" cy="685800"/>
          </a:xfrm>
          <a:prstGeom prst="rect">
            <a:avLst/>
          </a:prstGeom>
          <a:solidFill>
            <a:srgbClr val="B7770D"/>
          </a:solidFill>
          <a:ln w="12700">
            <a:solidFill>
              <a:srgbClr val="B7770D"/>
            </a:solidFill>
            <a:prstDash val="solid"/>
          </a:ln>
        </p:spPr>
      </p:sp>
      <p:sp>
        <p:nvSpPr>
          <p:cNvPr id="17" name="Text 15"/>
          <p:cNvSpPr/>
          <p:nvPr/>
        </p:nvSpPr>
        <p:spPr>
          <a:xfrm>
            <a:off x="274320" y="2569464"/>
            <a:ext cx="822960" cy="68580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WARN</a:t>
            </a:r>
            <a:endParaRPr lang="en-US" sz="800" dirty="0"/>
          </a:p>
        </p:txBody>
      </p:sp>
      <p:sp>
        <p:nvSpPr>
          <p:cNvPr id="18" name="Shape 16"/>
          <p:cNvSpPr/>
          <p:nvPr/>
        </p:nvSpPr>
        <p:spPr>
          <a:xfrm>
            <a:off x="1170432" y="2569464"/>
            <a:ext cx="7680960" cy="685800"/>
          </a:xfrm>
          <a:prstGeom prst="rect">
            <a:avLst/>
          </a:prstGeom>
          <a:solidFill>
            <a:srgbClr val="FEF8F8"/>
          </a:solidFill>
          <a:ln w="5080">
            <a:solidFill>
              <a:srgbClr val="D8C8C0"/>
            </a:solidFill>
            <a:prstDash val="solid"/>
          </a:ln>
        </p:spPr>
      </p:sp>
      <p:sp>
        <p:nvSpPr>
          <p:cNvPr id="19" name="Text 17"/>
          <p:cNvSpPr/>
          <p:nvPr/>
        </p:nvSpPr>
        <p:spPr>
          <a:xfrm>
            <a:off x="1298448" y="2624328"/>
            <a:ext cx="7406640" cy="237744"/>
          </a:xfrm>
          <a:prstGeom prst="rect">
            <a:avLst/>
          </a:prstGeom>
          <a:noFill/>
          <a:ln/>
        </p:spPr>
        <p:txBody>
          <a:bodyPr wrap="square" rtlCol="0" anchor="ctr"/>
          <a:lstStyle/>
          <a:p>
            <a:pPr indent="0" marL="0">
              <a:buNone/>
            </a:pPr>
            <a:r>
              <a:rPr lang="en-US" sz="1100" b="1" dirty="0">
                <a:solidFill>
                  <a:srgbClr val="121C2B"/>
                </a:solidFill>
                <a:latin typeface="Arial" pitchFamily="34" charset="0"/>
                <a:ea typeface="Arial" pitchFamily="34" charset="-122"/>
                <a:cs typeface="Arial" pitchFamily="34" charset="-120"/>
              </a:rPr>
              <a:t>Informative β_gnn prior N(1, 0.2)</a:t>
            </a:r>
            <a:endParaRPr lang="en-US" sz="1100" dirty="0"/>
          </a:p>
        </p:txBody>
      </p:sp>
      <p:sp>
        <p:nvSpPr>
          <p:cNvPr id="20" name="Text 18"/>
          <p:cNvSpPr/>
          <p:nvPr/>
        </p:nvSpPr>
        <p:spPr>
          <a:xfrm>
            <a:off x="1298448" y="2898648"/>
            <a:ext cx="7406640" cy="292608"/>
          </a:xfrm>
          <a:prstGeom prst="rect">
            <a:avLst/>
          </a:prstGeom>
          <a:noFill/>
          <a:ln/>
        </p:spPr>
        <p:txBody>
          <a:bodyPr wrap="square" rtlCol="0" anchor="ctr"/>
          <a:lstStyle/>
          <a:p>
            <a:pPr indent="0" marL="0">
              <a:buNone/>
            </a:pPr>
            <a:r>
              <a:rPr lang="en-US" sz="950" dirty="0">
                <a:solidFill>
                  <a:srgbClr val="2A3A50"/>
                </a:solidFill>
                <a:latin typeface="Arial" pitchFamily="34" charset="0"/>
                <a:ea typeface="Arial" pitchFamily="34" charset="-122"/>
                <a:cs typeface="Arial" pitchFamily="34" charset="-120"/>
              </a:rPr>
              <a:t>Fix: Use N(0,1). Forces model to trust GNN even if miscalibrated on n=32 wards.</a:t>
            </a:r>
            <a:endParaRPr lang="en-US" sz="950" dirty="0"/>
          </a:p>
        </p:txBody>
      </p:sp>
      <p:sp>
        <p:nvSpPr>
          <p:cNvPr id="21" name="Shape 19"/>
          <p:cNvSpPr/>
          <p:nvPr/>
        </p:nvSpPr>
        <p:spPr>
          <a:xfrm>
            <a:off x="274320" y="3374136"/>
            <a:ext cx="822960" cy="685800"/>
          </a:xfrm>
          <a:prstGeom prst="rect">
            <a:avLst/>
          </a:prstGeom>
          <a:solidFill>
            <a:srgbClr val="B7770D"/>
          </a:solidFill>
          <a:ln w="12700">
            <a:solidFill>
              <a:srgbClr val="B7770D"/>
            </a:solidFill>
            <a:prstDash val="solid"/>
          </a:ln>
        </p:spPr>
      </p:sp>
      <p:sp>
        <p:nvSpPr>
          <p:cNvPr id="22" name="Text 20"/>
          <p:cNvSpPr/>
          <p:nvPr/>
        </p:nvSpPr>
        <p:spPr>
          <a:xfrm>
            <a:off x="274320" y="3374136"/>
            <a:ext cx="822960" cy="68580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WARN</a:t>
            </a:r>
            <a:endParaRPr lang="en-US" sz="800" dirty="0"/>
          </a:p>
        </p:txBody>
      </p:sp>
      <p:sp>
        <p:nvSpPr>
          <p:cNvPr id="23" name="Shape 21"/>
          <p:cNvSpPr/>
          <p:nvPr/>
        </p:nvSpPr>
        <p:spPr>
          <a:xfrm>
            <a:off x="1170432" y="3374136"/>
            <a:ext cx="7680960" cy="685800"/>
          </a:xfrm>
          <a:prstGeom prst="rect">
            <a:avLst/>
          </a:prstGeom>
          <a:solidFill>
            <a:srgbClr val="FEFAF8"/>
          </a:solidFill>
          <a:ln w="5080">
            <a:solidFill>
              <a:srgbClr val="D8C8C0"/>
            </a:solidFill>
            <a:prstDash val="solid"/>
          </a:ln>
        </p:spPr>
      </p:sp>
      <p:sp>
        <p:nvSpPr>
          <p:cNvPr id="24" name="Text 22"/>
          <p:cNvSpPr/>
          <p:nvPr/>
        </p:nvSpPr>
        <p:spPr>
          <a:xfrm>
            <a:off x="1298448" y="3429000"/>
            <a:ext cx="7406640" cy="237744"/>
          </a:xfrm>
          <a:prstGeom prst="rect">
            <a:avLst/>
          </a:prstGeom>
          <a:noFill/>
          <a:ln/>
        </p:spPr>
        <p:txBody>
          <a:bodyPr wrap="square" rtlCol="0" anchor="ctr"/>
          <a:lstStyle/>
          <a:p>
            <a:pPr indent="0" marL="0">
              <a:buNone/>
            </a:pPr>
            <a:r>
              <a:rPr lang="en-US" sz="1100" b="1" dirty="0">
                <a:solidFill>
                  <a:srgbClr val="121C2B"/>
                </a:solidFill>
                <a:latin typeface="Arial" pitchFamily="34" charset="0"/>
                <a:ea typeface="Arial" pitchFamily="34" charset="-122"/>
                <a:cs typeface="Arial" pitchFamily="34" charset="-120"/>
              </a:rPr>
              <a:t>target_accept=0.99</a:t>
            </a:r>
            <a:endParaRPr lang="en-US" sz="1100" dirty="0"/>
          </a:p>
        </p:txBody>
      </p:sp>
      <p:sp>
        <p:nvSpPr>
          <p:cNvPr id="25" name="Text 23"/>
          <p:cNvSpPr/>
          <p:nvPr/>
        </p:nvSpPr>
        <p:spPr>
          <a:xfrm>
            <a:off x="1298448" y="3703320"/>
            <a:ext cx="7406640" cy="292608"/>
          </a:xfrm>
          <a:prstGeom prst="rect">
            <a:avLst/>
          </a:prstGeom>
          <a:noFill/>
          <a:ln/>
        </p:spPr>
        <p:txBody>
          <a:bodyPr wrap="square" rtlCol="0" anchor="ctr"/>
          <a:lstStyle/>
          <a:p>
            <a:pPr indent="0" marL="0">
              <a:buNone/>
            </a:pPr>
            <a:r>
              <a:rPr lang="en-US" sz="950" dirty="0">
                <a:solidFill>
                  <a:srgbClr val="2A3A50"/>
                </a:solidFill>
                <a:latin typeface="Arial" pitchFamily="34" charset="0"/>
                <a:ea typeface="Arial" pitchFamily="34" charset="-122"/>
                <a:cs typeface="Arial" pitchFamily="34" charset="-120"/>
              </a:rPr>
              <a:t>Fix: Use 0.90. 0.99 forces tiny step sizes → effective sample size collapses.</a:t>
            </a:r>
            <a:endParaRPr lang="en-US" sz="950" dirty="0"/>
          </a:p>
        </p:txBody>
      </p:sp>
      <p:sp>
        <p:nvSpPr>
          <p:cNvPr id="26" name="Shape 24"/>
          <p:cNvSpPr/>
          <p:nvPr/>
        </p:nvSpPr>
        <p:spPr>
          <a:xfrm>
            <a:off x="274320" y="4178808"/>
            <a:ext cx="822960" cy="685800"/>
          </a:xfrm>
          <a:prstGeom prst="rect">
            <a:avLst/>
          </a:prstGeom>
          <a:solidFill>
            <a:srgbClr val="B7770D"/>
          </a:solidFill>
          <a:ln w="12700">
            <a:solidFill>
              <a:srgbClr val="B7770D"/>
            </a:solidFill>
            <a:prstDash val="solid"/>
          </a:ln>
        </p:spPr>
      </p:sp>
      <p:sp>
        <p:nvSpPr>
          <p:cNvPr id="27" name="Text 25"/>
          <p:cNvSpPr/>
          <p:nvPr/>
        </p:nvSpPr>
        <p:spPr>
          <a:xfrm>
            <a:off x="274320" y="4178808"/>
            <a:ext cx="822960" cy="68580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WARN</a:t>
            </a:r>
            <a:endParaRPr lang="en-US" sz="800" dirty="0"/>
          </a:p>
        </p:txBody>
      </p:sp>
      <p:sp>
        <p:nvSpPr>
          <p:cNvPr id="28" name="Shape 26"/>
          <p:cNvSpPr/>
          <p:nvPr/>
        </p:nvSpPr>
        <p:spPr>
          <a:xfrm>
            <a:off x="1170432" y="4178808"/>
            <a:ext cx="7680960" cy="685800"/>
          </a:xfrm>
          <a:prstGeom prst="rect">
            <a:avLst/>
          </a:prstGeom>
          <a:solidFill>
            <a:srgbClr val="FEF8F8"/>
          </a:solidFill>
          <a:ln w="5080">
            <a:solidFill>
              <a:srgbClr val="D8C8C0"/>
            </a:solidFill>
            <a:prstDash val="solid"/>
          </a:ln>
        </p:spPr>
      </p:sp>
      <p:sp>
        <p:nvSpPr>
          <p:cNvPr id="29" name="Text 27"/>
          <p:cNvSpPr/>
          <p:nvPr/>
        </p:nvSpPr>
        <p:spPr>
          <a:xfrm>
            <a:off x="1298448" y="4233672"/>
            <a:ext cx="7406640" cy="237744"/>
          </a:xfrm>
          <a:prstGeom prst="rect">
            <a:avLst/>
          </a:prstGeom>
          <a:noFill/>
          <a:ln/>
        </p:spPr>
        <p:txBody>
          <a:bodyPr wrap="square" rtlCol="0" anchor="ctr"/>
          <a:lstStyle/>
          <a:p>
            <a:pPr indent="0" marL="0">
              <a:buNone/>
            </a:pPr>
            <a:r>
              <a:rPr lang="en-US" sz="1100" b="1" dirty="0">
                <a:solidFill>
                  <a:srgbClr val="121C2B"/>
                </a:solidFill>
                <a:latin typeface="Arial" pitchFamily="34" charset="0"/>
                <a:ea typeface="Arial" pitchFamily="34" charset="-122"/>
                <a:cs typeface="Arial" pitchFamily="34" charset="-120"/>
              </a:rPr>
              <a:t>No spatial CV on GNN</a:t>
            </a:r>
            <a:endParaRPr lang="en-US" sz="1100" dirty="0"/>
          </a:p>
        </p:txBody>
      </p:sp>
      <p:sp>
        <p:nvSpPr>
          <p:cNvPr id="30" name="Text 28"/>
          <p:cNvSpPr/>
          <p:nvPr/>
        </p:nvSpPr>
        <p:spPr>
          <a:xfrm>
            <a:off x="1298448" y="4507992"/>
            <a:ext cx="7406640" cy="292608"/>
          </a:xfrm>
          <a:prstGeom prst="rect">
            <a:avLst/>
          </a:prstGeom>
          <a:noFill/>
          <a:ln/>
        </p:spPr>
        <p:txBody>
          <a:bodyPr wrap="square" rtlCol="0" anchor="ctr"/>
          <a:lstStyle/>
          <a:p>
            <a:pPr indent="0" marL="0">
              <a:buNone/>
            </a:pPr>
            <a:r>
              <a:rPr lang="en-US" sz="950" dirty="0">
                <a:solidFill>
                  <a:srgbClr val="2A3A50"/>
                </a:solidFill>
                <a:latin typeface="Arial" pitchFamily="34" charset="0"/>
                <a:ea typeface="Arial" pitchFamily="34" charset="-122"/>
                <a:cs typeface="Arial" pitchFamily="34" charset="-120"/>
              </a:rPr>
              <a:t>Fix: LOO-CV: 32 fits on 31 wards. In-sample predictions double-dip and inflate confidence.</a:t>
            </a:r>
            <a:endParaRPr lang="en-US" sz="950" dirty="0"/>
          </a:p>
        </p:txBody>
      </p:sp>
      <p:sp>
        <p:nvSpPr>
          <p:cNvPr id="31" name="Text 29"/>
          <p:cNvSpPr/>
          <p:nvPr/>
        </p:nvSpPr>
        <p:spPr>
          <a:xfrm>
            <a:off x="8412480" y="4869180"/>
            <a:ext cx="640080" cy="201168"/>
          </a:xfrm>
          <a:prstGeom prst="rect">
            <a:avLst/>
          </a:prstGeom>
          <a:noFill/>
          <a:ln/>
        </p:spPr>
        <p:txBody>
          <a:bodyPr wrap="square" rtlCol="0" anchor="ctr"/>
          <a:lstStyle/>
          <a:p>
            <a:pPr algn="r" indent="0" marL="0">
              <a:buNone/>
            </a:pPr>
            <a:r>
              <a:rPr lang="en-US" sz="900" dirty="0">
                <a:solidFill>
                  <a:srgbClr val="5A6272"/>
                </a:solidFill>
                <a:latin typeface="Arial" pitchFamily="34" charset="0"/>
                <a:ea typeface="Arial" pitchFamily="34" charset="-122"/>
                <a:cs typeface="Arial" pitchFamily="34" charset="-120"/>
              </a:rPr>
              <a:t>8 / 16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B1F3A"/>
          </a:solidFill>
          <a:ln w="12700">
            <a:solidFill>
              <a:srgbClr val="0B1F3A"/>
            </a:solidFill>
            <a:prstDash val="solid"/>
          </a:ln>
        </p:spPr>
      </p:sp>
      <p:sp>
        <p:nvSpPr>
          <p:cNvPr id="3" name="Text 1"/>
          <p:cNvSpPr/>
          <p:nvPr/>
        </p:nvSpPr>
        <p:spPr>
          <a:xfrm>
            <a:off x="228600" y="73152"/>
            <a:ext cx="8686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Spatial model selection hierarchy</a:t>
            </a:r>
            <a:endParaRPr lang="en-US" sz="2200" dirty="0"/>
          </a:p>
        </p:txBody>
      </p:sp>
      <p:sp>
        <p:nvSpPr>
          <p:cNvPr id="4" name="Text 2"/>
          <p:cNvSpPr/>
          <p:nvPr/>
        </p:nvSpPr>
        <p:spPr>
          <a:xfrm>
            <a:off x="228600" y="512064"/>
            <a:ext cx="8686800" cy="256032"/>
          </a:xfrm>
          <a:prstGeom prst="rect">
            <a:avLst/>
          </a:prstGeom>
          <a:noFill/>
          <a:ln/>
        </p:spPr>
        <p:txBody>
          <a:bodyPr wrap="square" rtlCol="0" anchor="ctr"/>
          <a:lstStyle/>
          <a:p>
            <a:pPr indent="0" marL="0">
              <a:buNone/>
            </a:pPr>
            <a:r>
              <a:rPr lang="en-US" sz="1100" dirty="0">
                <a:solidFill>
                  <a:srgbClr val="A0C0E0"/>
                </a:solidFill>
                <a:latin typeface="Arial" pitchFamily="34" charset="0"/>
                <a:ea typeface="Arial" pitchFamily="34" charset="-122"/>
                <a:cs typeface="Arial" pitchFamily="34" charset="-120"/>
              </a:rPr>
              <a:t>OLS → LM tests → SLM/SEM → GWR → BYM2</a:t>
            </a:r>
            <a:endParaRPr lang="en-US" sz="1100" dirty="0"/>
          </a:p>
        </p:txBody>
      </p:sp>
      <p:sp>
        <p:nvSpPr>
          <p:cNvPr id="5" name="Shape 3"/>
          <p:cNvSpPr/>
          <p:nvPr/>
        </p:nvSpPr>
        <p:spPr>
          <a:xfrm>
            <a:off x="0" y="777240"/>
            <a:ext cx="9144000" cy="0"/>
          </a:xfrm>
          <a:prstGeom prst="line">
            <a:avLst/>
          </a:prstGeom>
          <a:noFill/>
          <a:ln w="38100">
            <a:solidFill>
              <a:srgbClr val="D4A820"/>
            </a:solidFill>
            <a:prstDash val="solid"/>
          </a:ln>
        </p:spPr>
      </p:sp>
      <p:sp>
        <p:nvSpPr>
          <p:cNvPr id="6" name="Shape 4"/>
          <p:cNvSpPr/>
          <p:nvPr/>
        </p:nvSpPr>
        <p:spPr>
          <a:xfrm>
            <a:off x="274320" y="960120"/>
            <a:ext cx="1280160" cy="594360"/>
          </a:xfrm>
          <a:prstGeom prst="rect">
            <a:avLst/>
          </a:prstGeom>
          <a:solidFill>
            <a:srgbClr val="888888"/>
          </a:solidFill>
          <a:ln w="12700">
            <a:solidFill>
              <a:srgbClr val="888888"/>
            </a:solidFill>
            <a:prstDash val="solid"/>
          </a:ln>
        </p:spPr>
      </p:sp>
      <p:sp>
        <p:nvSpPr>
          <p:cNvPr id="7" name="Text 5"/>
          <p:cNvSpPr/>
          <p:nvPr/>
        </p:nvSpPr>
        <p:spPr>
          <a:xfrm>
            <a:off x="274320" y="960120"/>
            <a:ext cx="8229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OLS</a:t>
            </a:r>
            <a:endParaRPr lang="en-US" sz="1600" dirty="0"/>
          </a:p>
        </p:txBody>
      </p:sp>
      <p:sp>
        <p:nvSpPr>
          <p:cNvPr id="8" name="Text 6"/>
          <p:cNvSpPr/>
          <p:nvPr/>
        </p:nvSpPr>
        <p:spPr>
          <a:xfrm>
            <a:off x="274320" y="1307592"/>
            <a:ext cx="1280160" cy="228600"/>
          </a:xfrm>
          <a:prstGeom prst="rect">
            <a:avLst/>
          </a:prstGeom>
          <a:noFill/>
          <a:ln/>
        </p:spPr>
        <p:txBody>
          <a:bodyPr wrap="square" rtlCol="0" anchor="ctr"/>
          <a:lstStyle/>
          <a:p>
            <a:pPr algn="ctr" indent="0" marL="0">
              <a:buNone/>
            </a:pPr>
            <a:r>
              <a:rPr lang="en-US" sz="900" dirty="0">
                <a:solidFill>
                  <a:srgbClr val="D0D8E8"/>
                </a:solidFill>
                <a:latin typeface="Arial" pitchFamily="34" charset="0"/>
                <a:ea typeface="Arial" pitchFamily="34" charset="-122"/>
                <a:cs typeface="Arial" pitchFamily="34" charset="-120"/>
              </a:rPr>
              <a:t>Benchmark</a:t>
            </a:r>
            <a:endParaRPr lang="en-US" sz="900" dirty="0"/>
          </a:p>
        </p:txBody>
      </p:sp>
      <p:sp>
        <p:nvSpPr>
          <p:cNvPr id="9" name="Shape 7"/>
          <p:cNvSpPr/>
          <p:nvPr/>
        </p:nvSpPr>
        <p:spPr>
          <a:xfrm>
            <a:off x="1627632" y="960120"/>
            <a:ext cx="7223760" cy="594360"/>
          </a:xfrm>
          <a:prstGeom prst="rect">
            <a:avLst/>
          </a:prstGeom>
          <a:solidFill>
            <a:srgbClr val="FFFFFF"/>
          </a:solidFill>
          <a:ln w="3810">
            <a:solidFill>
              <a:srgbClr val="C0D0E0"/>
            </a:solidFill>
            <a:prstDash val="solid"/>
          </a:ln>
        </p:spPr>
      </p:sp>
      <p:sp>
        <p:nvSpPr>
          <p:cNvPr id="10" name="Text 8"/>
          <p:cNvSpPr/>
          <p:nvPr/>
        </p:nvSpPr>
        <p:spPr>
          <a:xfrm>
            <a:off x="1755648" y="1051560"/>
            <a:ext cx="6949440" cy="411480"/>
          </a:xfrm>
          <a:prstGeom prst="rect">
            <a:avLst/>
          </a:prstGeom>
          <a:noFill/>
          <a:ln/>
        </p:spPr>
        <p:txBody>
          <a:bodyPr wrap="square" rtlCol="0" anchor="ctr"/>
          <a:lstStyle/>
          <a:p>
            <a:pPr indent="0" marL="0">
              <a:buNone/>
            </a:pPr>
            <a:r>
              <a:rPr lang="en-US" sz="1000" dirty="0">
                <a:solidFill>
                  <a:srgbClr val="121C2B"/>
                </a:solidFill>
                <a:latin typeface="Arial" pitchFamily="34" charset="0"/>
                <a:ea typeface="Arial" pitchFamily="34" charset="-122"/>
                <a:cs typeface="Arial" pitchFamily="34" charset="-120"/>
              </a:rPr>
              <a:t>Always run first. Check LM tests on residuals.</a:t>
            </a:r>
            <a:endParaRPr lang="en-US" sz="1000" dirty="0"/>
          </a:p>
        </p:txBody>
      </p:sp>
      <p:sp>
        <p:nvSpPr>
          <p:cNvPr id="11" name="Shape 9"/>
          <p:cNvSpPr/>
          <p:nvPr/>
        </p:nvSpPr>
        <p:spPr>
          <a:xfrm>
            <a:off x="914400" y="1554480"/>
            <a:ext cx="0" cy="201168"/>
          </a:xfrm>
          <a:prstGeom prst="line">
            <a:avLst/>
          </a:prstGeom>
          <a:noFill/>
          <a:ln w="19050">
            <a:solidFill>
              <a:srgbClr val="D4A820"/>
            </a:solidFill>
            <a:prstDash val="dash"/>
          </a:ln>
        </p:spPr>
      </p:sp>
      <p:sp>
        <p:nvSpPr>
          <p:cNvPr id="12" name="Shape 10"/>
          <p:cNvSpPr/>
          <p:nvPr/>
        </p:nvSpPr>
        <p:spPr>
          <a:xfrm>
            <a:off x="274320" y="1691640"/>
            <a:ext cx="1280160" cy="594360"/>
          </a:xfrm>
          <a:prstGeom prst="rect">
            <a:avLst/>
          </a:prstGeom>
          <a:solidFill>
            <a:srgbClr val="1A4A8A"/>
          </a:solidFill>
          <a:ln w="12700">
            <a:solidFill>
              <a:srgbClr val="1A4A8A"/>
            </a:solidFill>
            <a:prstDash val="solid"/>
          </a:ln>
        </p:spPr>
      </p:sp>
      <p:sp>
        <p:nvSpPr>
          <p:cNvPr id="13" name="Text 11"/>
          <p:cNvSpPr/>
          <p:nvPr/>
        </p:nvSpPr>
        <p:spPr>
          <a:xfrm>
            <a:off x="274320" y="1691640"/>
            <a:ext cx="8229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SLM</a:t>
            </a:r>
            <a:endParaRPr lang="en-US" sz="1600" dirty="0"/>
          </a:p>
        </p:txBody>
      </p:sp>
      <p:sp>
        <p:nvSpPr>
          <p:cNvPr id="14" name="Text 12"/>
          <p:cNvSpPr/>
          <p:nvPr/>
        </p:nvSpPr>
        <p:spPr>
          <a:xfrm>
            <a:off x="274320" y="2039112"/>
            <a:ext cx="1280160" cy="228600"/>
          </a:xfrm>
          <a:prstGeom prst="rect">
            <a:avLst/>
          </a:prstGeom>
          <a:noFill/>
          <a:ln/>
        </p:spPr>
        <p:txBody>
          <a:bodyPr wrap="square" rtlCol="0" anchor="ctr"/>
          <a:lstStyle/>
          <a:p>
            <a:pPr algn="ctr" indent="0" marL="0">
              <a:buNone/>
            </a:pPr>
            <a:r>
              <a:rPr lang="en-US" sz="900" dirty="0">
                <a:solidFill>
                  <a:srgbClr val="D0D8E8"/>
                </a:solidFill>
                <a:latin typeface="Arial" pitchFamily="34" charset="0"/>
                <a:ea typeface="Arial" pitchFamily="34" charset="-122"/>
                <a:cs typeface="Arial" pitchFamily="34" charset="-120"/>
              </a:rPr>
              <a:t>Spatial Lag</a:t>
            </a:r>
            <a:endParaRPr lang="en-US" sz="900" dirty="0"/>
          </a:p>
        </p:txBody>
      </p:sp>
      <p:sp>
        <p:nvSpPr>
          <p:cNvPr id="15" name="Shape 13"/>
          <p:cNvSpPr/>
          <p:nvPr/>
        </p:nvSpPr>
        <p:spPr>
          <a:xfrm>
            <a:off x="1627632" y="1691640"/>
            <a:ext cx="7223760" cy="594360"/>
          </a:xfrm>
          <a:prstGeom prst="rect">
            <a:avLst/>
          </a:prstGeom>
          <a:solidFill>
            <a:srgbClr val="F4F6F9"/>
          </a:solidFill>
          <a:ln w="3810">
            <a:solidFill>
              <a:srgbClr val="C0D0E0"/>
            </a:solidFill>
            <a:prstDash val="solid"/>
          </a:ln>
        </p:spPr>
      </p:sp>
      <p:sp>
        <p:nvSpPr>
          <p:cNvPr id="16" name="Text 14"/>
          <p:cNvSpPr/>
          <p:nvPr/>
        </p:nvSpPr>
        <p:spPr>
          <a:xfrm>
            <a:off x="1755648" y="1783080"/>
            <a:ext cx="6949440" cy="411480"/>
          </a:xfrm>
          <a:prstGeom prst="rect">
            <a:avLst/>
          </a:prstGeom>
          <a:noFill/>
          <a:ln/>
        </p:spPr>
        <p:txBody>
          <a:bodyPr wrap="square" rtlCol="0" anchor="ctr"/>
          <a:lstStyle/>
          <a:p>
            <a:pPr indent="0" marL="0">
              <a:buNone/>
            </a:pPr>
            <a:r>
              <a:rPr lang="en-US" sz="1000" dirty="0">
                <a:solidFill>
                  <a:srgbClr val="121C2B"/>
                </a:solidFill>
                <a:latin typeface="Arial" pitchFamily="34" charset="0"/>
                <a:ea typeface="Arial" pitchFamily="34" charset="-122"/>
                <a:cs typeface="Arial" pitchFamily="34" charset="-120"/>
              </a:rPr>
              <a:t>LM-Lag sig &amp; RLM-Lag &gt; RLM-Error. ρ captures spillover.</a:t>
            </a:r>
            <a:endParaRPr lang="en-US" sz="1000" dirty="0"/>
          </a:p>
        </p:txBody>
      </p:sp>
      <p:sp>
        <p:nvSpPr>
          <p:cNvPr id="17" name="Shape 15"/>
          <p:cNvSpPr/>
          <p:nvPr/>
        </p:nvSpPr>
        <p:spPr>
          <a:xfrm>
            <a:off x="914400" y="2286000"/>
            <a:ext cx="0" cy="201168"/>
          </a:xfrm>
          <a:prstGeom prst="line">
            <a:avLst/>
          </a:prstGeom>
          <a:noFill/>
          <a:ln w="19050">
            <a:solidFill>
              <a:srgbClr val="D4A820"/>
            </a:solidFill>
            <a:prstDash val="dash"/>
          </a:ln>
        </p:spPr>
      </p:sp>
      <p:sp>
        <p:nvSpPr>
          <p:cNvPr id="18" name="Shape 16"/>
          <p:cNvSpPr/>
          <p:nvPr/>
        </p:nvSpPr>
        <p:spPr>
          <a:xfrm>
            <a:off x="274320" y="2423160"/>
            <a:ext cx="1280160" cy="594360"/>
          </a:xfrm>
          <a:prstGeom prst="rect">
            <a:avLst/>
          </a:prstGeom>
          <a:solidFill>
            <a:srgbClr val="6A3090"/>
          </a:solidFill>
          <a:ln w="12700">
            <a:solidFill>
              <a:srgbClr val="6A3090"/>
            </a:solidFill>
            <a:prstDash val="solid"/>
          </a:ln>
        </p:spPr>
      </p:sp>
      <p:sp>
        <p:nvSpPr>
          <p:cNvPr id="19" name="Text 17"/>
          <p:cNvSpPr/>
          <p:nvPr/>
        </p:nvSpPr>
        <p:spPr>
          <a:xfrm>
            <a:off x="274320" y="2423160"/>
            <a:ext cx="8229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SEM</a:t>
            </a:r>
            <a:endParaRPr lang="en-US" sz="1600" dirty="0"/>
          </a:p>
        </p:txBody>
      </p:sp>
      <p:sp>
        <p:nvSpPr>
          <p:cNvPr id="20" name="Text 18"/>
          <p:cNvSpPr/>
          <p:nvPr/>
        </p:nvSpPr>
        <p:spPr>
          <a:xfrm>
            <a:off x="274320" y="2770632"/>
            <a:ext cx="1280160" cy="228600"/>
          </a:xfrm>
          <a:prstGeom prst="rect">
            <a:avLst/>
          </a:prstGeom>
          <a:noFill/>
          <a:ln/>
        </p:spPr>
        <p:txBody>
          <a:bodyPr wrap="square" rtlCol="0" anchor="ctr"/>
          <a:lstStyle/>
          <a:p>
            <a:pPr algn="ctr" indent="0" marL="0">
              <a:buNone/>
            </a:pPr>
            <a:r>
              <a:rPr lang="en-US" sz="900" dirty="0">
                <a:solidFill>
                  <a:srgbClr val="D0D8E8"/>
                </a:solidFill>
                <a:latin typeface="Arial" pitchFamily="34" charset="0"/>
                <a:ea typeface="Arial" pitchFamily="34" charset="-122"/>
                <a:cs typeface="Arial" pitchFamily="34" charset="-120"/>
              </a:rPr>
              <a:t>Spatial Error</a:t>
            </a:r>
            <a:endParaRPr lang="en-US" sz="900" dirty="0"/>
          </a:p>
        </p:txBody>
      </p:sp>
      <p:sp>
        <p:nvSpPr>
          <p:cNvPr id="21" name="Shape 19"/>
          <p:cNvSpPr/>
          <p:nvPr/>
        </p:nvSpPr>
        <p:spPr>
          <a:xfrm>
            <a:off x="1627632" y="2423160"/>
            <a:ext cx="7223760" cy="594360"/>
          </a:xfrm>
          <a:prstGeom prst="rect">
            <a:avLst/>
          </a:prstGeom>
          <a:solidFill>
            <a:srgbClr val="FFFFFF"/>
          </a:solidFill>
          <a:ln w="3810">
            <a:solidFill>
              <a:srgbClr val="C0D0E0"/>
            </a:solidFill>
            <a:prstDash val="solid"/>
          </a:ln>
        </p:spPr>
      </p:sp>
      <p:sp>
        <p:nvSpPr>
          <p:cNvPr id="22" name="Text 20"/>
          <p:cNvSpPr/>
          <p:nvPr/>
        </p:nvSpPr>
        <p:spPr>
          <a:xfrm>
            <a:off x="1755648" y="2514600"/>
            <a:ext cx="6949440" cy="411480"/>
          </a:xfrm>
          <a:prstGeom prst="rect">
            <a:avLst/>
          </a:prstGeom>
          <a:noFill/>
          <a:ln/>
        </p:spPr>
        <p:txBody>
          <a:bodyPr wrap="square" rtlCol="0" anchor="ctr"/>
          <a:lstStyle/>
          <a:p>
            <a:pPr indent="0" marL="0">
              <a:buNone/>
            </a:pPr>
            <a:r>
              <a:rPr lang="en-US" sz="1000" dirty="0">
                <a:solidFill>
                  <a:srgbClr val="121C2B"/>
                </a:solidFill>
                <a:latin typeface="Arial" pitchFamily="34" charset="0"/>
                <a:ea typeface="Arial" pitchFamily="34" charset="-122"/>
                <a:cs typeface="Arial" pitchFamily="34" charset="-120"/>
              </a:rPr>
              <a:t>LM-Error sig &amp; RLM-Error &gt; RLM-Lag. λ absorbs confounders.</a:t>
            </a:r>
            <a:endParaRPr lang="en-US" sz="1000" dirty="0"/>
          </a:p>
        </p:txBody>
      </p:sp>
      <p:sp>
        <p:nvSpPr>
          <p:cNvPr id="23" name="Shape 21"/>
          <p:cNvSpPr/>
          <p:nvPr/>
        </p:nvSpPr>
        <p:spPr>
          <a:xfrm>
            <a:off x="914400" y="3017520"/>
            <a:ext cx="0" cy="201168"/>
          </a:xfrm>
          <a:prstGeom prst="line">
            <a:avLst/>
          </a:prstGeom>
          <a:noFill/>
          <a:ln w="19050">
            <a:solidFill>
              <a:srgbClr val="D4A820"/>
            </a:solidFill>
            <a:prstDash val="dash"/>
          </a:ln>
        </p:spPr>
      </p:sp>
      <p:sp>
        <p:nvSpPr>
          <p:cNvPr id="24" name="Shape 22"/>
          <p:cNvSpPr/>
          <p:nvPr/>
        </p:nvSpPr>
        <p:spPr>
          <a:xfrm>
            <a:off x="274320" y="3154680"/>
            <a:ext cx="1280160" cy="594360"/>
          </a:xfrm>
          <a:prstGeom prst="rect">
            <a:avLst/>
          </a:prstGeom>
          <a:solidFill>
            <a:srgbClr val="1A6B5A"/>
          </a:solidFill>
          <a:ln w="12700">
            <a:solidFill>
              <a:srgbClr val="1A6B5A"/>
            </a:solidFill>
            <a:prstDash val="solid"/>
          </a:ln>
        </p:spPr>
      </p:sp>
      <p:sp>
        <p:nvSpPr>
          <p:cNvPr id="25" name="Text 23"/>
          <p:cNvSpPr/>
          <p:nvPr/>
        </p:nvSpPr>
        <p:spPr>
          <a:xfrm>
            <a:off x="274320" y="3154680"/>
            <a:ext cx="8229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GWR</a:t>
            </a:r>
            <a:endParaRPr lang="en-US" sz="1600" dirty="0"/>
          </a:p>
        </p:txBody>
      </p:sp>
      <p:sp>
        <p:nvSpPr>
          <p:cNvPr id="26" name="Text 24"/>
          <p:cNvSpPr/>
          <p:nvPr/>
        </p:nvSpPr>
        <p:spPr>
          <a:xfrm>
            <a:off x="274320" y="3502152"/>
            <a:ext cx="1280160" cy="228600"/>
          </a:xfrm>
          <a:prstGeom prst="rect">
            <a:avLst/>
          </a:prstGeom>
          <a:noFill/>
          <a:ln/>
        </p:spPr>
        <p:txBody>
          <a:bodyPr wrap="square" rtlCol="0" anchor="ctr"/>
          <a:lstStyle/>
          <a:p>
            <a:pPr algn="ctr" indent="0" marL="0">
              <a:buNone/>
            </a:pPr>
            <a:r>
              <a:rPr lang="en-US" sz="900" dirty="0">
                <a:solidFill>
                  <a:srgbClr val="D0D8E8"/>
                </a:solidFill>
                <a:latin typeface="Arial" pitchFamily="34" charset="0"/>
                <a:ea typeface="Arial" pitchFamily="34" charset="-122"/>
                <a:cs typeface="Arial" pitchFamily="34" charset="-120"/>
              </a:rPr>
              <a:t>Local coefficients</a:t>
            </a:r>
            <a:endParaRPr lang="en-US" sz="900" dirty="0"/>
          </a:p>
        </p:txBody>
      </p:sp>
      <p:sp>
        <p:nvSpPr>
          <p:cNvPr id="27" name="Shape 25"/>
          <p:cNvSpPr/>
          <p:nvPr/>
        </p:nvSpPr>
        <p:spPr>
          <a:xfrm>
            <a:off x="1627632" y="3154680"/>
            <a:ext cx="7223760" cy="594360"/>
          </a:xfrm>
          <a:prstGeom prst="rect">
            <a:avLst/>
          </a:prstGeom>
          <a:solidFill>
            <a:srgbClr val="F4F6F9"/>
          </a:solidFill>
          <a:ln w="3810">
            <a:solidFill>
              <a:srgbClr val="C0D0E0"/>
            </a:solidFill>
            <a:prstDash val="solid"/>
          </a:ln>
        </p:spPr>
      </p:sp>
      <p:sp>
        <p:nvSpPr>
          <p:cNvPr id="28" name="Text 26"/>
          <p:cNvSpPr/>
          <p:nvPr/>
        </p:nvSpPr>
        <p:spPr>
          <a:xfrm>
            <a:off x="1755648" y="3246120"/>
            <a:ext cx="6949440" cy="411480"/>
          </a:xfrm>
          <a:prstGeom prst="rect">
            <a:avLst/>
          </a:prstGeom>
          <a:noFill/>
          <a:ln/>
        </p:spPr>
        <p:txBody>
          <a:bodyPr wrap="square" rtlCol="0" anchor="ctr"/>
          <a:lstStyle/>
          <a:p>
            <a:pPr indent="0" marL="0">
              <a:buNone/>
            </a:pPr>
            <a:r>
              <a:rPr lang="en-US" sz="1000" dirty="0">
                <a:solidFill>
                  <a:srgbClr val="121C2B"/>
                </a:solidFill>
                <a:latin typeface="Arial" pitchFamily="34" charset="0"/>
                <a:ea typeface="Arial" pitchFamily="34" charset="-122"/>
                <a:cs typeface="Arial" pitchFamily="34" charset="-120"/>
              </a:rPr>
              <a:t>After global model. Maps β(u,i) — does flood risk suppress opportunity uniformly?</a:t>
            </a:r>
            <a:endParaRPr lang="en-US" sz="1000" dirty="0"/>
          </a:p>
        </p:txBody>
      </p:sp>
      <p:sp>
        <p:nvSpPr>
          <p:cNvPr id="29" name="Shape 27"/>
          <p:cNvSpPr/>
          <p:nvPr/>
        </p:nvSpPr>
        <p:spPr>
          <a:xfrm>
            <a:off x="914400" y="3749040"/>
            <a:ext cx="0" cy="201168"/>
          </a:xfrm>
          <a:prstGeom prst="line">
            <a:avLst/>
          </a:prstGeom>
          <a:noFill/>
          <a:ln w="19050">
            <a:solidFill>
              <a:srgbClr val="D4A820"/>
            </a:solidFill>
            <a:prstDash val="dash"/>
          </a:ln>
        </p:spPr>
      </p:sp>
      <p:sp>
        <p:nvSpPr>
          <p:cNvPr id="30" name="Shape 28"/>
          <p:cNvSpPr/>
          <p:nvPr/>
        </p:nvSpPr>
        <p:spPr>
          <a:xfrm>
            <a:off x="274320" y="3886200"/>
            <a:ext cx="1280160" cy="594360"/>
          </a:xfrm>
          <a:prstGeom prst="rect">
            <a:avLst/>
          </a:prstGeom>
          <a:solidFill>
            <a:srgbClr val="0B1F3A"/>
          </a:solidFill>
          <a:ln w="12700">
            <a:solidFill>
              <a:srgbClr val="0B1F3A"/>
            </a:solidFill>
            <a:prstDash val="solid"/>
          </a:ln>
        </p:spPr>
      </p:sp>
      <p:sp>
        <p:nvSpPr>
          <p:cNvPr id="31" name="Text 29"/>
          <p:cNvSpPr/>
          <p:nvPr/>
        </p:nvSpPr>
        <p:spPr>
          <a:xfrm>
            <a:off x="274320" y="3886200"/>
            <a:ext cx="8229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BYM2</a:t>
            </a:r>
            <a:endParaRPr lang="en-US" sz="1600" dirty="0"/>
          </a:p>
        </p:txBody>
      </p:sp>
      <p:sp>
        <p:nvSpPr>
          <p:cNvPr id="32" name="Text 30"/>
          <p:cNvSpPr/>
          <p:nvPr/>
        </p:nvSpPr>
        <p:spPr>
          <a:xfrm>
            <a:off x="274320" y="4233672"/>
            <a:ext cx="1280160" cy="228600"/>
          </a:xfrm>
          <a:prstGeom prst="rect">
            <a:avLst/>
          </a:prstGeom>
          <a:noFill/>
          <a:ln/>
        </p:spPr>
        <p:txBody>
          <a:bodyPr wrap="square" rtlCol="0" anchor="ctr"/>
          <a:lstStyle/>
          <a:p>
            <a:pPr algn="ctr" indent="0" marL="0">
              <a:buNone/>
            </a:pPr>
            <a:r>
              <a:rPr lang="en-US" sz="900" dirty="0">
                <a:solidFill>
                  <a:srgbClr val="D0D8E8"/>
                </a:solidFill>
                <a:latin typeface="Arial" pitchFamily="34" charset="0"/>
                <a:ea typeface="Arial" pitchFamily="34" charset="-122"/>
                <a:cs typeface="Arial" pitchFamily="34" charset="-120"/>
              </a:rPr>
              <a:t>Primary model</a:t>
            </a:r>
            <a:endParaRPr lang="en-US" sz="900" dirty="0"/>
          </a:p>
        </p:txBody>
      </p:sp>
      <p:sp>
        <p:nvSpPr>
          <p:cNvPr id="33" name="Shape 31"/>
          <p:cNvSpPr/>
          <p:nvPr/>
        </p:nvSpPr>
        <p:spPr>
          <a:xfrm>
            <a:off x="1627632" y="3886200"/>
            <a:ext cx="7223760" cy="594360"/>
          </a:xfrm>
          <a:prstGeom prst="rect">
            <a:avLst/>
          </a:prstGeom>
          <a:solidFill>
            <a:srgbClr val="E8F2FA"/>
          </a:solidFill>
          <a:ln w="3810">
            <a:solidFill>
              <a:srgbClr val="C0D0E0"/>
            </a:solidFill>
            <a:prstDash val="solid"/>
          </a:ln>
        </p:spPr>
      </p:sp>
      <p:sp>
        <p:nvSpPr>
          <p:cNvPr id="34" name="Text 32"/>
          <p:cNvSpPr/>
          <p:nvPr/>
        </p:nvSpPr>
        <p:spPr>
          <a:xfrm>
            <a:off x="1755648" y="3977640"/>
            <a:ext cx="6949440" cy="411480"/>
          </a:xfrm>
          <a:prstGeom prst="rect">
            <a:avLst/>
          </a:prstGeom>
          <a:noFill/>
          <a:ln/>
        </p:spPr>
        <p:txBody>
          <a:bodyPr wrap="square" rtlCol="0" anchor="ctr"/>
          <a:lstStyle/>
          <a:p>
            <a:pPr indent="0" marL="0">
              <a:buNone/>
            </a:pPr>
            <a:r>
              <a:rPr lang="en-US" sz="1000" dirty="0">
                <a:solidFill>
                  <a:srgbClr val="121C2B"/>
                </a:solidFill>
                <a:latin typeface="Arial" pitchFamily="34" charset="0"/>
                <a:ea typeface="Arial" pitchFamily="34" charset="-122"/>
                <a:cs typeface="Arial" pitchFamily="34" charset="-120"/>
              </a:rPr>
              <a:t>Full Bayesian. φ measures spatial fraction. 95% CrI per ward. city2graph adjacency.</a:t>
            </a:r>
            <a:endParaRPr lang="en-US" sz="1000" dirty="0"/>
          </a:p>
        </p:txBody>
      </p:sp>
      <p:sp>
        <p:nvSpPr>
          <p:cNvPr id="35" name="Text 33"/>
          <p:cNvSpPr/>
          <p:nvPr/>
        </p:nvSpPr>
        <p:spPr>
          <a:xfrm>
            <a:off x="8412480" y="4869180"/>
            <a:ext cx="640080" cy="201168"/>
          </a:xfrm>
          <a:prstGeom prst="rect">
            <a:avLst/>
          </a:prstGeom>
          <a:noFill/>
          <a:ln/>
        </p:spPr>
        <p:txBody>
          <a:bodyPr wrap="square" rtlCol="0" anchor="ctr"/>
          <a:lstStyle/>
          <a:p>
            <a:pPr algn="r" indent="0" marL="0">
              <a:buNone/>
            </a:pPr>
            <a:r>
              <a:rPr lang="en-US" sz="900" dirty="0">
                <a:solidFill>
                  <a:srgbClr val="5A6272"/>
                </a:solidFill>
                <a:latin typeface="Arial" pitchFamily="34" charset="0"/>
                <a:ea typeface="Arial" pitchFamily="34" charset="-122"/>
                <a:cs typeface="Arial" pitchFamily="34" charset="-120"/>
              </a:rPr>
              <a:t>9 / 16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B1F3A"/>
          </a:solidFill>
          <a:ln w="12700">
            <a:solidFill>
              <a:srgbClr val="0B1F3A"/>
            </a:solidFill>
            <a:prstDash val="solid"/>
          </a:ln>
        </p:spPr>
      </p:sp>
      <p:sp>
        <p:nvSpPr>
          <p:cNvPr id="3" name="Text 1"/>
          <p:cNvSpPr/>
          <p:nvPr/>
        </p:nvSpPr>
        <p:spPr>
          <a:xfrm>
            <a:off x="228600" y="73152"/>
            <a:ext cx="8686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Reproduction: clean pipeline</a:t>
            </a:r>
            <a:endParaRPr lang="en-US" sz="2200" dirty="0"/>
          </a:p>
        </p:txBody>
      </p:sp>
      <p:sp>
        <p:nvSpPr>
          <p:cNvPr id="4" name="Text 2"/>
          <p:cNvSpPr/>
          <p:nvPr/>
        </p:nvSpPr>
        <p:spPr>
          <a:xfrm>
            <a:off x="228600" y="512064"/>
            <a:ext cx="8686800" cy="256032"/>
          </a:xfrm>
          <a:prstGeom prst="rect">
            <a:avLst/>
          </a:prstGeom>
          <a:noFill/>
          <a:ln/>
        </p:spPr>
        <p:txBody>
          <a:bodyPr wrap="square" rtlCol="0" anchor="ctr"/>
          <a:lstStyle/>
          <a:p>
            <a:pPr indent="0" marL="0">
              <a:buNone/>
            </a:pPr>
            <a:r>
              <a:rPr lang="en-US" sz="1100" dirty="0">
                <a:solidFill>
                  <a:srgbClr val="A0C0E0"/>
                </a:solidFill>
                <a:latin typeface="Arial" pitchFamily="34" charset="0"/>
                <a:ea typeface="Arial" pitchFamily="34" charset="-122"/>
                <a:cs typeface="Arial" pitchFamily="34" charset="-120"/>
              </a:rPr>
              <a:t>11 steps in order · data requirements · environment setup</a:t>
            </a:r>
            <a:endParaRPr lang="en-US" sz="1100" dirty="0"/>
          </a:p>
        </p:txBody>
      </p:sp>
      <p:sp>
        <p:nvSpPr>
          <p:cNvPr id="5" name="Shape 3"/>
          <p:cNvSpPr/>
          <p:nvPr/>
        </p:nvSpPr>
        <p:spPr>
          <a:xfrm>
            <a:off x="0" y="777240"/>
            <a:ext cx="9144000" cy="0"/>
          </a:xfrm>
          <a:prstGeom prst="line">
            <a:avLst/>
          </a:prstGeom>
          <a:noFill/>
          <a:ln w="38100">
            <a:solidFill>
              <a:srgbClr val="D4A820"/>
            </a:solidFill>
            <a:prstDash val="solid"/>
          </a:ln>
        </p:spPr>
      </p:sp>
      <p:sp>
        <p:nvSpPr>
          <p:cNvPr id="6" name="Shape 4"/>
          <p:cNvSpPr/>
          <p:nvPr/>
        </p:nvSpPr>
        <p:spPr>
          <a:xfrm>
            <a:off x="274320" y="932688"/>
            <a:ext cx="640080" cy="310896"/>
          </a:xfrm>
          <a:prstGeom prst="rect">
            <a:avLst/>
          </a:prstGeom>
          <a:solidFill>
            <a:srgbClr val="0B1F3A"/>
          </a:solidFill>
          <a:ln w="3810">
            <a:solidFill>
              <a:srgbClr val="1A4A8A"/>
            </a:solidFill>
            <a:prstDash val="solid"/>
          </a:ln>
        </p:spPr>
      </p:sp>
      <p:sp>
        <p:nvSpPr>
          <p:cNvPr id="7" name="Text 5"/>
          <p:cNvSpPr/>
          <p:nvPr/>
        </p:nvSpPr>
        <p:spPr>
          <a:xfrm>
            <a:off x="329184" y="950976"/>
            <a:ext cx="566928" cy="27432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Step</a:t>
            </a:r>
            <a:endParaRPr lang="en-US" sz="1000" dirty="0"/>
          </a:p>
        </p:txBody>
      </p:sp>
      <p:sp>
        <p:nvSpPr>
          <p:cNvPr id="8" name="Shape 6"/>
          <p:cNvSpPr/>
          <p:nvPr/>
        </p:nvSpPr>
        <p:spPr>
          <a:xfrm>
            <a:off x="960120" y="932688"/>
            <a:ext cx="2011680" cy="310896"/>
          </a:xfrm>
          <a:prstGeom prst="rect">
            <a:avLst/>
          </a:prstGeom>
          <a:solidFill>
            <a:srgbClr val="0B1F3A"/>
          </a:solidFill>
          <a:ln w="3810">
            <a:solidFill>
              <a:srgbClr val="1A4A8A"/>
            </a:solidFill>
            <a:prstDash val="solid"/>
          </a:ln>
        </p:spPr>
      </p:sp>
      <p:sp>
        <p:nvSpPr>
          <p:cNvPr id="9" name="Text 7"/>
          <p:cNvSpPr/>
          <p:nvPr/>
        </p:nvSpPr>
        <p:spPr>
          <a:xfrm>
            <a:off x="1014984" y="950976"/>
            <a:ext cx="1938528" cy="27432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Script</a:t>
            </a:r>
            <a:endParaRPr lang="en-US" sz="1000" dirty="0"/>
          </a:p>
        </p:txBody>
      </p:sp>
      <p:sp>
        <p:nvSpPr>
          <p:cNvPr id="10" name="Shape 8"/>
          <p:cNvSpPr/>
          <p:nvPr/>
        </p:nvSpPr>
        <p:spPr>
          <a:xfrm>
            <a:off x="3017520" y="932688"/>
            <a:ext cx="6217920" cy="310896"/>
          </a:xfrm>
          <a:prstGeom prst="rect">
            <a:avLst/>
          </a:prstGeom>
          <a:solidFill>
            <a:srgbClr val="0B1F3A"/>
          </a:solidFill>
          <a:ln w="3810">
            <a:solidFill>
              <a:srgbClr val="1A4A8A"/>
            </a:solidFill>
            <a:prstDash val="solid"/>
          </a:ln>
        </p:spPr>
      </p:sp>
      <p:sp>
        <p:nvSpPr>
          <p:cNvPr id="11" name="Text 9"/>
          <p:cNvSpPr/>
          <p:nvPr/>
        </p:nvSpPr>
        <p:spPr>
          <a:xfrm>
            <a:off x="3072384" y="950976"/>
            <a:ext cx="6144768" cy="27432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Action</a:t>
            </a:r>
            <a:endParaRPr lang="en-US" sz="1000" dirty="0"/>
          </a:p>
        </p:txBody>
      </p:sp>
      <p:sp>
        <p:nvSpPr>
          <p:cNvPr id="12" name="Shape 10"/>
          <p:cNvSpPr/>
          <p:nvPr/>
        </p:nvSpPr>
        <p:spPr>
          <a:xfrm>
            <a:off x="274320" y="1261872"/>
            <a:ext cx="640080" cy="338328"/>
          </a:xfrm>
          <a:prstGeom prst="rect">
            <a:avLst/>
          </a:prstGeom>
          <a:solidFill>
            <a:srgbClr val="FFFFFF"/>
          </a:solidFill>
          <a:ln w="3810">
            <a:solidFill>
              <a:srgbClr val="C8D8E0"/>
            </a:solidFill>
            <a:prstDash val="solid"/>
          </a:ln>
        </p:spPr>
      </p:sp>
      <p:sp>
        <p:nvSpPr>
          <p:cNvPr id="13" name="Text 11"/>
          <p:cNvSpPr/>
          <p:nvPr/>
        </p:nvSpPr>
        <p:spPr>
          <a:xfrm>
            <a:off x="320040" y="1298448"/>
            <a:ext cx="566928" cy="274320"/>
          </a:xfrm>
          <a:prstGeom prst="rect">
            <a:avLst/>
          </a:prstGeom>
          <a:noFill/>
          <a:ln/>
        </p:spPr>
        <p:txBody>
          <a:bodyPr wrap="square" rtlCol="0" anchor="ctr"/>
          <a:lstStyle/>
          <a:p>
            <a:pPr indent="0" marL="0">
              <a:buNone/>
            </a:pPr>
            <a:r>
              <a:rPr lang="en-US" sz="900" b="1" dirty="0">
                <a:solidFill>
                  <a:srgbClr val="1A4A8A"/>
                </a:solidFill>
                <a:latin typeface="Arial" pitchFamily="34" charset="0"/>
                <a:ea typeface="Arial" pitchFamily="34" charset="-122"/>
                <a:cs typeface="Arial" pitchFamily="34" charset="-120"/>
              </a:rPr>
              <a:t>1–2</a:t>
            </a:r>
            <a:endParaRPr lang="en-US" sz="900" dirty="0"/>
          </a:p>
        </p:txBody>
      </p:sp>
      <p:sp>
        <p:nvSpPr>
          <p:cNvPr id="14" name="Shape 12"/>
          <p:cNvSpPr/>
          <p:nvPr/>
        </p:nvSpPr>
        <p:spPr>
          <a:xfrm>
            <a:off x="960120" y="1261872"/>
            <a:ext cx="2011680" cy="338328"/>
          </a:xfrm>
          <a:prstGeom prst="rect">
            <a:avLst/>
          </a:prstGeom>
          <a:solidFill>
            <a:srgbClr val="FFFFFF"/>
          </a:solidFill>
          <a:ln w="3810">
            <a:solidFill>
              <a:srgbClr val="C8D8E0"/>
            </a:solidFill>
            <a:prstDash val="solid"/>
          </a:ln>
        </p:spPr>
      </p:sp>
      <p:sp>
        <p:nvSpPr>
          <p:cNvPr id="15" name="Text 13"/>
          <p:cNvSpPr/>
          <p:nvPr/>
        </p:nvSpPr>
        <p:spPr>
          <a:xfrm>
            <a:off x="1005840" y="1298448"/>
            <a:ext cx="1938528" cy="274320"/>
          </a:xfrm>
          <a:prstGeom prst="rect">
            <a:avLst/>
          </a:prstGeom>
          <a:noFill/>
          <a:ln/>
        </p:spPr>
        <p:txBody>
          <a:bodyPr wrap="square" rtlCol="0" anchor="ctr"/>
          <a:lstStyle/>
          <a:p>
            <a:pPr indent="0" marL="0">
              <a:buNone/>
            </a:pPr>
            <a:r>
              <a:rPr lang="en-US" sz="900" dirty="0">
                <a:solidFill>
                  <a:srgbClr val="121C2B"/>
                </a:solidFill>
                <a:latin typeface="Courier New" pitchFamily="34" charset="0"/>
                <a:ea typeface="Courier New" pitchFamily="34" charset="-122"/>
                <a:cs typeface="Courier New" pitchFamily="34" charset="-120"/>
              </a:rPr>
              <a:t>Data acquisition</a:t>
            </a:r>
            <a:endParaRPr lang="en-US" sz="900" dirty="0"/>
          </a:p>
        </p:txBody>
      </p:sp>
      <p:sp>
        <p:nvSpPr>
          <p:cNvPr id="16" name="Shape 14"/>
          <p:cNvSpPr/>
          <p:nvPr/>
        </p:nvSpPr>
        <p:spPr>
          <a:xfrm>
            <a:off x="3017520" y="1261872"/>
            <a:ext cx="6217920" cy="338328"/>
          </a:xfrm>
          <a:prstGeom prst="rect">
            <a:avLst/>
          </a:prstGeom>
          <a:solidFill>
            <a:srgbClr val="FFFFFF"/>
          </a:solidFill>
          <a:ln w="3810">
            <a:solidFill>
              <a:srgbClr val="C8D8E0"/>
            </a:solidFill>
            <a:prstDash val="solid"/>
          </a:ln>
        </p:spPr>
      </p:sp>
      <p:sp>
        <p:nvSpPr>
          <p:cNvPr id="17" name="Text 15"/>
          <p:cNvSpPr/>
          <p:nvPr/>
        </p:nvSpPr>
        <p:spPr>
          <a:xfrm>
            <a:off x="3063240" y="1298448"/>
            <a:ext cx="6144768" cy="274320"/>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OSMnx download (internet) + GTFS zip from Open Vadodara + SRTM DEM tile</a:t>
            </a:r>
            <a:endParaRPr lang="en-US" sz="900" dirty="0"/>
          </a:p>
        </p:txBody>
      </p:sp>
      <p:sp>
        <p:nvSpPr>
          <p:cNvPr id="18" name="Shape 16"/>
          <p:cNvSpPr/>
          <p:nvPr/>
        </p:nvSpPr>
        <p:spPr>
          <a:xfrm>
            <a:off x="274320" y="1618488"/>
            <a:ext cx="640080" cy="338328"/>
          </a:xfrm>
          <a:prstGeom prst="rect">
            <a:avLst/>
          </a:prstGeom>
          <a:solidFill>
            <a:srgbClr val="F4F6F9"/>
          </a:solidFill>
          <a:ln w="3810">
            <a:solidFill>
              <a:srgbClr val="C8D8E0"/>
            </a:solidFill>
            <a:prstDash val="solid"/>
          </a:ln>
        </p:spPr>
      </p:sp>
      <p:sp>
        <p:nvSpPr>
          <p:cNvPr id="19" name="Text 17"/>
          <p:cNvSpPr/>
          <p:nvPr/>
        </p:nvSpPr>
        <p:spPr>
          <a:xfrm>
            <a:off x="320040" y="1655064"/>
            <a:ext cx="566928" cy="274320"/>
          </a:xfrm>
          <a:prstGeom prst="rect">
            <a:avLst/>
          </a:prstGeom>
          <a:noFill/>
          <a:ln/>
        </p:spPr>
        <p:txBody>
          <a:bodyPr wrap="square" rtlCol="0" anchor="ctr"/>
          <a:lstStyle/>
          <a:p>
            <a:pPr indent="0" marL="0">
              <a:buNone/>
            </a:pPr>
            <a:r>
              <a:rPr lang="en-US" sz="900" b="1" dirty="0">
                <a:solidFill>
                  <a:srgbClr val="1A4A8A"/>
                </a:solidFill>
                <a:latin typeface="Arial" pitchFamily="34" charset="0"/>
                <a:ea typeface="Arial" pitchFamily="34" charset="-122"/>
                <a:cs typeface="Arial" pitchFamily="34" charset="-120"/>
              </a:rPr>
              <a:t>3</a:t>
            </a:r>
            <a:endParaRPr lang="en-US" sz="900" dirty="0"/>
          </a:p>
        </p:txBody>
      </p:sp>
      <p:sp>
        <p:nvSpPr>
          <p:cNvPr id="20" name="Shape 18"/>
          <p:cNvSpPr/>
          <p:nvPr/>
        </p:nvSpPr>
        <p:spPr>
          <a:xfrm>
            <a:off x="960120" y="1618488"/>
            <a:ext cx="2011680" cy="338328"/>
          </a:xfrm>
          <a:prstGeom prst="rect">
            <a:avLst/>
          </a:prstGeom>
          <a:solidFill>
            <a:srgbClr val="F4F6F9"/>
          </a:solidFill>
          <a:ln w="3810">
            <a:solidFill>
              <a:srgbClr val="C8D8E0"/>
            </a:solidFill>
            <a:prstDash val="solid"/>
          </a:ln>
        </p:spPr>
      </p:sp>
      <p:sp>
        <p:nvSpPr>
          <p:cNvPr id="21" name="Text 19"/>
          <p:cNvSpPr/>
          <p:nvPr/>
        </p:nvSpPr>
        <p:spPr>
          <a:xfrm>
            <a:off x="1005840" y="1655064"/>
            <a:ext cx="1938528" cy="274320"/>
          </a:xfrm>
          <a:prstGeom prst="rect">
            <a:avLst/>
          </a:prstGeom>
          <a:noFill/>
          <a:ln/>
        </p:spPr>
        <p:txBody>
          <a:bodyPr wrap="square" rtlCol="0" anchor="ctr"/>
          <a:lstStyle/>
          <a:p>
            <a:pPr indent="0" marL="0">
              <a:buNone/>
            </a:pPr>
            <a:r>
              <a:rPr lang="en-US" sz="900" dirty="0">
                <a:solidFill>
                  <a:srgbClr val="121C2B"/>
                </a:solidFill>
                <a:latin typeface="Courier New" pitchFamily="34" charset="0"/>
                <a:ea typeface="Courier New" pitchFamily="34" charset="-122"/>
                <a:cs typeface="Courier New" pitchFamily="34" charset="-120"/>
              </a:rPr>
              <a:t>Risk assessment</a:t>
            </a:r>
            <a:endParaRPr lang="en-US" sz="900" dirty="0"/>
          </a:p>
        </p:txBody>
      </p:sp>
      <p:sp>
        <p:nvSpPr>
          <p:cNvPr id="22" name="Shape 20"/>
          <p:cNvSpPr/>
          <p:nvPr/>
        </p:nvSpPr>
        <p:spPr>
          <a:xfrm>
            <a:off x="3017520" y="1618488"/>
            <a:ext cx="6217920" cy="338328"/>
          </a:xfrm>
          <a:prstGeom prst="rect">
            <a:avLst/>
          </a:prstGeom>
          <a:solidFill>
            <a:srgbClr val="F4F6F9"/>
          </a:solidFill>
          <a:ln w="3810">
            <a:solidFill>
              <a:srgbClr val="C8D8E0"/>
            </a:solidFill>
            <a:prstDash val="solid"/>
          </a:ln>
        </p:spPr>
      </p:sp>
      <p:sp>
        <p:nvSpPr>
          <p:cNvPr id="23" name="Text 21"/>
          <p:cNvSpPr/>
          <p:nvPr/>
        </p:nvSpPr>
        <p:spPr>
          <a:xfrm>
            <a:off x="3063240" y="1655064"/>
            <a:ext cx="6144768" cy="274320"/>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04_risk_assessment.py → flood exposure % per ward</a:t>
            </a:r>
            <a:endParaRPr lang="en-US" sz="900" dirty="0"/>
          </a:p>
        </p:txBody>
      </p:sp>
      <p:sp>
        <p:nvSpPr>
          <p:cNvPr id="24" name="Shape 22"/>
          <p:cNvSpPr/>
          <p:nvPr/>
        </p:nvSpPr>
        <p:spPr>
          <a:xfrm>
            <a:off x="274320" y="1975104"/>
            <a:ext cx="640080" cy="338328"/>
          </a:xfrm>
          <a:prstGeom prst="rect">
            <a:avLst/>
          </a:prstGeom>
          <a:solidFill>
            <a:srgbClr val="FFFFFF"/>
          </a:solidFill>
          <a:ln w="3810">
            <a:solidFill>
              <a:srgbClr val="C8D8E0"/>
            </a:solidFill>
            <a:prstDash val="solid"/>
          </a:ln>
        </p:spPr>
      </p:sp>
      <p:sp>
        <p:nvSpPr>
          <p:cNvPr id="25" name="Text 23"/>
          <p:cNvSpPr/>
          <p:nvPr/>
        </p:nvSpPr>
        <p:spPr>
          <a:xfrm>
            <a:off x="320040" y="2011680"/>
            <a:ext cx="566928" cy="274320"/>
          </a:xfrm>
          <a:prstGeom prst="rect">
            <a:avLst/>
          </a:prstGeom>
          <a:noFill/>
          <a:ln/>
        </p:spPr>
        <p:txBody>
          <a:bodyPr wrap="square" rtlCol="0" anchor="ctr"/>
          <a:lstStyle/>
          <a:p>
            <a:pPr indent="0" marL="0">
              <a:buNone/>
            </a:pPr>
            <a:r>
              <a:rPr lang="en-US" sz="900" b="1" dirty="0">
                <a:solidFill>
                  <a:srgbClr val="1A4A8A"/>
                </a:solidFill>
                <a:latin typeface="Arial" pitchFamily="34" charset="0"/>
                <a:ea typeface="Arial" pitchFamily="34" charset="-122"/>
                <a:cs typeface="Arial" pitchFamily="34" charset="-120"/>
              </a:rPr>
              <a:t>4</a:t>
            </a:r>
            <a:endParaRPr lang="en-US" sz="900" dirty="0"/>
          </a:p>
        </p:txBody>
      </p:sp>
      <p:sp>
        <p:nvSpPr>
          <p:cNvPr id="26" name="Shape 24"/>
          <p:cNvSpPr/>
          <p:nvPr/>
        </p:nvSpPr>
        <p:spPr>
          <a:xfrm>
            <a:off x="960120" y="1975104"/>
            <a:ext cx="2011680" cy="338328"/>
          </a:xfrm>
          <a:prstGeom prst="rect">
            <a:avLst/>
          </a:prstGeom>
          <a:solidFill>
            <a:srgbClr val="FFFFFF"/>
          </a:solidFill>
          <a:ln w="3810">
            <a:solidFill>
              <a:srgbClr val="C8D8E0"/>
            </a:solidFill>
            <a:prstDash val="solid"/>
          </a:ln>
        </p:spPr>
      </p:sp>
      <p:sp>
        <p:nvSpPr>
          <p:cNvPr id="27" name="Text 25"/>
          <p:cNvSpPr/>
          <p:nvPr/>
        </p:nvSpPr>
        <p:spPr>
          <a:xfrm>
            <a:off x="1005840" y="2011680"/>
            <a:ext cx="1938528" cy="274320"/>
          </a:xfrm>
          <a:prstGeom prst="rect">
            <a:avLst/>
          </a:prstGeom>
          <a:noFill/>
          <a:ln/>
        </p:spPr>
        <p:txBody>
          <a:bodyPr wrap="square" rtlCol="0" anchor="ctr"/>
          <a:lstStyle/>
          <a:p>
            <a:pPr indent="0" marL="0">
              <a:buNone/>
            </a:pPr>
            <a:r>
              <a:rPr lang="en-US" sz="900" dirty="0">
                <a:solidFill>
                  <a:srgbClr val="121C2B"/>
                </a:solidFill>
                <a:latin typeface="Courier New" pitchFamily="34" charset="0"/>
                <a:ea typeface="Courier New" pitchFamily="34" charset="-122"/>
                <a:cs typeface="Courier New" pitchFamily="34" charset="-120"/>
              </a:rPr>
              <a:t>UOI composite</a:t>
            </a:r>
            <a:endParaRPr lang="en-US" sz="900" dirty="0"/>
          </a:p>
        </p:txBody>
      </p:sp>
      <p:sp>
        <p:nvSpPr>
          <p:cNvPr id="28" name="Shape 26"/>
          <p:cNvSpPr/>
          <p:nvPr/>
        </p:nvSpPr>
        <p:spPr>
          <a:xfrm>
            <a:off x="3017520" y="1975104"/>
            <a:ext cx="6217920" cy="338328"/>
          </a:xfrm>
          <a:prstGeom prst="rect">
            <a:avLst/>
          </a:prstGeom>
          <a:solidFill>
            <a:srgbClr val="FFFFFF"/>
          </a:solidFill>
          <a:ln w="3810">
            <a:solidFill>
              <a:srgbClr val="C8D8E0"/>
            </a:solidFill>
            <a:prstDash val="solid"/>
          </a:ln>
        </p:spPr>
      </p:sp>
      <p:sp>
        <p:nvSpPr>
          <p:cNvPr id="29" name="Text 27"/>
          <p:cNvSpPr/>
          <p:nvPr/>
        </p:nvSpPr>
        <p:spPr>
          <a:xfrm>
            <a:off x="3063240" y="2011680"/>
            <a:ext cx="6144768" cy="274320"/>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05_calculate_uoi.py → vadodara_final_uoi_balanced.gpkg</a:t>
            </a:r>
            <a:endParaRPr lang="en-US" sz="900" dirty="0"/>
          </a:p>
        </p:txBody>
      </p:sp>
      <p:sp>
        <p:nvSpPr>
          <p:cNvPr id="30" name="Shape 28"/>
          <p:cNvSpPr/>
          <p:nvPr/>
        </p:nvSpPr>
        <p:spPr>
          <a:xfrm>
            <a:off x="274320" y="2331720"/>
            <a:ext cx="640080" cy="338328"/>
          </a:xfrm>
          <a:prstGeom prst="rect">
            <a:avLst/>
          </a:prstGeom>
          <a:solidFill>
            <a:srgbClr val="F4F6F9"/>
          </a:solidFill>
          <a:ln w="3810">
            <a:solidFill>
              <a:srgbClr val="C8D8E0"/>
            </a:solidFill>
            <a:prstDash val="solid"/>
          </a:ln>
        </p:spPr>
      </p:sp>
      <p:sp>
        <p:nvSpPr>
          <p:cNvPr id="31" name="Text 29"/>
          <p:cNvSpPr/>
          <p:nvPr/>
        </p:nvSpPr>
        <p:spPr>
          <a:xfrm>
            <a:off x="320040" y="2368296"/>
            <a:ext cx="566928" cy="274320"/>
          </a:xfrm>
          <a:prstGeom prst="rect">
            <a:avLst/>
          </a:prstGeom>
          <a:noFill/>
          <a:ln/>
        </p:spPr>
        <p:txBody>
          <a:bodyPr wrap="square" rtlCol="0" anchor="ctr"/>
          <a:lstStyle/>
          <a:p>
            <a:pPr indent="0" marL="0">
              <a:buNone/>
            </a:pPr>
            <a:r>
              <a:rPr lang="en-US" sz="900" b="1" dirty="0">
                <a:solidFill>
                  <a:srgbClr val="1A4A8A"/>
                </a:solidFill>
                <a:latin typeface="Arial" pitchFamily="34" charset="0"/>
                <a:ea typeface="Arial" pitchFamily="34" charset="-122"/>
                <a:cs typeface="Arial" pitchFamily="34" charset="-120"/>
              </a:rPr>
              <a:t>5</a:t>
            </a:r>
            <a:endParaRPr lang="en-US" sz="900" dirty="0"/>
          </a:p>
        </p:txBody>
      </p:sp>
      <p:sp>
        <p:nvSpPr>
          <p:cNvPr id="32" name="Shape 30"/>
          <p:cNvSpPr/>
          <p:nvPr/>
        </p:nvSpPr>
        <p:spPr>
          <a:xfrm>
            <a:off x="960120" y="2331720"/>
            <a:ext cx="2011680" cy="338328"/>
          </a:xfrm>
          <a:prstGeom prst="rect">
            <a:avLst/>
          </a:prstGeom>
          <a:solidFill>
            <a:srgbClr val="F4F6F9"/>
          </a:solidFill>
          <a:ln w="3810">
            <a:solidFill>
              <a:srgbClr val="C8D8E0"/>
            </a:solidFill>
            <a:prstDash val="solid"/>
          </a:ln>
        </p:spPr>
      </p:sp>
      <p:sp>
        <p:nvSpPr>
          <p:cNvPr id="33" name="Text 31"/>
          <p:cNvSpPr/>
          <p:nvPr/>
        </p:nvSpPr>
        <p:spPr>
          <a:xfrm>
            <a:off x="1005840" y="2368296"/>
            <a:ext cx="1938528" cy="274320"/>
          </a:xfrm>
          <a:prstGeom prst="rect">
            <a:avLst/>
          </a:prstGeom>
          <a:noFill/>
          <a:ln/>
        </p:spPr>
        <p:txBody>
          <a:bodyPr wrap="square" rtlCol="0" anchor="ctr"/>
          <a:lstStyle/>
          <a:p>
            <a:pPr indent="0" marL="0">
              <a:buNone/>
            </a:pPr>
            <a:r>
              <a:rPr lang="en-US" sz="900" dirty="0">
                <a:solidFill>
                  <a:srgbClr val="121C2B"/>
                </a:solidFill>
                <a:latin typeface="Courier New" pitchFamily="34" charset="0"/>
                <a:ea typeface="Courier New" pitchFamily="34" charset="-122"/>
                <a:cs typeface="Courier New" pitchFamily="34" charset="-120"/>
              </a:rPr>
              <a:t>BYM2 data prep</a:t>
            </a:r>
            <a:endParaRPr lang="en-US" sz="900" dirty="0"/>
          </a:p>
        </p:txBody>
      </p:sp>
      <p:sp>
        <p:nvSpPr>
          <p:cNvPr id="34" name="Shape 32"/>
          <p:cNvSpPr/>
          <p:nvPr/>
        </p:nvSpPr>
        <p:spPr>
          <a:xfrm>
            <a:off x="3017520" y="2331720"/>
            <a:ext cx="6217920" cy="338328"/>
          </a:xfrm>
          <a:prstGeom prst="rect">
            <a:avLst/>
          </a:prstGeom>
          <a:solidFill>
            <a:srgbClr val="F4F6F9"/>
          </a:solidFill>
          <a:ln w="3810">
            <a:solidFill>
              <a:srgbClr val="C8D8E0"/>
            </a:solidFill>
            <a:prstDash val="solid"/>
          </a:ln>
        </p:spPr>
      </p:sp>
      <p:sp>
        <p:nvSpPr>
          <p:cNvPr id="35" name="Text 33"/>
          <p:cNvSpPr/>
          <p:nvPr/>
        </p:nvSpPr>
        <p:spPr>
          <a:xfrm>
            <a:off x="3063240" y="2368296"/>
            <a:ext cx="6144768" cy="274320"/>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05b_prepare_bym2_inputs.py → bym2_inputs.npz</a:t>
            </a:r>
            <a:endParaRPr lang="en-US" sz="900" dirty="0"/>
          </a:p>
        </p:txBody>
      </p:sp>
      <p:sp>
        <p:nvSpPr>
          <p:cNvPr id="36" name="Shape 34"/>
          <p:cNvSpPr/>
          <p:nvPr/>
        </p:nvSpPr>
        <p:spPr>
          <a:xfrm>
            <a:off x="274320" y="2688336"/>
            <a:ext cx="640080" cy="338328"/>
          </a:xfrm>
          <a:prstGeom prst="rect">
            <a:avLst/>
          </a:prstGeom>
          <a:solidFill>
            <a:srgbClr val="FFFFFF"/>
          </a:solidFill>
          <a:ln w="3810">
            <a:solidFill>
              <a:srgbClr val="C8D8E0"/>
            </a:solidFill>
            <a:prstDash val="solid"/>
          </a:ln>
        </p:spPr>
      </p:sp>
      <p:sp>
        <p:nvSpPr>
          <p:cNvPr id="37" name="Text 35"/>
          <p:cNvSpPr/>
          <p:nvPr/>
        </p:nvSpPr>
        <p:spPr>
          <a:xfrm>
            <a:off x="320040" y="2724912"/>
            <a:ext cx="566928" cy="274320"/>
          </a:xfrm>
          <a:prstGeom prst="rect">
            <a:avLst/>
          </a:prstGeom>
          <a:noFill/>
          <a:ln/>
        </p:spPr>
        <p:txBody>
          <a:bodyPr wrap="square" rtlCol="0" anchor="ctr"/>
          <a:lstStyle/>
          <a:p>
            <a:pPr indent="0" marL="0">
              <a:buNone/>
            </a:pPr>
            <a:r>
              <a:rPr lang="en-US" sz="900" b="1" dirty="0">
                <a:solidFill>
                  <a:srgbClr val="1A4A8A"/>
                </a:solidFill>
                <a:latin typeface="Arial" pitchFamily="34" charset="0"/>
                <a:ea typeface="Arial" pitchFamily="34" charset="-122"/>
                <a:cs typeface="Arial" pitchFamily="34" charset="-120"/>
              </a:rPr>
              <a:t>6</a:t>
            </a:r>
            <a:endParaRPr lang="en-US" sz="900" dirty="0"/>
          </a:p>
        </p:txBody>
      </p:sp>
      <p:sp>
        <p:nvSpPr>
          <p:cNvPr id="38" name="Shape 36"/>
          <p:cNvSpPr/>
          <p:nvPr/>
        </p:nvSpPr>
        <p:spPr>
          <a:xfrm>
            <a:off x="960120" y="2688336"/>
            <a:ext cx="2011680" cy="338328"/>
          </a:xfrm>
          <a:prstGeom prst="rect">
            <a:avLst/>
          </a:prstGeom>
          <a:solidFill>
            <a:srgbClr val="FFFFFF"/>
          </a:solidFill>
          <a:ln w="3810">
            <a:solidFill>
              <a:srgbClr val="C8D8E0"/>
            </a:solidFill>
            <a:prstDash val="solid"/>
          </a:ln>
        </p:spPr>
      </p:sp>
      <p:sp>
        <p:nvSpPr>
          <p:cNvPr id="39" name="Text 37"/>
          <p:cNvSpPr/>
          <p:nvPr/>
        </p:nvSpPr>
        <p:spPr>
          <a:xfrm>
            <a:off x="1005840" y="2724912"/>
            <a:ext cx="1938528" cy="274320"/>
          </a:xfrm>
          <a:prstGeom prst="rect">
            <a:avLst/>
          </a:prstGeom>
          <a:noFill/>
          <a:ln/>
        </p:spPr>
        <p:txBody>
          <a:bodyPr wrap="square" rtlCol="0" anchor="ctr"/>
          <a:lstStyle/>
          <a:p>
            <a:pPr indent="0" marL="0">
              <a:buNone/>
            </a:pPr>
            <a:r>
              <a:rPr lang="en-US" sz="900" dirty="0">
                <a:solidFill>
                  <a:srgbClr val="121C2B"/>
                </a:solidFill>
                <a:latin typeface="Courier New" pitchFamily="34" charset="0"/>
                <a:ea typeface="Courier New" pitchFamily="34" charset="-122"/>
                <a:cs typeface="Courier New" pitchFamily="34" charset="-120"/>
              </a:rPr>
              <a:t>city2graph graphs</a:t>
            </a:r>
            <a:endParaRPr lang="en-US" sz="900" dirty="0"/>
          </a:p>
        </p:txBody>
      </p:sp>
      <p:sp>
        <p:nvSpPr>
          <p:cNvPr id="40" name="Shape 38"/>
          <p:cNvSpPr/>
          <p:nvPr/>
        </p:nvSpPr>
        <p:spPr>
          <a:xfrm>
            <a:off x="3017520" y="2688336"/>
            <a:ext cx="6217920" cy="338328"/>
          </a:xfrm>
          <a:prstGeom prst="rect">
            <a:avLst/>
          </a:prstGeom>
          <a:solidFill>
            <a:srgbClr val="FFFFFF"/>
          </a:solidFill>
          <a:ln w="3810">
            <a:solidFill>
              <a:srgbClr val="C8D8E0"/>
            </a:solidFill>
            <a:prstDash val="solid"/>
          </a:ln>
        </p:spPr>
      </p:sp>
      <p:sp>
        <p:nvSpPr>
          <p:cNvPr id="41" name="Text 39"/>
          <p:cNvSpPr/>
          <p:nvPr/>
        </p:nvSpPr>
        <p:spPr>
          <a:xfrm>
            <a:off x="3063240" y="2724912"/>
            <a:ext cx="6144768" cy="274320"/>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10_city2graph_integration.py → contiguity + POI graphs + bym2_node1/2.npy</a:t>
            </a:r>
            <a:endParaRPr lang="en-US" sz="900" dirty="0"/>
          </a:p>
        </p:txBody>
      </p:sp>
      <p:sp>
        <p:nvSpPr>
          <p:cNvPr id="42" name="Shape 40"/>
          <p:cNvSpPr/>
          <p:nvPr/>
        </p:nvSpPr>
        <p:spPr>
          <a:xfrm>
            <a:off x="274320" y="3044952"/>
            <a:ext cx="640080" cy="338328"/>
          </a:xfrm>
          <a:prstGeom prst="rect">
            <a:avLst/>
          </a:prstGeom>
          <a:solidFill>
            <a:srgbClr val="F4F6F9"/>
          </a:solidFill>
          <a:ln w="3810">
            <a:solidFill>
              <a:srgbClr val="C8D8E0"/>
            </a:solidFill>
            <a:prstDash val="solid"/>
          </a:ln>
        </p:spPr>
      </p:sp>
      <p:sp>
        <p:nvSpPr>
          <p:cNvPr id="43" name="Text 41"/>
          <p:cNvSpPr/>
          <p:nvPr/>
        </p:nvSpPr>
        <p:spPr>
          <a:xfrm>
            <a:off x="320040" y="3081528"/>
            <a:ext cx="566928" cy="274320"/>
          </a:xfrm>
          <a:prstGeom prst="rect">
            <a:avLst/>
          </a:prstGeom>
          <a:noFill/>
          <a:ln/>
        </p:spPr>
        <p:txBody>
          <a:bodyPr wrap="square" rtlCol="0" anchor="ctr"/>
          <a:lstStyle/>
          <a:p>
            <a:pPr indent="0" marL="0">
              <a:buNone/>
            </a:pPr>
            <a:r>
              <a:rPr lang="en-US" sz="900" b="1" dirty="0">
                <a:solidFill>
                  <a:srgbClr val="1A4A8A"/>
                </a:solidFill>
                <a:latin typeface="Arial" pitchFamily="34" charset="0"/>
                <a:ea typeface="Arial" pitchFamily="34" charset="-122"/>
                <a:cs typeface="Arial" pitchFamily="34" charset="-120"/>
              </a:rPr>
              <a:t>7</a:t>
            </a:r>
            <a:endParaRPr lang="en-US" sz="900" dirty="0"/>
          </a:p>
        </p:txBody>
      </p:sp>
      <p:sp>
        <p:nvSpPr>
          <p:cNvPr id="44" name="Shape 42"/>
          <p:cNvSpPr/>
          <p:nvPr/>
        </p:nvSpPr>
        <p:spPr>
          <a:xfrm>
            <a:off x="960120" y="3044952"/>
            <a:ext cx="2011680" cy="338328"/>
          </a:xfrm>
          <a:prstGeom prst="rect">
            <a:avLst/>
          </a:prstGeom>
          <a:solidFill>
            <a:srgbClr val="F4F6F9"/>
          </a:solidFill>
          <a:ln w="3810">
            <a:solidFill>
              <a:srgbClr val="C8D8E0"/>
            </a:solidFill>
            <a:prstDash val="solid"/>
          </a:ln>
        </p:spPr>
      </p:sp>
      <p:sp>
        <p:nvSpPr>
          <p:cNvPr id="45" name="Text 43"/>
          <p:cNvSpPr/>
          <p:nvPr/>
        </p:nvSpPr>
        <p:spPr>
          <a:xfrm>
            <a:off x="1005840" y="3081528"/>
            <a:ext cx="1938528" cy="274320"/>
          </a:xfrm>
          <a:prstGeom prst="rect">
            <a:avLst/>
          </a:prstGeom>
          <a:noFill/>
          <a:ln/>
        </p:spPr>
        <p:txBody>
          <a:bodyPr wrap="square" rtlCol="0" anchor="ctr"/>
          <a:lstStyle/>
          <a:p>
            <a:pPr indent="0" marL="0">
              <a:buNone/>
            </a:pPr>
            <a:r>
              <a:rPr lang="en-US" sz="900" dirty="0">
                <a:solidFill>
                  <a:srgbClr val="121C2B"/>
                </a:solidFill>
                <a:latin typeface="Courier New" pitchFamily="34" charset="0"/>
                <a:ea typeface="Courier New" pitchFamily="34" charset="-122"/>
                <a:cs typeface="Courier New" pitchFamily="34" charset="-120"/>
              </a:rPr>
              <a:t>BYM2 model</a:t>
            </a:r>
            <a:endParaRPr lang="en-US" sz="900" dirty="0"/>
          </a:p>
        </p:txBody>
      </p:sp>
      <p:sp>
        <p:nvSpPr>
          <p:cNvPr id="46" name="Shape 44"/>
          <p:cNvSpPr/>
          <p:nvPr/>
        </p:nvSpPr>
        <p:spPr>
          <a:xfrm>
            <a:off x="3017520" y="3044952"/>
            <a:ext cx="6217920" cy="338328"/>
          </a:xfrm>
          <a:prstGeom prst="rect">
            <a:avLst/>
          </a:prstGeom>
          <a:solidFill>
            <a:srgbClr val="F4F6F9"/>
          </a:solidFill>
          <a:ln w="3810">
            <a:solidFill>
              <a:srgbClr val="C8D8E0"/>
            </a:solidFill>
            <a:prstDash val="solid"/>
          </a:ln>
        </p:spPr>
      </p:sp>
      <p:sp>
        <p:nvSpPr>
          <p:cNvPr id="47" name="Text 45"/>
          <p:cNvSpPr/>
          <p:nvPr/>
        </p:nvSpPr>
        <p:spPr>
          <a:xfrm>
            <a:off x="3063240" y="3081528"/>
            <a:ext cx="6144768" cy="274320"/>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06_bym2_pymc_model.py → wards_bym2_results.gpkg + bym2_idata.nc</a:t>
            </a:r>
            <a:endParaRPr lang="en-US" sz="900" dirty="0"/>
          </a:p>
        </p:txBody>
      </p:sp>
      <p:sp>
        <p:nvSpPr>
          <p:cNvPr id="48" name="Shape 46"/>
          <p:cNvSpPr/>
          <p:nvPr/>
        </p:nvSpPr>
        <p:spPr>
          <a:xfrm>
            <a:off x="274320" y="3401568"/>
            <a:ext cx="640080" cy="338328"/>
          </a:xfrm>
          <a:prstGeom prst="rect">
            <a:avLst/>
          </a:prstGeom>
          <a:solidFill>
            <a:srgbClr val="FFFFFF"/>
          </a:solidFill>
          <a:ln w="3810">
            <a:solidFill>
              <a:srgbClr val="C8D8E0"/>
            </a:solidFill>
            <a:prstDash val="solid"/>
          </a:ln>
        </p:spPr>
      </p:sp>
      <p:sp>
        <p:nvSpPr>
          <p:cNvPr id="49" name="Text 47"/>
          <p:cNvSpPr/>
          <p:nvPr/>
        </p:nvSpPr>
        <p:spPr>
          <a:xfrm>
            <a:off x="320040" y="3438144"/>
            <a:ext cx="566928" cy="274320"/>
          </a:xfrm>
          <a:prstGeom prst="rect">
            <a:avLst/>
          </a:prstGeom>
          <a:noFill/>
          <a:ln/>
        </p:spPr>
        <p:txBody>
          <a:bodyPr wrap="square" rtlCol="0" anchor="ctr"/>
          <a:lstStyle/>
          <a:p>
            <a:pPr indent="0" marL="0">
              <a:buNone/>
            </a:pPr>
            <a:r>
              <a:rPr lang="en-US" sz="900" b="1" dirty="0">
                <a:solidFill>
                  <a:srgbClr val="1A4A8A"/>
                </a:solidFill>
                <a:latin typeface="Arial" pitchFamily="34" charset="0"/>
                <a:ea typeface="Arial" pitchFamily="34" charset="-122"/>
                <a:cs typeface="Arial" pitchFamily="34" charset="-120"/>
              </a:rPr>
              <a:t>8</a:t>
            </a:r>
            <a:endParaRPr lang="en-US" sz="900" dirty="0"/>
          </a:p>
        </p:txBody>
      </p:sp>
      <p:sp>
        <p:nvSpPr>
          <p:cNvPr id="50" name="Shape 48"/>
          <p:cNvSpPr/>
          <p:nvPr/>
        </p:nvSpPr>
        <p:spPr>
          <a:xfrm>
            <a:off x="960120" y="3401568"/>
            <a:ext cx="2011680" cy="338328"/>
          </a:xfrm>
          <a:prstGeom prst="rect">
            <a:avLst/>
          </a:prstGeom>
          <a:solidFill>
            <a:srgbClr val="FFFFFF"/>
          </a:solidFill>
          <a:ln w="3810">
            <a:solidFill>
              <a:srgbClr val="C8D8E0"/>
            </a:solidFill>
            <a:prstDash val="solid"/>
          </a:ln>
        </p:spPr>
      </p:sp>
      <p:sp>
        <p:nvSpPr>
          <p:cNvPr id="51" name="Text 49"/>
          <p:cNvSpPr/>
          <p:nvPr/>
        </p:nvSpPr>
        <p:spPr>
          <a:xfrm>
            <a:off x="1005840" y="3438144"/>
            <a:ext cx="1938528" cy="274320"/>
          </a:xfrm>
          <a:prstGeom prst="rect">
            <a:avLst/>
          </a:prstGeom>
          <a:noFill/>
          <a:ln/>
        </p:spPr>
        <p:txBody>
          <a:bodyPr wrap="square" rtlCol="0" anchor="ctr"/>
          <a:lstStyle/>
          <a:p>
            <a:pPr indent="0" marL="0">
              <a:buNone/>
            </a:pPr>
            <a:r>
              <a:rPr lang="en-US" sz="900" dirty="0">
                <a:solidFill>
                  <a:srgbClr val="121C2B"/>
                </a:solidFill>
                <a:latin typeface="Courier New" pitchFamily="34" charset="0"/>
                <a:ea typeface="Courier New" pitchFamily="34" charset="-122"/>
                <a:cs typeface="Courier New" pitchFamily="34" charset="-120"/>
              </a:rPr>
              <a:t>SWMM build</a:t>
            </a:r>
            <a:endParaRPr lang="en-US" sz="900" dirty="0"/>
          </a:p>
        </p:txBody>
      </p:sp>
      <p:sp>
        <p:nvSpPr>
          <p:cNvPr id="52" name="Shape 50"/>
          <p:cNvSpPr/>
          <p:nvPr/>
        </p:nvSpPr>
        <p:spPr>
          <a:xfrm>
            <a:off x="3017520" y="3401568"/>
            <a:ext cx="6217920" cy="338328"/>
          </a:xfrm>
          <a:prstGeom prst="rect">
            <a:avLst/>
          </a:prstGeom>
          <a:solidFill>
            <a:srgbClr val="FFFFFF"/>
          </a:solidFill>
          <a:ln w="3810">
            <a:solidFill>
              <a:srgbClr val="C8D8E0"/>
            </a:solidFill>
            <a:prstDash val="solid"/>
          </a:ln>
        </p:spPr>
      </p:sp>
      <p:sp>
        <p:nvSpPr>
          <p:cNvPr id="53" name="Text 51"/>
          <p:cNvSpPr/>
          <p:nvPr/>
        </p:nvSpPr>
        <p:spPr>
          <a:xfrm>
            <a:off x="3063240" y="3438144"/>
            <a:ext cx="6144768" cy="274320"/>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build_swm_fixed.py → vadodara_overland.inp (major roads, storm TS)</a:t>
            </a:r>
            <a:endParaRPr lang="en-US" sz="900" dirty="0"/>
          </a:p>
        </p:txBody>
      </p:sp>
      <p:sp>
        <p:nvSpPr>
          <p:cNvPr id="54" name="Shape 52"/>
          <p:cNvSpPr/>
          <p:nvPr/>
        </p:nvSpPr>
        <p:spPr>
          <a:xfrm>
            <a:off x="274320" y="3758184"/>
            <a:ext cx="640080" cy="338328"/>
          </a:xfrm>
          <a:prstGeom prst="rect">
            <a:avLst/>
          </a:prstGeom>
          <a:solidFill>
            <a:srgbClr val="F4F6F9"/>
          </a:solidFill>
          <a:ln w="3810">
            <a:solidFill>
              <a:srgbClr val="C8D8E0"/>
            </a:solidFill>
            <a:prstDash val="solid"/>
          </a:ln>
        </p:spPr>
      </p:sp>
      <p:sp>
        <p:nvSpPr>
          <p:cNvPr id="55" name="Text 53"/>
          <p:cNvSpPr/>
          <p:nvPr/>
        </p:nvSpPr>
        <p:spPr>
          <a:xfrm>
            <a:off x="320040" y="3794760"/>
            <a:ext cx="566928" cy="274320"/>
          </a:xfrm>
          <a:prstGeom prst="rect">
            <a:avLst/>
          </a:prstGeom>
          <a:noFill/>
          <a:ln/>
        </p:spPr>
        <p:txBody>
          <a:bodyPr wrap="square" rtlCol="0" anchor="ctr"/>
          <a:lstStyle/>
          <a:p>
            <a:pPr indent="0" marL="0">
              <a:buNone/>
            </a:pPr>
            <a:r>
              <a:rPr lang="en-US" sz="900" b="1" dirty="0">
                <a:solidFill>
                  <a:srgbClr val="1A4A8A"/>
                </a:solidFill>
                <a:latin typeface="Arial" pitchFamily="34" charset="0"/>
                <a:ea typeface="Arial" pitchFamily="34" charset="-122"/>
                <a:cs typeface="Arial" pitchFamily="34" charset="-120"/>
              </a:rPr>
              <a:t>9</a:t>
            </a:r>
            <a:endParaRPr lang="en-US" sz="900" dirty="0"/>
          </a:p>
        </p:txBody>
      </p:sp>
      <p:sp>
        <p:nvSpPr>
          <p:cNvPr id="56" name="Shape 54"/>
          <p:cNvSpPr/>
          <p:nvPr/>
        </p:nvSpPr>
        <p:spPr>
          <a:xfrm>
            <a:off x="960120" y="3758184"/>
            <a:ext cx="2011680" cy="338328"/>
          </a:xfrm>
          <a:prstGeom prst="rect">
            <a:avLst/>
          </a:prstGeom>
          <a:solidFill>
            <a:srgbClr val="F4F6F9"/>
          </a:solidFill>
          <a:ln w="3810">
            <a:solidFill>
              <a:srgbClr val="C8D8E0"/>
            </a:solidFill>
            <a:prstDash val="solid"/>
          </a:ln>
        </p:spPr>
      </p:sp>
      <p:sp>
        <p:nvSpPr>
          <p:cNvPr id="57" name="Text 55"/>
          <p:cNvSpPr/>
          <p:nvPr/>
        </p:nvSpPr>
        <p:spPr>
          <a:xfrm>
            <a:off x="1005840" y="3794760"/>
            <a:ext cx="1938528" cy="274320"/>
          </a:xfrm>
          <a:prstGeom prst="rect">
            <a:avLst/>
          </a:prstGeom>
          <a:noFill/>
          <a:ln/>
        </p:spPr>
        <p:txBody>
          <a:bodyPr wrap="square" rtlCol="0" anchor="ctr"/>
          <a:lstStyle/>
          <a:p>
            <a:pPr indent="0" marL="0">
              <a:buNone/>
            </a:pPr>
            <a:r>
              <a:rPr lang="en-US" sz="900" dirty="0">
                <a:solidFill>
                  <a:srgbClr val="121C2B"/>
                </a:solidFill>
                <a:latin typeface="Courier New" pitchFamily="34" charset="0"/>
                <a:ea typeface="Courier New" pitchFamily="34" charset="-122"/>
                <a:cs typeface="Courier New" pitchFamily="34" charset="-120"/>
              </a:rPr>
              <a:t>SWMM run</a:t>
            </a:r>
            <a:endParaRPr lang="en-US" sz="900" dirty="0"/>
          </a:p>
        </p:txBody>
      </p:sp>
      <p:sp>
        <p:nvSpPr>
          <p:cNvPr id="58" name="Shape 56"/>
          <p:cNvSpPr/>
          <p:nvPr/>
        </p:nvSpPr>
        <p:spPr>
          <a:xfrm>
            <a:off x="3017520" y="3758184"/>
            <a:ext cx="6217920" cy="338328"/>
          </a:xfrm>
          <a:prstGeom prst="rect">
            <a:avLst/>
          </a:prstGeom>
          <a:solidFill>
            <a:srgbClr val="F4F6F9"/>
          </a:solidFill>
          <a:ln w="3810">
            <a:solidFill>
              <a:srgbClr val="C8D8E0"/>
            </a:solidFill>
            <a:prstDash val="solid"/>
          </a:ln>
        </p:spPr>
      </p:sp>
      <p:sp>
        <p:nvSpPr>
          <p:cNvPr id="59" name="Text 57"/>
          <p:cNvSpPr/>
          <p:nvPr/>
        </p:nvSpPr>
        <p:spPr>
          <a:xfrm>
            <a:off x="3063240" y="3794760"/>
            <a:ext cx="6144768" cy="274320"/>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run_swmm_fixed.py → swmm_flood_road_pct added to .gpkg</a:t>
            </a:r>
            <a:endParaRPr lang="en-US" sz="900" dirty="0"/>
          </a:p>
        </p:txBody>
      </p:sp>
      <p:sp>
        <p:nvSpPr>
          <p:cNvPr id="60" name="Shape 58"/>
          <p:cNvSpPr/>
          <p:nvPr/>
        </p:nvSpPr>
        <p:spPr>
          <a:xfrm>
            <a:off x="274320" y="4114800"/>
            <a:ext cx="640080" cy="338328"/>
          </a:xfrm>
          <a:prstGeom prst="rect">
            <a:avLst/>
          </a:prstGeom>
          <a:solidFill>
            <a:srgbClr val="FFFFFF"/>
          </a:solidFill>
          <a:ln w="3810">
            <a:solidFill>
              <a:srgbClr val="C8D8E0"/>
            </a:solidFill>
            <a:prstDash val="solid"/>
          </a:ln>
        </p:spPr>
      </p:sp>
      <p:sp>
        <p:nvSpPr>
          <p:cNvPr id="61" name="Text 59"/>
          <p:cNvSpPr/>
          <p:nvPr/>
        </p:nvSpPr>
        <p:spPr>
          <a:xfrm>
            <a:off x="320040" y="4151376"/>
            <a:ext cx="566928" cy="274320"/>
          </a:xfrm>
          <a:prstGeom prst="rect">
            <a:avLst/>
          </a:prstGeom>
          <a:noFill/>
          <a:ln/>
        </p:spPr>
        <p:txBody>
          <a:bodyPr wrap="square" rtlCol="0" anchor="ctr"/>
          <a:lstStyle/>
          <a:p>
            <a:pPr indent="0" marL="0">
              <a:buNone/>
            </a:pPr>
            <a:r>
              <a:rPr lang="en-US" sz="900" b="1" dirty="0">
                <a:solidFill>
                  <a:srgbClr val="1A4A8A"/>
                </a:solidFill>
                <a:latin typeface="Arial" pitchFamily="34" charset="0"/>
                <a:ea typeface="Arial" pitchFamily="34" charset="-122"/>
                <a:cs typeface="Arial" pitchFamily="34" charset="-120"/>
              </a:rPr>
              <a:t>10</a:t>
            </a:r>
            <a:endParaRPr lang="en-US" sz="900" dirty="0"/>
          </a:p>
        </p:txBody>
      </p:sp>
      <p:sp>
        <p:nvSpPr>
          <p:cNvPr id="62" name="Shape 60"/>
          <p:cNvSpPr/>
          <p:nvPr/>
        </p:nvSpPr>
        <p:spPr>
          <a:xfrm>
            <a:off x="960120" y="4114800"/>
            <a:ext cx="2011680" cy="338328"/>
          </a:xfrm>
          <a:prstGeom prst="rect">
            <a:avLst/>
          </a:prstGeom>
          <a:solidFill>
            <a:srgbClr val="FFFFFF"/>
          </a:solidFill>
          <a:ln w="3810">
            <a:solidFill>
              <a:srgbClr val="C8D8E0"/>
            </a:solidFill>
            <a:prstDash val="solid"/>
          </a:ln>
        </p:spPr>
      </p:sp>
      <p:sp>
        <p:nvSpPr>
          <p:cNvPr id="63" name="Text 61"/>
          <p:cNvSpPr/>
          <p:nvPr/>
        </p:nvSpPr>
        <p:spPr>
          <a:xfrm>
            <a:off x="1005840" y="4151376"/>
            <a:ext cx="1938528" cy="274320"/>
          </a:xfrm>
          <a:prstGeom prst="rect">
            <a:avLst/>
          </a:prstGeom>
          <a:noFill/>
          <a:ln/>
        </p:spPr>
        <p:txBody>
          <a:bodyPr wrap="square" rtlCol="0" anchor="ctr"/>
          <a:lstStyle/>
          <a:p>
            <a:pPr indent="0" marL="0">
              <a:buNone/>
            </a:pPr>
            <a:r>
              <a:rPr lang="en-US" sz="900" dirty="0">
                <a:solidFill>
                  <a:srgbClr val="121C2B"/>
                </a:solidFill>
                <a:latin typeface="Courier New" pitchFamily="34" charset="0"/>
                <a:ea typeface="Courier New" pitchFamily="34" charset="-122"/>
                <a:cs typeface="Courier New" pitchFamily="34" charset="-120"/>
              </a:rPr>
              <a:t>GNN hybrid</a:t>
            </a:r>
            <a:endParaRPr lang="en-US" sz="900" dirty="0"/>
          </a:p>
        </p:txBody>
      </p:sp>
      <p:sp>
        <p:nvSpPr>
          <p:cNvPr id="64" name="Shape 62"/>
          <p:cNvSpPr/>
          <p:nvPr/>
        </p:nvSpPr>
        <p:spPr>
          <a:xfrm>
            <a:off x="3017520" y="4114800"/>
            <a:ext cx="6217920" cy="338328"/>
          </a:xfrm>
          <a:prstGeom prst="rect">
            <a:avLst/>
          </a:prstGeom>
          <a:solidFill>
            <a:srgbClr val="FFFFFF"/>
          </a:solidFill>
          <a:ln w="3810">
            <a:solidFill>
              <a:srgbClr val="C8D8E0"/>
            </a:solidFill>
            <a:prstDash val="solid"/>
          </a:ln>
        </p:spPr>
      </p:sp>
      <p:sp>
        <p:nvSpPr>
          <p:cNvPr id="65" name="Text 63"/>
          <p:cNvSpPr/>
          <p:nvPr/>
        </p:nvSpPr>
        <p:spPr>
          <a:xfrm>
            <a:off x="3063240" y="4151376"/>
            <a:ext cx="6144768" cy="274320"/>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GNN.py (fix 5 bugs first per §7.2) → gnn_bym2_results layer</a:t>
            </a:r>
            <a:endParaRPr lang="en-US" sz="900" dirty="0"/>
          </a:p>
        </p:txBody>
      </p:sp>
      <p:sp>
        <p:nvSpPr>
          <p:cNvPr id="66" name="Shape 64"/>
          <p:cNvSpPr/>
          <p:nvPr/>
        </p:nvSpPr>
        <p:spPr>
          <a:xfrm>
            <a:off x="274320" y="4471416"/>
            <a:ext cx="640080" cy="338328"/>
          </a:xfrm>
          <a:prstGeom prst="rect">
            <a:avLst/>
          </a:prstGeom>
          <a:solidFill>
            <a:srgbClr val="F4F6F9"/>
          </a:solidFill>
          <a:ln w="3810">
            <a:solidFill>
              <a:srgbClr val="C8D8E0"/>
            </a:solidFill>
            <a:prstDash val="solid"/>
          </a:ln>
        </p:spPr>
      </p:sp>
      <p:sp>
        <p:nvSpPr>
          <p:cNvPr id="67" name="Text 65"/>
          <p:cNvSpPr/>
          <p:nvPr/>
        </p:nvSpPr>
        <p:spPr>
          <a:xfrm>
            <a:off x="320040" y="4507992"/>
            <a:ext cx="566928" cy="274320"/>
          </a:xfrm>
          <a:prstGeom prst="rect">
            <a:avLst/>
          </a:prstGeom>
          <a:noFill/>
          <a:ln/>
        </p:spPr>
        <p:txBody>
          <a:bodyPr wrap="square" rtlCol="0" anchor="ctr"/>
          <a:lstStyle/>
          <a:p>
            <a:pPr indent="0" marL="0">
              <a:buNone/>
            </a:pPr>
            <a:r>
              <a:rPr lang="en-US" sz="900" b="1" dirty="0">
                <a:solidFill>
                  <a:srgbClr val="1A4A8A"/>
                </a:solidFill>
                <a:latin typeface="Arial" pitchFamily="34" charset="0"/>
                <a:ea typeface="Arial" pitchFamily="34" charset="-122"/>
                <a:cs typeface="Arial" pitchFamily="34" charset="-120"/>
              </a:rPr>
              <a:t>11</a:t>
            </a:r>
            <a:endParaRPr lang="en-US" sz="900" dirty="0"/>
          </a:p>
        </p:txBody>
      </p:sp>
      <p:sp>
        <p:nvSpPr>
          <p:cNvPr id="68" name="Shape 66"/>
          <p:cNvSpPr/>
          <p:nvPr/>
        </p:nvSpPr>
        <p:spPr>
          <a:xfrm>
            <a:off x="960120" y="4471416"/>
            <a:ext cx="2011680" cy="338328"/>
          </a:xfrm>
          <a:prstGeom prst="rect">
            <a:avLst/>
          </a:prstGeom>
          <a:solidFill>
            <a:srgbClr val="F4F6F9"/>
          </a:solidFill>
          <a:ln w="3810">
            <a:solidFill>
              <a:srgbClr val="C8D8E0"/>
            </a:solidFill>
            <a:prstDash val="solid"/>
          </a:ln>
        </p:spPr>
      </p:sp>
      <p:sp>
        <p:nvSpPr>
          <p:cNvPr id="69" name="Text 67"/>
          <p:cNvSpPr/>
          <p:nvPr/>
        </p:nvSpPr>
        <p:spPr>
          <a:xfrm>
            <a:off x="1005840" y="4507992"/>
            <a:ext cx="1938528" cy="274320"/>
          </a:xfrm>
          <a:prstGeom prst="rect">
            <a:avLst/>
          </a:prstGeom>
          <a:noFill/>
          <a:ln/>
        </p:spPr>
        <p:txBody>
          <a:bodyPr wrap="square" rtlCol="0" anchor="ctr"/>
          <a:lstStyle/>
          <a:p>
            <a:pPr indent="0" marL="0">
              <a:buNone/>
            </a:pPr>
            <a:r>
              <a:rPr lang="en-US" sz="900" dirty="0">
                <a:solidFill>
                  <a:srgbClr val="121C2B"/>
                </a:solidFill>
                <a:latin typeface="Courier New" pitchFamily="34" charset="0"/>
                <a:ea typeface="Courier New" pitchFamily="34" charset="-122"/>
                <a:cs typeface="Courier New" pitchFamily="34" charset="-120"/>
              </a:rPr>
              <a:t>Dashboard</a:t>
            </a:r>
            <a:endParaRPr lang="en-US" sz="900" dirty="0"/>
          </a:p>
        </p:txBody>
      </p:sp>
      <p:sp>
        <p:nvSpPr>
          <p:cNvPr id="70" name="Shape 68"/>
          <p:cNvSpPr/>
          <p:nvPr/>
        </p:nvSpPr>
        <p:spPr>
          <a:xfrm>
            <a:off x="3017520" y="4471416"/>
            <a:ext cx="6217920" cy="338328"/>
          </a:xfrm>
          <a:prstGeom prst="rect">
            <a:avLst/>
          </a:prstGeom>
          <a:solidFill>
            <a:srgbClr val="F4F6F9"/>
          </a:solidFill>
          <a:ln w="3810">
            <a:solidFill>
              <a:srgbClr val="C8D8E0"/>
            </a:solidFill>
            <a:prstDash val="solid"/>
          </a:ln>
        </p:spPr>
      </p:sp>
      <p:sp>
        <p:nvSpPr>
          <p:cNvPr id="71" name="Text 69"/>
          <p:cNvSpPr/>
          <p:nvPr/>
        </p:nvSpPr>
        <p:spPr>
          <a:xfrm>
            <a:off x="3063240" y="4507992"/>
            <a:ext cx="6144768" cy="274320"/>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streamlit run dashboard.py → :8501</a:t>
            </a:r>
            <a:endParaRPr lang="en-US" sz="900" dirty="0"/>
          </a:p>
        </p:txBody>
      </p:sp>
      <p:sp>
        <p:nvSpPr>
          <p:cNvPr id="72" name="Text 70"/>
          <p:cNvSpPr/>
          <p:nvPr/>
        </p:nvSpPr>
        <p:spPr>
          <a:xfrm>
            <a:off x="8412480" y="4869180"/>
            <a:ext cx="640080" cy="201168"/>
          </a:xfrm>
          <a:prstGeom prst="rect">
            <a:avLst/>
          </a:prstGeom>
          <a:noFill/>
          <a:ln/>
        </p:spPr>
        <p:txBody>
          <a:bodyPr wrap="square" rtlCol="0" anchor="ctr"/>
          <a:lstStyle/>
          <a:p>
            <a:pPr algn="r" indent="0" marL="0">
              <a:buNone/>
            </a:pPr>
            <a:r>
              <a:rPr lang="en-US" sz="900" dirty="0">
                <a:solidFill>
                  <a:srgbClr val="5A6272"/>
                </a:solidFill>
                <a:latin typeface="Arial" pitchFamily="34" charset="0"/>
                <a:ea typeface="Arial" pitchFamily="34" charset="-122"/>
                <a:cs typeface="Arial" pitchFamily="34" charset="-120"/>
              </a:rPr>
              <a:t>10 / 16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B1F3A"/>
          </a:solidFill>
          <a:ln w="12700">
            <a:solidFill>
              <a:srgbClr val="0B1F3A"/>
            </a:solidFill>
            <a:prstDash val="solid"/>
          </a:ln>
        </p:spPr>
      </p:sp>
      <p:sp>
        <p:nvSpPr>
          <p:cNvPr id="3" name="Text 1"/>
          <p:cNvSpPr/>
          <p:nvPr/>
        </p:nvSpPr>
        <p:spPr>
          <a:xfrm>
            <a:off x="228600" y="73152"/>
            <a:ext cx="8686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SWMM ERROR 200 — root cause and patch</a:t>
            </a:r>
            <a:endParaRPr lang="en-US" sz="2200" dirty="0"/>
          </a:p>
        </p:txBody>
      </p:sp>
      <p:sp>
        <p:nvSpPr>
          <p:cNvPr id="4" name="Text 2"/>
          <p:cNvSpPr/>
          <p:nvPr/>
        </p:nvSpPr>
        <p:spPr>
          <a:xfrm>
            <a:off x="228600" y="512064"/>
            <a:ext cx="8686800" cy="256032"/>
          </a:xfrm>
          <a:prstGeom prst="rect">
            <a:avLst/>
          </a:prstGeom>
          <a:noFill/>
          <a:ln/>
        </p:spPr>
        <p:txBody>
          <a:bodyPr wrap="square" rtlCol="0" anchor="ctr"/>
          <a:lstStyle/>
          <a:p>
            <a:pPr indent="0" marL="0">
              <a:buNone/>
            </a:pPr>
            <a:r>
              <a:rPr lang="en-US" sz="1100" dirty="0">
                <a:solidFill>
                  <a:srgbClr val="A0C0E0"/>
                </a:solidFill>
                <a:latin typeface="Arial" pitchFamily="34" charset="0"/>
                <a:ea typeface="Arial" pitchFamily="34" charset="-122"/>
                <a:cs typeface="Arial" pitchFamily="34" charset="-120"/>
              </a:rPr>
              <a:t>5 missing junction nodes in [CONDUITS] but not in [JUNCTIONS]</a:t>
            </a:r>
            <a:endParaRPr lang="en-US" sz="1100" dirty="0"/>
          </a:p>
        </p:txBody>
      </p:sp>
      <p:sp>
        <p:nvSpPr>
          <p:cNvPr id="5" name="Shape 3"/>
          <p:cNvSpPr/>
          <p:nvPr/>
        </p:nvSpPr>
        <p:spPr>
          <a:xfrm>
            <a:off x="0" y="777240"/>
            <a:ext cx="9144000" cy="0"/>
          </a:xfrm>
          <a:prstGeom prst="line">
            <a:avLst/>
          </a:prstGeom>
          <a:noFill/>
          <a:ln w="38100">
            <a:solidFill>
              <a:srgbClr val="D4A820"/>
            </a:solidFill>
            <a:prstDash val="solid"/>
          </a:ln>
        </p:spPr>
      </p:sp>
      <p:sp>
        <p:nvSpPr>
          <p:cNvPr id="6" name="Text 4"/>
          <p:cNvSpPr/>
          <p:nvPr/>
        </p:nvSpPr>
        <p:spPr>
          <a:xfrm>
            <a:off x="274320" y="932688"/>
            <a:ext cx="8595360" cy="274320"/>
          </a:xfrm>
          <a:prstGeom prst="rect">
            <a:avLst/>
          </a:prstGeom>
          <a:noFill/>
          <a:ln/>
        </p:spPr>
        <p:txBody>
          <a:bodyPr wrap="square" rtlCol="0" anchor="ctr"/>
          <a:lstStyle/>
          <a:p>
            <a:pPr indent="0" marL="0">
              <a:buNone/>
            </a:pPr>
            <a:r>
              <a:rPr lang="en-US" sz="1100" b="1" dirty="0">
                <a:solidFill>
                  <a:srgbClr val="C0392B"/>
                </a:solidFill>
                <a:latin typeface="Courier New" pitchFamily="34" charset="0"/>
                <a:ea typeface="Courier New" pitchFamily="34" charset="-122"/>
                <a:cs typeface="Courier New" pitchFamily="34" charset="-120"/>
              </a:rPr>
              <a:t>Error: swmm_open() raises ERROR 200: one or more errors in input file</a:t>
            </a:r>
            <a:endParaRPr lang="en-US" sz="1100" dirty="0"/>
          </a:p>
        </p:txBody>
      </p:sp>
      <p:sp>
        <p:nvSpPr>
          <p:cNvPr id="7" name="Shape 5"/>
          <p:cNvSpPr/>
          <p:nvPr/>
        </p:nvSpPr>
        <p:spPr>
          <a:xfrm>
            <a:off x="274320" y="1298448"/>
            <a:ext cx="4114800" cy="1554480"/>
          </a:xfrm>
          <a:prstGeom prst="rect">
            <a:avLst/>
          </a:prstGeom>
          <a:solidFill>
            <a:srgbClr val="FEF0F0"/>
          </a:solidFill>
          <a:ln w="8890">
            <a:solidFill>
              <a:srgbClr val="C0392B"/>
            </a:solidFill>
            <a:prstDash val="solid"/>
          </a:ln>
        </p:spPr>
      </p:sp>
      <p:sp>
        <p:nvSpPr>
          <p:cNvPr id="8" name="Text 6"/>
          <p:cNvSpPr/>
          <p:nvPr/>
        </p:nvSpPr>
        <p:spPr>
          <a:xfrm>
            <a:off x="411480" y="1371600"/>
            <a:ext cx="3840480" cy="274320"/>
          </a:xfrm>
          <a:prstGeom prst="rect">
            <a:avLst/>
          </a:prstGeom>
          <a:noFill/>
          <a:ln/>
        </p:spPr>
        <p:txBody>
          <a:bodyPr wrap="square" rtlCol="0" anchor="ctr"/>
          <a:lstStyle/>
          <a:p>
            <a:pPr indent="0" marL="0">
              <a:buNone/>
            </a:pPr>
            <a:r>
              <a:rPr lang="en-US" sz="1100" b="1" dirty="0">
                <a:solidFill>
                  <a:srgbClr val="C0392B"/>
                </a:solidFill>
                <a:latin typeface="Arial" pitchFamily="34" charset="0"/>
                <a:ea typeface="Arial" pitchFamily="34" charset="-122"/>
                <a:cs typeface="Arial" pitchFamily="34" charset="-120"/>
              </a:rPr>
              <a:t>Root cause</a:t>
            </a:r>
            <a:endParaRPr lang="en-US" sz="1100" dirty="0"/>
          </a:p>
        </p:txBody>
      </p:sp>
      <p:sp>
        <p:nvSpPr>
          <p:cNvPr id="9" name="Text 7"/>
          <p:cNvSpPr/>
          <p:nvPr/>
        </p:nvSpPr>
        <p:spPr>
          <a:xfrm>
            <a:off x="411480" y="1664208"/>
            <a:ext cx="3840480" cy="1115568"/>
          </a:xfrm>
          <a:prstGeom prst="rect">
            <a:avLst/>
          </a:prstGeom>
          <a:noFill/>
          <a:ln/>
        </p:spPr>
        <p:txBody>
          <a:bodyPr wrap="square" rtlCol="0" anchor="ctr"/>
          <a:lstStyle/>
          <a:p>
            <a:pPr indent="0" marL="0">
              <a:buNone/>
            </a:pPr>
            <a:r>
              <a:rPr lang="en-US" sz="950" dirty="0">
                <a:solidFill>
                  <a:srgbClr val="5A1010"/>
                </a:solidFill>
                <a:latin typeface="Arial" pitchFamily="34" charset="0"/>
                <a:ea typeface="Arial" pitchFamily="34" charset="-122"/>
                <a:cs typeface="Arial" pitchFamily="34" charset="-120"/>
              </a:rPr>
              <a:t>build_swm_fixed.py identifies the 5 lowest-elevation nodes as outfalls. It excludes them from [JUNCTIONS] but the OSMnx edge list still contains conduits where they appear as Node1 (source). SWMM cannot route flow from an undefined node.</a:t>
            </a:r>
            <a:endParaRPr lang="en-US" sz="950" dirty="0"/>
          </a:p>
        </p:txBody>
      </p:sp>
      <p:sp>
        <p:nvSpPr>
          <p:cNvPr id="10" name="Shape 8"/>
          <p:cNvSpPr/>
          <p:nvPr/>
        </p:nvSpPr>
        <p:spPr>
          <a:xfrm>
            <a:off x="4572000" y="1298448"/>
            <a:ext cx="4297680" cy="1554480"/>
          </a:xfrm>
          <a:prstGeom prst="rect">
            <a:avLst/>
          </a:prstGeom>
          <a:solidFill>
            <a:srgbClr val="F0FAF0"/>
          </a:solidFill>
          <a:ln w="8890">
            <a:solidFill>
              <a:srgbClr val="1A6B5A"/>
            </a:solidFill>
            <a:prstDash val="solid"/>
          </a:ln>
        </p:spPr>
      </p:sp>
      <p:sp>
        <p:nvSpPr>
          <p:cNvPr id="11" name="Text 9"/>
          <p:cNvSpPr/>
          <p:nvPr/>
        </p:nvSpPr>
        <p:spPr>
          <a:xfrm>
            <a:off x="4709160" y="1371600"/>
            <a:ext cx="4023360" cy="274320"/>
          </a:xfrm>
          <a:prstGeom prst="rect">
            <a:avLst/>
          </a:prstGeom>
          <a:noFill/>
          <a:ln/>
        </p:spPr>
        <p:txBody>
          <a:bodyPr wrap="square" rtlCol="0" anchor="ctr"/>
          <a:lstStyle/>
          <a:p>
            <a:pPr indent="0" marL="0">
              <a:buNone/>
            </a:pPr>
            <a:r>
              <a:rPr lang="en-US" sz="1100" b="1" dirty="0">
                <a:solidFill>
                  <a:srgbClr val="1A6B5A"/>
                </a:solidFill>
                <a:latin typeface="Arial" pitchFamily="34" charset="0"/>
                <a:ea typeface="Arial" pitchFamily="34" charset="-122"/>
                <a:cs typeface="Arial" pitchFamily="34" charset="-120"/>
              </a:rPr>
              <a:t>Fix (two parts)</a:t>
            </a:r>
            <a:endParaRPr lang="en-US" sz="1100" dirty="0"/>
          </a:p>
        </p:txBody>
      </p:sp>
      <p:sp>
        <p:nvSpPr>
          <p:cNvPr id="12" name="Text 10"/>
          <p:cNvSpPr/>
          <p:nvPr/>
        </p:nvSpPr>
        <p:spPr>
          <a:xfrm>
            <a:off x="4709160" y="1664208"/>
            <a:ext cx="4023360" cy="1115568"/>
          </a:xfrm>
          <a:prstGeom prst="rect">
            <a:avLst/>
          </a:prstGeom>
          <a:noFill/>
          <a:ln/>
        </p:spPr>
        <p:txBody>
          <a:bodyPr wrap="square" rtlCol="0" anchor="ctr"/>
          <a:lstStyle/>
          <a:p>
            <a:pPr indent="0" marL="0">
              <a:buNone/>
            </a:pPr>
            <a:r>
              <a:rPr lang="en-US" sz="950" dirty="0">
                <a:solidFill>
                  <a:srgbClr val="005A00"/>
                </a:solidFill>
                <a:latin typeface="Arial" pitchFamily="34" charset="0"/>
                <a:ea typeface="Arial" pitchFamily="34" charset="-122"/>
                <a:cs typeface="Arial" pitchFamily="34" charset="-120"/>
              </a:rPr>
              <a:t>Immediate: use vadodara_overland_fixed.inp — 5 missing nodes added to [JUNCTIONS] with elevation = outfall + 0.5m.</a:t>
            </a:r>
            <a:endParaRPr lang="en-US" sz="950" dirty="0"/>
          </a:p>
          <a:p>
            <a:pPr indent="0" marL="0">
              <a:buNone/>
            </a:pPr>
            <a:endParaRPr lang="en-US" sz="950" dirty="0"/>
          </a:p>
          <a:p>
            <a:pPr indent="0" marL="0">
              <a:buNone/>
            </a:pPr>
            <a:r>
              <a:rPr lang="en-US" sz="950" dirty="0">
                <a:solidFill>
                  <a:srgbClr val="005A00"/>
                </a:solidFill>
                <a:latin typeface="Arial" pitchFamily="34" charset="0"/>
                <a:ea typeface="Arial" pitchFamily="34" charset="-122"/>
                <a:cs typeface="Arial" pitchFamily="34" charset="-120"/>
              </a:rPr>
              <a:t>In build_swm_fixed.py: NEVER skip nodes from [JUNCTIONS]. Instead, keep all nodes in [JUNCTIONS] and add explicit DRAIN_i conduits from each outfall-candidate junction to OUTFALL_N.</a:t>
            </a:r>
            <a:endParaRPr lang="en-US" sz="950" dirty="0"/>
          </a:p>
        </p:txBody>
      </p:sp>
      <p:sp>
        <p:nvSpPr>
          <p:cNvPr id="13" name="Text 11"/>
          <p:cNvSpPr/>
          <p:nvPr/>
        </p:nvSpPr>
        <p:spPr>
          <a:xfrm>
            <a:off x="274320" y="2944368"/>
            <a:ext cx="8595360" cy="292608"/>
          </a:xfrm>
          <a:prstGeom prst="rect">
            <a:avLst/>
          </a:prstGeom>
          <a:noFill/>
          <a:ln/>
        </p:spPr>
        <p:txBody>
          <a:bodyPr wrap="square" rtlCol="0" anchor="ctr"/>
          <a:lstStyle/>
          <a:p>
            <a:pPr algn="ctr" indent="0" marL="0">
              <a:buNone/>
            </a:pPr>
            <a:r>
              <a:rPr lang="en-US" sz="1000" dirty="0">
                <a:solidFill>
                  <a:srgbClr val="1A4A8A"/>
                </a:solidFill>
                <a:latin typeface="Courier New" pitchFamily="34" charset="0"/>
                <a:ea typeface="Courier New" pitchFamily="34" charset="-122"/>
                <a:cs typeface="Courier New" pitchFamily="34" charset="-120"/>
              </a:rPr>
              <a:t>Missing node IDs: 1315969825  ·  6010666895  ·  6010666896  ·  6244797023  ·  6244797098</a:t>
            </a:r>
            <a:endParaRPr lang="en-US" sz="1000" dirty="0"/>
          </a:p>
        </p:txBody>
      </p:sp>
      <p:sp>
        <p:nvSpPr>
          <p:cNvPr id="14" name="Shape 12"/>
          <p:cNvSpPr/>
          <p:nvPr/>
        </p:nvSpPr>
        <p:spPr>
          <a:xfrm>
            <a:off x="274320" y="3328416"/>
            <a:ext cx="8595360" cy="1536192"/>
          </a:xfrm>
          <a:prstGeom prst="rect">
            <a:avLst/>
          </a:prstGeom>
          <a:solidFill>
            <a:srgbClr val="F0F5FA"/>
          </a:solidFill>
          <a:ln w="6350">
            <a:solidFill>
              <a:srgbClr val="2E6DA4"/>
            </a:solidFill>
            <a:prstDash val="solid"/>
          </a:ln>
        </p:spPr>
      </p:sp>
      <p:sp>
        <p:nvSpPr>
          <p:cNvPr id="15" name="Text 13"/>
          <p:cNvSpPr/>
          <p:nvPr/>
        </p:nvSpPr>
        <p:spPr>
          <a:xfrm>
            <a:off x="411480" y="3401568"/>
            <a:ext cx="8321040" cy="256032"/>
          </a:xfrm>
          <a:prstGeom prst="rect">
            <a:avLst/>
          </a:prstGeom>
          <a:noFill/>
          <a:ln/>
        </p:spPr>
        <p:txBody>
          <a:bodyPr wrap="square" rtlCol="0" anchor="ctr"/>
          <a:lstStyle/>
          <a:p>
            <a:pPr indent="0" marL="0">
              <a:buNone/>
            </a:pPr>
            <a:r>
              <a:rPr lang="en-US" sz="1000" b="1" dirty="0">
                <a:solidFill>
                  <a:srgbClr val="0B1F3A"/>
                </a:solidFill>
                <a:latin typeface="Arial" pitchFamily="34" charset="0"/>
                <a:ea typeface="Arial" pitchFamily="34" charset="-122"/>
                <a:cs typeface="Arial" pitchFamily="34" charset="-120"/>
              </a:rPr>
              <a:t>Corrected node writing pattern in build_swm_fixed.py</a:t>
            </a:r>
            <a:endParaRPr lang="en-US" sz="1000" dirty="0"/>
          </a:p>
        </p:txBody>
      </p:sp>
      <p:sp>
        <p:nvSpPr>
          <p:cNvPr id="16" name="Text 14"/>
          <p:cNvSpPr/>
          <p:nvPr/>
        </p:nvSpPr>
        <p:spPr>
          <a:xfrm>
            <a:off x="411480" y="3694176"/>
            <a:ext cx="8321040" cy="1097280"/>
          </a:xfrm>
          <a:prstGeom prst="rect">
            <a:avLst/>
          </a:prstGeom>
          <a:noFill/>
          <a:ln/>
        </p:spPr>
        <p:txBody>
          <a:bodyPr wrap="square" rtlCol="0" anchor="ctr"/>
          <a:lstStyle/>
          <a:p>
            <a:pPr indent="0" marL="0">
              <a:buNone/>
            </a:pPr>
            <a:r>
              <a:rPr lang="en-US" sz="880" dirty="0">
                <a:solidFill>
                  <a:srgbClr val="001A40"/>
                </a:solidFill>
                <a:latin typeface="Courier New" pitchFamily="34" charset="0"/>
                <a:ea typeface="Courier New" pitchFamily="34" charset="-122"/>
                <a:cs typeface="Courier New" pitchFamily="34" charset="-120"/>
              </a:rPr>
              <a:t># CORRECT: write ALL nodes to [JUNCTIONS], no exclusion</a:t>
            </a:r>
            <a:endParaRPr lang="en-US" sz="880" dirty="0"/>
          </a:p>
          <a:p>
            <a:pPr indent="0" marL="0">
              <a:buNone/>
            </a:pPr>
            <a:r>
              <a:rPr lang="en-US" sz="880" dirty="0">
                <a:solidFill>
                  <a:srgbClr val="001A40"/>
                </a:solidFill>
                <a:latin typeface="Courier New" pitchFamily="34" charset="0"/>
                <a:ea typeface="Courier New" pitchFamily="34" charset="-122"/>
                <a:cs typeface="Courier New" pitchFamily="34" charset="-120"/>
              </a:rPr>
              <a:t>for node_id, row in nodes.iterrows():</a:t>
            </a:r>
            <a:endParaRPr lang="en-US" sz="880" dirty="0"/>
          </a:p>
          <a:p>
            <a:pPr indent="0" marL="0">
              <a:buNone/>
            </a:pPr>
            <a:r>
              <a:rPr lang="en-US" sz="880" dirty="0">
                <a:solidFill>
                  <a:srgbClr val="001A40"/>
                </a:solidFill>
                <a:latin typeface="Courier New" pitchFamily="34" charset="0"/>
                <a:ea typeface="Courier New" pitchFamily="34" charset="-122"/>
                <a:cs typeface="Courier New" pitchFamily="34" charset="-120"/>
              </a:rPr>
              <a:t>    f.write(f'{node_id}  {row["elevation"]:.3f}  2.0  0  0.5  200\n')</a:t>
            </a:r>
            <a:endParaRPr lang="en-US" sz="880" dirty="0"/>
          </a:p>
          <a:p>
            <a:pPr indent="0" marL="0">
              <a:buNone/>
            </a:pPr>
            <a:r>
              <a:rPr lang="en-US" sz="880" dirty="0">
                <a:solidFill>
                  <a:srgbClr val="001A40"/>
                </a:solidFill>
                <a:latin typeface="Courier New" pitchFamily="34" charset="0"/>
                <a:ea typeface="Courier New" pitchFamily="34" charset="-122"/>
                <a:cs typeface="Courier New" pitchFamily="34" charset="-120"/>
              </a:rPr>
              <a:t># Then in [CONDUITS]: add drain conduits from outfall candidates</a:t>
            </a:r>
            <a:endParaRPr lang="en-US" sz="880" dirty="0"/>
          </a:p>
          <a:p>
            <a:pPr indent="0" marL="0">
              <a:buNone/>
            </a:pPr>
            <a:r>
              <a:rPr lang="en-US" sz="880" dirty="0">
                <a:solidFill>
                  <a:srgbClr val="001A40"/>
                </a:solidFill>
                <a:latin typeface="Courier New" pitchFamily="34" charset="0"/>
                <a:ea typeface="Courier New" pitchFamily="34" charset="-122"/>
                <a:cs typeface="Courier New" pitchFamily="34" charset="-120"/>
              </a:rPr>
              <a:t>for i, (nid, row) in enumerate(candidate_outfalls.iterrows()):</a:t>
            </a:r>
            <a:endParaRPr lang="en-US" sz="880" dirty="0"/>
          </a:p>
          <a:p>
            <a:pPr indent="0" marL="0">
              <a:buNone/>
            </a:pPr>
            <a:r>
              <a:rPr lang="en-US" sz="880" dirty="0">
                <a:solidFill>
                  <a:srgbClr val="001A40"/>
                </a:solidFill>
                <a:latin typeface="Courier New" pitchFamily="34" charset="0"/>
                <a:ea typeface="Courier New" pitchFamily="34" charset="-122"/>
                <a:cs typeface="Courier New" pitchFamily="34" charset="-120"/>
              </a:rPr>
              <a:t>    f.write(f'DRAIN_{i}  {nid}  OUTFALL_{i}  50.0  0.016  0  0  0  0\n')</a:t>
            </a:r>
            <a:endParaRPr lang="en-US" sz="880" dirty="0"/>
          </a:p>
        </p:txBody>
      </p:sp>
      <p:sp>
        <p:nvSpPr>
          <p:cNvPr id="17" name="Text 15"/>
          <p:cNvSpPr/>
          <p:nvPr/>
        </p:nvSpPr>
        <p:spPr>
          <a:xfrm>
            <a:off x="8412480" y="4869180"/>
            <a:ext cx="640080" cy="201168"/>
          </a:xfrm>
          <a:prstGeom prst="rect">
            <a:avLst/>
          </a:prstGeom>
          <a:noFill/>
          <a:ln/>
        </p:spPr>
        <p:txBody>
          <a:bodyPr wrap="square" rtlCol="0" anchor="ctr"/>
          <a:lstStyle/>
          <a:p>
            <a:pPr algn="r" indent="0" marL="0">
              <a:buNone/>
            </a:pPr>
            <a:r>
              <a:rPr lang="en-US" sz="900" dirty="0">
                <a:solidFill>
                  <a:srgbClr val="5A6272"/>
                </a:solidFill>
                <a:latin typeface="Arial" pitchFamily="34" charset="0"/>
                <a:ea typeface="Arial" pitchFamily="34" charset="-122"/>
                <a:cs typeface="Arial" pitchFamily="34" charset="-120"/>
              </a:rPr>
              <a:t>11 / 16</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B1F3A"/>
          </a:solidFill>
          <a:ln w="12700">
            <a:solidFill>
              <a:srgbClr val="0B1F3A"/>
            </a:solidFill>
            <a:prstDash val="solid"/>
          </a:ln>
        </p:spPr>
      </p:sp>
      <p:sp>
        <p:nvSpPr>
          <p:cNvPr id="3" name="Text 1"/>
          <p:cNvSpPr/>
          <p:nvPr/>
        </p:nvSpPr>
        <p:spPr>
          <a:xfrm>
            <a:off x="228600" y="73152"/>
            <a:ext cx="8686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Interactive flood network visualisation</a:t>
            </a:r>
            <a:endParaRPr lang="en-US" sz="2200" dirty="0"/>
          </a:p>
        </p:txBody>
      </p:sp>
      <p:sp>
        <p:nvSpPr>
          <p:cNvPr id="4" name="Text 2"/>
          <p:cNvSpPr/>
          <p:nvPr/>
        </p:nvSpPr>
        <p:spPr>
          <a:xfrm>
            <a:off x="228600" y="512064"/>
            <a:ext cx="8686800" cy="256032"/>
          </a:xfrm>
          <a:prstGeom prst="rect">
            <a:avLst/>
          </a:prstGeom>
          <a:noFill/>
          <a:ln/>
        </p:spPr>
        <p:txBody>
          <a:bodyPr wrap="square" rtlCol="0" anchor="ctr"/>
          <a:lstStyle/>
          <a:p>
            <a:pPr indent="0" marL="0">
              <a:buNone/>
            </a:pPr>
            <a:r>
              <a:rPr lang="en-US" sz="1100" dirty="0">
                <a:solidFill>
                  <a:srgbClr val="A0C0E0"/>
                </a:solidFill>
                <a:latin typeface="Arial" pitchFamily="34" charset="0"/>
                <a:ea typeface="Arial" pitchFamily="34" charset="-122"/>
                <a:cs typeface="Arial" pitchFamily="34" charset="-120"/>
              </a:rPr>
              <a:t>vadodara_network.html — self-contained, 142KB</a:t>
            </a:r>
            <a:endParaRPr lang="en-US" sz="1100" dirty="0"/>
          </a:p>
        </p:txBody>
      </p:sp>
      <p:sp>
        <p:nvSpPr>
          <p:cNvPr id="5" name="Shape 3"/>
          <p:cNvSpPr/>
          <p:nvPr/>
        </p:nvSpPr>
        <p:spPr>
          <a:xfrm>
            <a:off x="0" y="777240"/>
            <a:ext cx="9144000" cy="0"/>
          </a:xfrm>
          <a:prstGeom prst="line">
            <a:avLst/>
          </a:prstGeom>
          <a:noFill/>
          <a:ln w="38100">
            <a:solidFill>
              <a:srgbClr val="D4A820"/>
            </a:solidFill>
            <a:prstDash val="solid"/>
          </a:ln>
        </p:spPr>
      </p:sp>
      <p:sp>
        <p:nvSpPr>
          <p:cNvPr id="6" name="Shape 4"/>
          <p:cNvSpPr/>
          <p:nvPr/>
        </p:nvSpPr>
        <p:spPr>
          <a:xfrm>
            <a:off x="274320" y="987552"/>
            <a:ext cx="2834640" cy="1481328"/>
          </a:xfrm>
          <a:prstGeom prst="rect">
            <a:avLst/>
          </a:prstGeom>
          <a:solidFill>
            <a:srgbClr val="F0F5FA"/>
          </a:solidFill>
          <a:ln w="6350">
            <a:solidFill>
              <a:srgbClr val="2E6DA4"/>
            </a:solidFill>
            <a:prstDash val="solid"/>
          </a:ln>
        </p:spPr>
      </p:sp>
      <p:sp>
        <p:nvSpPr>
          <p:cNvPr id="7" name="Shape 5"/>
          <p:cNvSpPr/>
          <p:nvPr/>
        </p:nvSpPr>
        <p:spPr>
          <a:xfrm>
            <a:off x="274320" y="987552"/>
            <a:ext cx="2834640" cy="347472"/>
          </a:xfrm>
          <a:prstGeom prst="rect">
            <a:avLst/>
          </a:prstGeom>
          <a:solidFill>
            <a:srgbClr val="1A4A8A"/>
          </a:solidFill>
          <a:ln w="12700">
            <a:solidFill>
              <a:srgbClr val="1A4A8A"/>
            </a:solidFill>
            <a:prstDash val="solid"/>
          </a:ln>
        </p:spPr>
      </p:sp>
      <p:sp>
        <p:nvSpPr>
          <p:cNvPr id="8" name="Text 6"/>
          <p:cNvSpPr/>
          <p:nvPr/>
        </p:nvSpPr>
        <p:spPr>
          <a:xfrm>
            <a:off x="365760" y="1042416"/>
            <a:ext cx="2651760" cy="256032"/>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Pre/Post/Diff modes</a:t>
            </a:r>
            <a:endParaRPr lang="en-US" sz="1000" dirty="0"/>
          </a:p>
        </p:txBody>
      </p:sp>
      <p:sp>
        <p:nvSpPr>
          <p:cNvPr id="9" name="Text 7"/>
          <p:cNvSpPr/>
          <p:nvPr/>
        </p:nvSpPr>
        <p:spPr>
          <a:xfrm>
            <a:off x="365760" y="1426464"/>
            <a:ext cx="2651760" cy="969264"/>
          </a:xfrm>
          <a:prstGeom prst="rect">
            <a:avLst/>
          </a:prstGeom>
          <a:noFill/>
          <a:ln/>
        </p:spPr>
        <p:txBody>
          <a:bodyPr wrap="square" rtlCol="0" anchor="ctr"/>
          <a:lstStyle/>
          <a:p>
            <a:pPr indent="0" marL="0">
              <a:buNone/>
            </a:pPr>
            <a:r>
              <a:rPr lang="en-US" sz="950" dirty="0">
                <a:solidFill>
                  <a:srgbClr val="1A2A40"/>
                </a:solidFill>
                <a:latin typeface="Arial" pitchFamily="34" charset="0"/>
                <a:ea typeface="Arial" pitchFamily="34" charset="-122"/>
                <a:cs typeface="Arial" pitchFamily="34" charset="-120"/>
              </a:rPr>
              <a:t>Three-way toggle: dry baseline, post-storm flooded, and difference mode (green=passable, red=impassable)</a:t>
            </a:r>
            <a:endParaRPr lang="en-US" sz="950" dirty="0"/>
          </a:p>
        </p:txBody>
      </p:sp>
      <p:sp>
        <p:nvSpPr>
          <p:cNvPr id="10" name="Shape 8"/>
          <p:cNvSpPr/>
          <p:nvPr/>
        </p:nvSpPr>
        <p:spPr>
          <a:xfrm>
            <a:off x="3218688" y="987552"/>
            <a:ext cx="2834640" cy="1481328"/>
          </a:xfrm>
          <a:prstGeom prst="rect">
            <a:avLst/>
          </a:prstGeom>
          <a:solidFill>
            <a:srgbClr val="F0F5FA"/>
          </a:solidFill>
          <a:ln w="6350">
            <a:solidFill>
              <a:srgbClr val="2E6DA4"/>
            </a:solidFill>
            <a:prstDash val="solid"/>
          </a:ln>
        </p:spPr>
      </p:sp>
      <p:sp>
        <p:nvSpPr>
          <p:cNvPr id="11" name="Shape 9"/>
          <p:cNvSpPr/>
          <p:nvPr/>
        </p:nvSpPr>
        <p:spPr>
          <a:xfrm>
            <a:off x="3218688" y="987552"/>
            <a:ext cx="2834640" cy="347472"/>
          </a:xfrm>
          <a:prstGeom prst="rect">
            <a:avLst/>
          </a:prstGeom>
          <a:solidFill>
            <a:srgbClr val="1A4A8A"/>
          </a:solidFill>
          <a:ln w="12700">
            <a:solidFill>
              <a:srgbClr val="1A4A8A"/>
            </a:solidFill>
            <a:prstDash val="solid"/>
          </a:ln>
        </p:spPr>
      </p:sp>
      <p:sp>
        <p:nvSpPr>
          <p:cNvPr id="12" name="Text 10"/>
          <p:cNvSpPr/>
          <p:nvPr/>
        </p:nvSpPr>
        <p:spPr>
          <a:xfrm>
            <a:off x="3310128" y="1042416"/>
            <a:ext cx="2651760" cy="256032"/>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Storm timeline</a:t>
            </a:r>
            <a:endParaRPr lang="en-US" sz="1000" dirty="0"/>
          </a:p>
        </p:txBody>
      </p:sp>
      <p:sp>
        <p:nvSpPr>
          <p:cNvPr id="13" name="Text 11"/>
          <p:cNvSpPr/>
          <p:nvPr/>
        </p:nvSpPr>
        <p:spPr>
          <a:xfrm>
            <a:off x="3310128" y="1426464"/>
            <a:ext cx="2651760" cy="969264"/>
          </a:xfrm>
          <a:prstGeom prst="rect">
            <a:avLst/>
          </a:prstGeom>
          <a:noFill/>
          <a:ln/>
        </p:spPr>
        <p:txBody>
          <a:bodyPr wrap="square" rtlCol="0" anchor="ctr"/>
          <a:lstStyle/>
          <a:p>
            <a:pPr indent="0" marL="0">
              <a:buNone/>
            </a:pPr>
            <a:r>
              <a:rPr lang="en-US" sz="950" dirty="0">
                <a:solidFill>
                  <a:srgbClr val="1A2A40"/>
                </a:solidFill>
                <a:latin typeface="Arial" pitchFamily="34" charset="0"/>
                <a:ea typeface="Arial" pitchFamily="34" charset="-122"/>
                <a:cs typeface="Arial" pitchFamily="34" charset="-120"/>
              </a:rPr>
              <a:t>8-step slider 0h→4h with animated intensity bar. Animate Storm button plays at 700ms/step</a:t>
            </a:r>
            <a:endParaRPr lang="en-US" sz="950" dirty="0"/>
          </a:p>
        </p:txBody>
      </p:sp>
      <p:sp>
        <p:nvSpPr>
          <p:cNvPr id="14" name="Shape 12"/>
          <p:cNvSpPr/>
          <p:nvPr/>
        </p:nvSpPr>
        <p:spPr>
          <a:xfrm>
            <a:off x="6163056" y="987552"/>
            <a:ext cx="2834640" cy="1481328"/>
          </a:xfrm>
          <a:prstGeom prst="rect">
            <a:avLst/>
          </a:prstGeom>
          <a:solidFill>
            <a:srgbClr val="F0F5FA"/>
          </a:solidFill>
          <a:ln w="6350">
            <a:solidFill>
              <a:srgbClr val="2E6DA4"/>
            </a:solidFill>
            <a:prstDash val="solid"/>
          </a:ln>
        </p:spPr>
      </p:sp>
      <p:sp>
        <p:nvSpPr>
          <p:cNvPr id="15" name="Shape 13"/>
          <p:cNvSpPr/>
          <p:nvPr/>
        </p:nvSpPr>
        <p:spPr>
          <a:xfrm>
            <a:off x="6163056" y="987552"/>
            <a:ext cx="2834640" cy="347472"/>
          </a:xfrm>
          <a:prstGeom prst="rect">
            <a:avLst/>
          </a:prstGeom>
          <a:solidFill>
            <a:srgbClr val="1A4A8A"/>
          </a:solidFill>
          <a:ln w="12700">
            <a:solidFill>
              <a:srgbClr val="1A4A8A"/>
            </a:solidFill>
            <a:prstDash val="solid"/>
          </a:ln>
        </p:spPr>
      </p:sp>
      <p:sp>
        <p:nvSpPr>
          <p:cNvPr id="16" name="Text 14"/>
          <p:cNvSpPr/>
          <p:nvPr/>
        </p:nvSpPr>
        <p:spPr>
          <a:xfrm>
            <a:off x="6254496" y="1042416"/>
            <a:ext cx="2651760" cy="256032"/>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Layer toggles</a:t>
            </a:r>
            <a:endParaRPr lang="en-US" sz="1000" dirty="0"/>
          </a:p>
        </p:txBody>
      </p:sp>
      <p:sp>
        <p:nvSpPr>
          <p:cNvPr id="17" name="Text 15"/>
          <p:cNvSpPr/>
          <p:nvPr/>
        </p:nvSpPr>
        <p:spPr>
          <a:xfrm>
            <a:off x="6254496" y="1426464"/>
            <a:ext cx="2651760" cy="969264"/>
          </a:xfrm>
          <a:prstGeom prst="rect">
            <a:avLst/>
          </a:prstGeom>
          <a:noFill/>
          <a:ln/>
        </p:spPr>
        <p:txBody>
          <a:bodyPr wrap="square" rtlCol="0" anchor="ctr"/>
          <a:lstStyle/>
          <a:p>
            <a:pPr indent="0" marL="0">
              <a:buNone/>
            </a:pPr>
            <a:r>
              <a:rPr lang="en-US" sz="950" dirty="0">
                <a:solidFill>
                  <a:srgbClr val="1A2A40"/>
                </a:solidFill>
                <a:latin typeface="Arial" pitchFamily="34" charset="0"/>
                <a:ea typeface="Arial" pitchFamily="34" charset="-122"/>
                <a:cs typeface="Arial" pitchFamily="34" charset="-120"/>
              </a:rPr>
              <a:t>Ward zones · intersection nodes · labels · flooded roads only · flow particles (animated dots on flooded edges)</a:t>
            </a:r>
            <a:endParaRPr lang="en-US" sz="950" dirty="0"/>
          </a:p>
        </p:txBody>
      </p:sp>
      <p:sp>
        <p:nvSpPr>
          <p:cNvPr id="18" name="Shape 16"/>
          <p:cNvSpPr/>
          <p:nvPr/>
        </p:nvSpPr>
        <p:spPr>
          <a:xfrm>
            <a:off x="274320" y="2670048"/>
            <a:ext cx="2834640" cy="1481328"/>
          </a:xfrm>
          <a:prstGeom prst="rect">
            <a:avLst/>
          </a:prstGeom>
          <a:solidFill>
            <a:srgbClr val="F0F5FA"/>
          </a:solidFill>
          <a:ln w="6350">
            <a:solidFill>
              <a:srgbClr val="2E6DA4"/>
            </a:solidFill>
            <a:prstDash val="solid"/>
          </a:ln>
        </p:spPr>
      </p:sp>
      <p:sp>
        <p:nvSpPr>
          <p:cNvPr id="19" name="Shape 17"/>
          <p:cNvSpPr/>
          <p:nvPr/>
        </p:nvSpPr>
        <p:spPr>
          <a:xfrm>
            <a:off x="274320" y="2670048"/>
            <a:ext cx="2834640" cy="347472"/>
          </a:xfrm>
          <a:prstGeom prst="rect">
            <a:avLst/>
          </a:prstGeom>
          <a:solidFill>
            <a:srgbClr val="1A4A8A"/>
          </a:solidFill>
          <a:ln w="12700">
            <a:solidFill>
              <a:srgbClr val="1A4A8A"/>
            </a:solidFill>
            <a:prstDash val="solid"/>
          </a:ln>
        </p:spPr>
      </p:sp>
      <p:sp>
        <p:nvSpPr>
          <p:cNvPr id="20" name="Text 18"/>
          <p:cNvSpPr/>
          <p:nvPr/>
        </p:nvSpPr>
        <p:spPr>
          <a:xfrm>
            <a:off x="365760" y="2724912"/>
            <a:ext cx="2651760" cy="256032"/>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Pan &amp; zoom</a:t>
            </a:r>
            <a:endParaRPr lang="en-US" sz="1000" dirty="0"/>
          </a:p>
        </p:txBody>
      </p:sp>
      <p:sp>
        <p:nvSpPr>
          <p:cNvPr id="21" name="Text 19"/>
          <p:cNvSpPr/>
          <p:nvPr/>
        </p:nvSpPr>
        <p:spPr>
          <a:xfrm>
            <a:off x="365760" y="3108960"/>
            <a:ext cx="2651760" cy="969264"/>
          </a:xfrm>
          <a:prstGeom prst="rect">
            <a:avLst/>
          </a:prstGeom>
          <a:noFill/>
          <a:ln/>
        </p:spPr>
        <p:txBody>
          <a:bodyPr wrap="square" rtlCol="0" anchor="ctr"/>
          <a:lstStyle/>
          <a:p>
            <a:pPr indent="0" marL="0">
              <a:buNone/>
            </a:pPr>
            <a:r>
              <a:rPr lang="en-US" sz="950" dirty="0">
                <a:solidFill>
                  <a:srgbClr val="1A2A40"/>
                </a:solidFill>
                <a:latin typeface="Arial" pitchFamily="34" charset="0"/>
                <a:ea typeface="Arial" pitchFamily="34" charset="-122"/>
                <a:cs typeface="Arial" pitchFamily="34" charset="-120"/>
              </a:rPr>
              <a:t>Scroll-wheel zoom, click-drag pan. Three zoom buttons + reset. Canvas auto-resizes to container</a:t>
            </a:r>
            <a:endParaRPr lang="en-US" sz="950" dirty="0"/>
          </a:p>
        </p:txBody>
      </p:sp>
      <p:sp>
        <p:nvSpPr>
          <p:cNvPr id="22" name="Shape 20"/>
          <p:cNvSpPr/>
          <p:nvPr/>
        </p:nvSpPr>
        <p:spPr>
          <a:xfrm>
            <a:off x="3218688" y="2670048"/>
            <a:ext cx="2834640" cy="1481328"/>
          </a:xfrm>
          <a:prstGeom prst="rect">
            <a:avLst/>
          </a:prstGeom>
          <a:solidFill>
            <a:srgbClr val="F0F5FA"/>
          </a:solidFill>
          <a:ln w="6350">
            <a:solidFill>
              <a:srgbClr val="2E6DA4"/>
            </a:solidFill>
            <a:prstDash val="solid"/>
          </a:ln>
        </p:spPr>
      </p:sp>
      <p:sp>
        <p:nvSpPr>
          <p:cNvPr id="23" name="Shape 21"/>
          <p:cNvSpPr/>
          <p:nvPr/>
        </p:nvSpPr>
        <p:spPr>
          <a:xfrm>
            <a:off x="3218688" y="2670048"/>
            <a:ext cx="2834640" cy="347472"/>
          </a:xfrm>
          <a:prstGeom prst="rect">
            <a:avLst/>
          </a:prstGeom>
          <a:solidFill>
            <a:srgbClr val="1A4A8A"/>
          </a:solidFill>
          <a:ln w="12700">
            <a:solidFill>
              <a:srgbClr val="1A4A8A"/>
            </a:solidFill>
            <a:prstDash val="solid"/>
          </a:ln>
        </p:spPr>
      </p:sp>
      <p:sp>
        <p:nvSpPr>
          <p:cNvPr id="24" name="Text 22"/>
          <p:cNvSpPr/>
          <p:nvPr/>
        </p:nvSpPr>
        <p:spPr>
          <a:xfrm>
            <a:off x="3310128" y="2724912"/>
            <a:ext cx="2651760" cy="256032"/>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Hover tooltips</a:t>
            </a:r>
            <a:endParaRPr lang="en-US" sz="1000" dirty="0"/>
          </a:p>
        </p:txBody>
      </p:sp>
      <p:sp>
        <p:nvSpPr>
          <p:cNvPr id="25" name="Text 23"/>
          <p:cNvSpPr/>
          <p:nvPr/>
        </p:nvSpPr>
        <p:spPr>
          <a:xfrm>
            <a:off x="3310128" y="3108960"/>
            <a:ext cx="2651760" cy="969264"/>
          </a:xfrm>
          <a:prstGeom prst="rect">
            <a:avLst/>
          </a:prstGeom>
          <a:noFill/>
          <a:ln/>
        </p:spPr>
        <p:txBody>
          <a:bodyPr wrap="square" rtlCol="0" anchor="ctr"/>
          <a:lstStyle/>
          <a:p>
            <a:pPr indent="0" marL="0">
              <a:buNone/>
            </a:pPr>
            <a:r>
              <a:rPr lang="en-US" sz="950" dirty="0">
                <a:solidFill>
                  <a:srgbClr val="1A2A40"/>
                </a:solidFill>
                <a:latin typeface="Arial" pitchFamily="34" charset="0"/>
                <a:ea typeface="Arial" pitchFamily="34" charset="-122"/>
                <a:cs typeface="Arial" pitchFamily="34" charset="-120"/>
              </a:rPr>
              <a:t>Ward centroid: UOI, flood risk, population, flooded %. Road segment: type, length, depth, threshold</a:t>
            </a:r>
            <a:endParaRPr lang="en-US" sz="950" dirty="0"/>
          </a:p>
        </p:txBody>
      </p:sp>
      <p:sp>
        <p:nvSpPr>
          <p:cNvPr id="26" name="Shape 24"/>
          <p:cNvSpPr/>
          <p:nvPr/>
        </p:nvSpPr>
        <p:spPr>
          <a:xfrm>
            <a:off x="6163056" y="2670048"/>
            <a:ext cx="2834640" cy="1481328"/>
          </a:xfrm>
          <a:prstGeom prst="rect">
            <a:avLst/>
          </a:prstGeom>
          <a:solidFill>
            <a:srgbClr val="F0F5FA"/>
          </a:solidFill>
          <a:ln w="6350">
            <a:solidFill>
              <a:srgbClr val="2E6DA4"/>
            </a:solidFill>
            <a:prstDash val="solid"/>
          </a:ln>
        </p:spPr>
      </p:sp>
      <p:sp>
        <p:nvSpPr>
          <p:cNvPr id="27" name="Shape 25"/>
          <p:cNvSpPr/>
          <p:nvPr/>
        </p:nvSpPr>
        <p:spPr>
          <a:xfrm>
            <a:off x="6163056" y="2670048"/>
            <a:ext cx="2834640" cy="347472"/>
          </a:xfrm>
          <a:prstGeom prst="rect">
            <a:avLst/>
          </a:prstGeom>
          <a:solidFill>
            <a:srgbClr val="1A4A8A"/>
          </a:solidFill>
          <a:ln w="12700">
            <a:solidFill>
              <a:srgbClr val="1A4A8A"/>
            </a:solidFill>
            <a:prstDash val="solid"/>
          </a:ln>
        </p:spPr>
      </p:sp>
      <p:sp>
        <p:nvSpPr>
          <p:cNvPr id="28" name="Text 26"/>
          <p:cNvSpPr/>
          <p:nvPr/>
        </p:nvSpPr>
        <p:spPr>
          <a:xfrm>
            <a:off x="6254496" y="2724912"/>
            <a:ext cx="2651760" cy="256032"/>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Click detail panel</a:t>
            </a:r>
            <a:endParaRPr lang="en-US" sz="1000" dirty="0"/>
          </a:p>
        </p:txBody>
      </p:sp>
      <p:sp>
        <p:nvSpPr>
          <p:cNvPr id="29" name="Text 27"/>
          <p:cNvSpPr/>
          <p:nvPr/>
        </p:nvSpPr>
        <p:spPr>
          <a:xfrm>
            <a:off x="6254496" y="3108960"/>
            <a:ext cx="2651760" cy="969264"/>
          </a:xfrm>
          <a:prstGeom prst="rect">
            <a:avLst/>
          </a:prstGeom>
          <a:noFill/>
          <a:ln/>
        </p:spPr>
        <p:txBody>
          <a:bodyPr wrap="square" rtlCol="0" anchor="ctr"/>
          <a:lstStyle/>
          <a:p>
            <a:pPr indent="0" marL="0">
              <a:buNone/>
            </a:pPr>
            <a:r>
              <a:rPr lang="en-US" sz="950" dirty="0">
                <a:solidFill>
                  <a:srgbClr val="1A2A40"/>
                </a:solidFill>
                <a:latin typeface="Arial" pitchFamily="34" charset="0"/>
                <a:ea typeface="Arial" pitchFamily="34" charset="-122"/>
                <a:cs typeface="Arial" pitchFamily="34" charset="-120"/>
              </a:rPr>
              <a:t>Click any ward to open a 5-metric detail panel (UOI, flood risk, roads flooded, access lost, population)</a:t>
            </a:r>
            <a:endParaRPr lang="en-US" sz="950" dirty="0"/>
          </a:p>
        </p:txBody>
      </p:sp>
      <p:sp>
        <p:nvSpPr>
          <p:cNvPr id="30" name="Shape 28"/>
          <p:cNvSpPr/>
          <p:nvPr/>
        </p:nvSpPr>
        <p:spPr>
          <a:xfrm>
            <a:off x="274320" y="4224528"/>
            <a:ext cx="8595360" cy="621792"/>
          </a:xfrm>
          <a:prstGeom prst="rect">
            <a:avLst/>
          </a:prstGeom>
          <a:solidFill>
            <a:srgbClr val="0B1F3A"/>
          </a:solidFill>
          <a:ln w="12700">
            <a:solidFill>
              <a:srgbClr val="0B1F3A"/>
            </a:solidFill>
            <a:prstDash val="solid"/>
          </a:ln>
        </p:spPr>
      </p:sp>
      <p:sp>
        <p:nvSpPr>
          <p:cNvPr id="31" name="Text 29"/>
          <p:cNvSpPr/>
          <p:nvPr/>
        </p:nvSpPr>
        <p:spPr>
          <a:xfrm>
            <a:off x="457200" y="4297680"/>
            <a:ext cx="8229600" cy="475488"/>
          </a:xfrm>
          <a:prstGeom prst="rect">
            <a:avLst/>
          </a:prstGeom>
          <a:noFill/>
          <a:ln/>
        </p:spPr>
        <p:txBody>
          <a:bodyPr wrap="square" rtlCol="0" anchor="ctr"/>
          <a:lstStyle/>
          <a:p>
            <a:pPr indent="0" marL="0">
              <a:buNone/>
            </a:pPr>
            <a:r>
              <a:rPr lang="en-US" sz="1000" dirty="0">
                <a:solidFill>
                  <a:srgbClr val="A0C8F0"/>
                </a:solidFill>
                <a:latin typeface="Arial" pitchFamily="34" charset="0"/>
                <a:ea typeface="Arial" pitchFamily="34" charset="-122"/>
                <a:cs typeface="Arial" pitchFamily="34" charset="-120"/>
              </a:rPr>
              <a:t>Open: simply double-click vadodara_network.html in your file manager, or run: python -m http.server  then open localhost:8000</a:t>
            </a:r>
            <a:endParaRPr lang="en-US" sz="1000" dirty="0"/>
          </a:p>
        </p:txBody>
      </p:sp>
      <p:sp>
        <p:nvSpPr>
          <p:cNvPr id="32" name="Text 30"/>
          <p:cNvSpPr/>
          <p:nvPr/>
        </p:nvSpPr>
        <p:spPr>
          <a:xfrm>
            <a:off x="8412480" y="4869180"/>
            <a:ext cx="640080" cy="201168"/>
          </a:xfrm>
          <a:prstGeom prst="rect">
            <a:avLst/>
          </a:prstGeom>
          <a:noFill/>
          <a:ln/>
        </p:spPr>
        <p:txBody>
          <a:bodyPr wrap="square" rtlCol="0" anchor="ctr"/>
          <a:lstStyle/>
          <a:p>
            <a:pPr algn="r" indent="0" marL="0">
              <a:buNone/>
            </a:pPr>
            <a:r>
              <a:rPr lang="en-US" sz="900" dirty="0">
                <a:solidFill>
                  <a:srgbClr val="5A6272"/>
                </a:solidFill>
                <a:latin typeface="Arial" pitchFamily="34" charset="0"/>
                <a:ea typeface="Arial" pitchFamily="34" charset="-122"/>
                <a:cs typeface="Arial" pitchFamily="34" charset="-120"/>
              </a:rPr>
              <a:t>12 / 16</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B1F3A"/>
          </a:solidFill>
          <a:ln w="12700">
            <a:solidFill>
              <a:srgbClr val="0B1F3A"/>
            </a:solidFill>
            <a:prstDash val="solid"/>
          </a:ln>
        </p:spPr>
      </p:sp>
      <p:sp>
        <p:nvSpPr>
          <p:cNvPr id="3" name="Text 1"/>
          <p:cNvSpPr/>
          <p:nvPr/>
        </p:nvSpPr>
        <p:spPr>
          <a:xfrm>
            <a:off x="228600" y="73152"/>
            <a:ext cx="8686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Theory: composite index design</a:t>
            </a:r>
            <a:endParaRPr lang="en-US" sz="2200" dirty="0"/>
          </a:p>
        </p:txBody>
      </p:sp>
      <p:sp>
        <p:nvSpPr>
          <p:cNvPr id="4" name="Text 2"/>
          <p:cNvSpPr/>
          <p:nvPr/>
        </p:nvSpPr>
        <p:spPr>
          <a:xfrm>
            <a:off x="228600" y="512064"/>
            <a:ext cx="8686800" cy="256032"/>
          </a:xfrm>
          <a:prstGeom prst="rect">
            <a:avLst/>
          </a:prstGeom>
          <a:noFill/>
          <a:ln/>
        </p:spPr>
        <p:txBody>
          <a:bodyPr wrap="square" rtlCol="0" anchor="ctr"/>
          <a:lstStyle/>
          <a:p>
            <a:pPr indent="0" marL="0">
              <a:buNone/>
            </a:pPr>
            <a:r>
              <a:rPr lang="en-US" sz="1100" dirty="0">
                <a:solidFill>
                  <a:srgbClr val="A0C0E0"/>
                </a:solidFill>
                <a:latin typeface="Arial" pitchFamily="34" charset="0"/>
                <a:ea typeface="Arial" pitchFamily="34" charset="-122"/>
                <a:cs typeface="Arial" pitchFamily="34" charset="-120"/>
              </a:rPr>
              <a:t>Kolm–Pollak EDE · Gini · LISA · spatial equity frameworks</a:t>
            </a:r>
            <a:endParaRPr lang="en-US" sz="1100" dirty="0"/>
          </a:p>
        </p:txBody>
      </p:sp>
      <p:sp>
        <p:nvSpPr>
          <p:cNvPr id="5" name="Shape 3"/>
          <p:cNvSpPr/>
          <p:nvPr/>
        </p:nvSpPr>
        <p:spPr>
          <a:xfrm>
            <a:off x="0" y="777240"/>
            <a:ext cx="9144000" cy="0"/>
          </a:xfrm>
          <a:prstGeom prst="line">
            <a:avLst/>
          </a:prstGeom>
          <a:noFill/>
          <a:ln w="38100">
            <a:solidFill>
              <a:srgbClr val="D4A820"/>
            </a:solidFill>
            <a:prstDash val="solid"/>
          </a:ln>
        </p:spPr>
      </p:sp>
      <p:sp>
        <p:nvSpPr>
          <p:cNvPr id="6" name="Shape 4"/>
          <p:cNvSpPr/>
          <p:nvPr/>
        </p:nvSpPr>
        <p:spPr>
          <a:xfrm>
            <a:off x="274320" y="960120"/>
            <a:ext cx="4114800" cy="1645920"/>
          </a:xfrm>
          <a:prstGeom prst="rect">
            <a:avLst/>
          </a:prstGeom>
          <a:solidFill>
            <a:srgbClr val="F0F5FA"/>
          </a:solidFill>
          <a:ln w="6350">
            <a:solidFill>
              <a:srgbClr val="2E6DA4"/>
            </a:solidFill>
            <a:prstDash val="solid"/>
          </a:ln>
        </p:spPr>
      </p:sp>
      <p:sp>
        <p:nvSpPr>
          <p:cNvPr id="7" name="Text 5"/>
          <p:cNvSpPr/>
          <p:nvPr/>
        </p:nvSpPr>
        <p:spPr>
          <a:xfrm>
            <a:off x="365760" y="1024128"/>
            <a:ext cx="3931920" cy="256032"/>
          </a:xfrm>
          <a:prstGeom prst="rect">
            <a:avLst/>
          </a:prstGeom>
          <a:noFill/>
          <a:ln/>
        </p:spPr>
        <p:txBody>
          <a:bodyPr wrap="square" rtlCol="0" anchor="ctr"/>
          <a:lstStyle/>
          <a:p>
            <a:pPr indent="0" marL="0">
              <a:buNone/>
            </a:pPr>
            <a:r>
              <a:rPr lang="en-US" sz="1100" b="1" dirty="0">
                <a:solidFill>
                  <a:srgbClr val="121C2B"/>
                </a:solidFill>
                <a:latin typeface="Arial" pitchFamily="34" charset="0"/>
                <a:ea typeface="Arial" pitchFamily="34" charset="-122"/>
                <a:cs typeface="Arial" pitchFamily="34" charset="-120"/>
              </a:rPr>
              <a:t>OCCIM framework</a:t>
            </a:r>
            <a:endParaRPr lang="en-US" sz="1100" dirty="0"/>
          </a:p>
        </p:txBody>
      </p:sp>
      <p:sp>
        <p:nvSpPr>
          <p:cNvPr id="8" name="Text 6"/>
          <p:cNvSpPr/>
          <p:nvPr/>
        </p:nvSpPr>
        <p:spPr>
          <a:xfrm>
            <a:off x="365760" y="1298448"/>
            <a:ext cx="3931920" cy="182880"/>
          </a:xfrm>
          <a:prstGeom prst="rect">
            <a:avLst/>
          </a:prstGeom>
          <a:noFill/>
          <a:ln/>
        </p:spPr>
        <p:txBody>
          <a:bodyPr wrap="square" rtlCol="0" anchor="ctr"/>
          <a:lstStyle/>
          <a:p>
            <a:pPr indent="0" marL="0">
              <a:buNone/>
            </a:pPr>
            <a:r>
              <a:rPr lang="en-US" sz="850" i="1" dirty="0">
                <a:solidFill>
                  <a:srgbClr val="5A6272"/>
                </a:solidFill>
                <a:latin typeface="Arial" pitchFamily="34" charset="0"/>
                <a:ea typeface="Arial" pitchFamily="34" charset="-122"/>
                <a:cs typeface="Arial" pitchFamily="34" charset="-120"/>
              </a:rPr>
              <a:t>Source: Das &amp; Mistri tradition; Eastern India GIS studies</a:t>
            </a:r>
            <a:endParaRPr lang="en-US" sz="850" dirty="0"/>
          </a:p>
        </p:txBody>
      </p:sp>
      <p:sp>
        <p:nvSpPr>
          <p:cNvPr id="9" name="Text 7"/>
          <p:cNvSpPr/>
          <p:nvPr/>
        </p:nvSpPr>
        <p:spPr>
          <a:xfrm>
            <a:off x="365760" y="1527048"/>
            <a:ext cx="3931920" cy="1005840"/>
          </a:xfrm>
          <a:prstGeom prst="rect">
            <a:avLst/>
          </a:prstGeom>
          <a:noFill/>
          <a:ln/>
        </p:spPr>
        <p:txBody>
          <a:bodyPr wrap="square" rtlCol="0" anchor="ctr"/>
          <a:lstStyle/>
          <a:p>
            <a:pPr indent="0" marL="0">
              <a:buNone/>
            </a:pPr>
            <a:r>
              <a:rPr lang="en-US" sz="900" dirty="0">
                <a:solidFill>
                  <a:srgbClr val="1A2A40"/>
                </a:solidFill>
                <a:latin typeface="Arial" pitchFamily="34" charset="0"/>
                <a:ea typeface="Arial" pitchFamily="34" charset="-122"/>
                <a:cs typeface="Arial" pitchFamily="34" charset="-120"/>
              </a:rPr>
              <a:t>Composite index integrating GIS with synthetic indices to measure spatial variation in urban conditions across multiple dimensions. Model consistency assessed via R² of regression analysis. The UOI extends OCCIM by adding flood risk and transit dimensions with explicit inequality adjustment.</a:t>
            </a:r>
            <a:endParaRPr lang="en-US" sz="900" dirty="0"/>
          </a:p>
        </p:txBody>
      </p:sp>
      <p:sp>
        <p:nvSpPr>
          <p:cNvPr id="10" name="Shape 8"/>
          <p:cNvSpPr/>
          <p:nvPr/>
        </p:nvSpPr>
        <p:spPr>
          <a:xfrm>
            <a:off x="4590288" y="960120"/>
            <a:ext cx="4114800" cy="1645920"/>
          </a:xfrm>
          <a:prstGeom prst="rect">
            <a:avLst/>
          </a:prstGeom>
          <a:solidFill>
            <a:srgbClr val="F5F0FA"/>
          </a:solidFill>
          <a:ln w="6350">
            <a:solidFill>
              <a:srgbClr val="7A5AB0"/>
            </a:solidFill>
            <a:prstDash val="solid"/>
          </a:ln>
        </p:spPr>
      </p:sp>
      <p:sp>
        <p:nvSpPr>
          <p:cNvPr id="11" name="Text 9"/>
          <p:cNvSpPr/>
          <p:nvPr/>
        </p:nvSpPr>
        <p:spPr>
          <a:xfrm>
            <a:off x="4681728" y="1024128"/>
            <a:ext cx="3931920" cy="256032"/>
          </a:xfrm>
          <a:prstGeom prst="rect">
            <a:avLst/>
          </a:prstGeom>
          <a:noFill/>
          <a:ln/>
        </p:spPr>
        <p:txBody>
          <a:bodyPr wrap="square" rtlCol="0" anchor="ctr"/>
          <a:lstStyle/>
          <a:p>
            <a:pPr indent="0" marL="0">
              <a:buNone/>
            </a:pPr>
            <a:r>
              <a:rPr lang="en-US" sz="1100" b="1" dirty="0">
                <a:solidFill>
                  <a:srgbClr val="121C2B"/>
                </a:solidFill>
                <a:latin typeface="Arial" pitchFamily="34" charset="0"/>
                <a:ea typeface="Arial" pitchFamily="34" charset="-122"/>
                <a:cs typeface="Arial" pitchFamily="34" charset="-120"/>
              </a:rPr>
              <a:t>Kolm–Pollak EDE</a:t>
            </a:r>
            <a:endParaRPr lang="en-US" sz="1100" dirty="0"/>
          </a:p>
        </p:txBody>
      </p:sp>
      <p:sp>
        <p:nvSpPr>
          <p:cNvPr id="12" name="Text 10"/>
          <p:cNvSpPr/>
          <p:nvPr/>
        </p:nvSpPr>
        <p:spPr>
          <a:xfrm>
            <a:off x="4681728" y="1298448"/>
            <a:ext cx="3931920" cy="182880"/>
          </a:xfrm>
          <a:prstGeom prst="rect">
            <a:avLst/>
          </a:prstGeom>
          <a:noFill/>
          <a:ln/>
        </p:spPr>
        <p:txBody>
          <a:bodyPr wrap="square" rtlCol="0" anchor="ctr"/>
          <a:lstStyle/>
          <a:p>
            <a:pPr indent="0" marL="0">
              <a:buNone/>
            </a:pPr>
            <a:r>
              <a:rPr lang="en-US" sz="850" i="1" dirty="0">
                <a:solidFill>
                  <a:srgbClr val="5A6272"/>
                </a:solidFill>
                <a:latin typeface="Arial" pitchFamily="34" charset="0"/>
                <a:ea typeface="Arial" pitchFamily="34" charset="-122"/>
                <a:cs typeface="Arial" pitchFamily="34" charset="-120"/>
              </a:rPr>
              <a:t>Source: Kolm (1976), Pollak (1971)</a:t>
            </a:r>
            <a:endParaRPr lang="en-US" sz="850" dirty="0"/>
          </a:p>
        </p:txBody>
      </p:sp>
      <p:sp>
        <p:nvSpPr>
          <p:cNvPr id="13" name="Text 11"/>
          <p:cNvSpPr/>
          <p:nvPr/>
        </p:nvSpPr>
        <p:spPr>
          <a:xfrm>
            <a:off x="4681728" y="1527048"/>
            <a:ext cx="3931920" cy="1005840"/>
          </a:xfrm>
          <a:prstGeom prst="rect">
            <a:avLst/>
          </a:prstGeom>
          <a:noFill/>
          <a:ln/>
        </p:spPr>
        <p:txBody>
          <a:bodyPr wrap="square" rtlCol="0" anchor="ctr"/>
          <a:lstStyle/>
          <a:p>
            <a:pPr indent="0" marL="0">
              <a:buNone/>
            </a:pPr>
            <a:r>
              <a:rPr lang="en-US" sz="900" dirty="0">
                <a:solidFill>
                  <a:srgbClr val="1A2A40"/>
                </a:solidFill>
                <a:latin typeface="Arial" pitchFamily="34" charset="0"/>
                <a:ea typeface="Arial" pitchFamily="34" charset="-122"/>
                <a:cs typeface="Arial" pitchFamily="34" charset="-120"/>
              </a:rPr>
              <a:t>EDE_κ = −(1/κ) log[(1/n)Σᵢ exp(−κ·xᵢ)]. At κ→0, EDE→mean. At κ→∞, EDE→min. The κ-sweep from 0.1 to 2.0 tests whether inequality-adjusted rankings change with aversion parameter — if Spearman ρ≥0.95 throughout, the rankings are robust to the κ choice.</a:t>
            </a:r>
            <a:endParaRPr lang="en-US" sz="900" dirty="0"/>
          </a:p>
        </p:txBody>
      </p:sp>
      <p:sp>
        <p:nvSpPr>
          <p:cNvPr id="14" name="Shape 12"/>
          <p:cNvSpPr/>
          <p:nvPr/>
        </p:nvSpPr>
        <p:spPr>
          <a:xfrm>
            <a:off x="274320" y="2788920"/>
            <a:ext cx="4114800" cy="1645920"/>
          </a:xfrm>
          <a:prstGeom prst="rect">
            <a:avLst/>
          </a:prstGeom>
          <a:solidFill>
            <a:srgbClr val="F0F5FA"/>
          </a:solidFill>
          <a:ln w="6350">
            <a:solidFill>
              <a:srgbClr val="2E6DA4"/>
            </a:solidFill>
            <a:prstDash val="solid"/>
          </a:ln>
        </p:spPr>
      </p:sp>
      <p:sp>
        <p:nvSpPr>
          <p:cNvPr id="15" name="Text 13"/>
          <p:cNvSpPr/>
          <p:nvPr/>
        </p:nvSpPr>
        <p:spPr>
          <a:xfrm>
            <a:off x="365760" y="2852928"/>
            <a:ext cx="3931920" cy="256032"/>
          </a:xfrm>
          <a:prstGeom prst="rect">
            <a:avLst/>
          </a:prstGeom>
          <a:noFill/>
          <a:ln/>
        </p:spPr>
        <p:txBody>
          <a:bodyPr wrap="square" rtlCol="0" anchor="ctr"/>
          <a:lstStyle/>
          <a:p>
            <a:pPr indent="0" marL="0">
              <a:buNone/>
            </a:pPr>
            <a:r>
              <a:rPr lang="en-US" sz="1100" b="1" dirty="0">
                <a:solidFill>
                  <a:srgbClr val="121C2B"/>
                </a:solidFill>
                <a:latin typeface="Arial" pitchFamily="34" charset="0"/>
                <a:ea typeface="Arial" pitchFamily="34" charset="-122"/>
                <a:cs typeface="Arial" pitchFamily="34" charset="-120"/>
              </a:rPr>
              <a:t>Spatial equity supply–demand</a:t>
            </a:r>
            <a:endParaRPr lang="en-US" sz="1100" dirty="0"/>
          </a:p>
        </p:txBody>
      </p:sp>
      <p:sp>
        <p:nvSpPr>
          <p:cNvPr id="16" name="Text 14"/>
          <p:cNvSpPr/>
          <p:nvPr/>
        </p:nvSpPr>
        <p:spPr>
          <a:xfrm>
            <a:off x="365760" y="3127248"/>
            <a:ext cx="3931920" cy="182880"/>
          </a:xfrm>
          <a:prstGeom prst="rect">
            <a:avLst/>
          </a:prstGeom>
          <a:noFill/>
          <a:ln/>
        </p:spPr>
        <p:txBody>
          <a:bodyPr wrap="square" rtlCol="0" anchor="ctr"/>
          <a:lstStyle/>
          <a:p>
            <a:pPr indent="0" marL="0">
              <a:buNone/>
            </a:pPr>
            <a:r>
              <a:rPr lang="en-US" sz="850" i="1" dirty="0">
                <a:solidFill>
                  <a:srgbClr val="5A6272"/>
                </a:solidFill>
                <a:latin typeface="Arial" pitchFamily="34" charset="0"/>
                <a:ea typeface="Arial" pitchFamily="34" charset="-122"/>
                <a:cs typeface="Arial" pitchFamily="34" charset="-120"/>
              </a:rPr>
              <a:t>Source: Wang et al. 2022; Beijing Sixth Ring Road study</a:t>
            </a:r>
            <a:endParaRPr lang="en-US" sz="850" dirty="0"/>
          </a:p>
        </p:txBody>
      </p:sp>
      <p:sp>
        <p:nvSpPr>
          <p:cNvPr id="17" name="Text 15"/>
          <p:cNvSpPr/>
          <p:nvPr/>
        </p:nvSpPr>
        <p:spPr>
          <a:xfrm>
            <a:off x="365760" y="3355848"/>
            <a:ext cx="3931920" cy="1005840"/>
          </a:xfrm>
          <a:prstGeom prst="rect">
            <a:avLst/>
          </a:prstGeom>
          <a:noFill/>
          <a:ln/>
        </p:spPr>
        <p:txBody>
          <a:bodyPr wrap="square" rtlCol="0" anchor="ctr"/>
          <a:lstStyle/>
          <a:p>
            <a:pPr indent="0" marL="0">
              <a:buNone/>
            </a:pPr>
            <a:r>
              <a:rPr lang="en-US" sz="900" dirty="0">
                <a:solidFill>
                  <a:srgbClr val="1A2A40"/>
                </a:solidFill>
                <a:latin typeface="Arial" pitchFamily="34" charset="0"/>
                <a:ea typeface="Arial" pitchFamily="34" charset="-122"/>
                <a:cs typeface="Arial" pitchFamily="34" charset="-120"/>
              </a:rPr>
              <a:t>Spatial equity occurs when service allocation aligns with the level of demand. The supply–demand mismatch framework identifies areas where high demand is not met by sufficient supply. For Vadodara, the UOI measures the gap between healthcare/transit supply and the 32-ward population distribution.</a:t>
            </a:r>
            <a:endParaRPr lang="en-US" sz="900" dirty="0"/>
          </a:p>
        </p:txBody>
      </p:sp>
      <p:sp>
        <p:nvSpPr>
          <p:cNvPr id="18" name="Shape 16"/>
          <p:cNvSpPr/>
          <p:nvPr/>
        </p:nvSpPr>
        <p:spPr>
          <a:xfrm>
            <a:off x="4590288" y="2788920"/>
            <a:ext cx="4114800" cy="1645920"/>
          </a:xfrm>
          <a:prstGeom prst="rect">
            <a:avLst/>
          </a:prstGeom>
          <a:solidFill>
            <a:srgbClr val="F5F0FA"/>
          </a:solidFill>
          <a:ln w="6350">
            <a:solidFill>
              <a:srgbClr val="7A5AB0"/>
            </a:solidFill>
            <a:prstDash val="solid"/>
          </a:ln>
        </p:spPr>
      </p:sp>
      <p:sp>
        <p:nvSpPr>
          <p:cNvPr id="19" name="Text 17"/>
          <p:cNvSpPr/>
          <p:nvPr/>
        </p:nvSpPr>
        <p:spPr>
          <a:xfrm>
            <a:off x="4681728" y="2852928"/>
            <a:ext cx="3931920" cy="256032"/>
          </a:xfrm>
          <a:prstGeom prst="rect">
            <a:avLst/>
          </a:prstGeom>
          <a:noFill/>
          <a:ln/>
        </p:spPr>
        <p:txBody>
          <a:bodyPr wrap="square" rtlCol="0" anchor="ctr"/>
          <a:lstStyle/>
          <a:p>
            <a:pPr indent="0" marL="0">
              <a:buNone/>
            </a:pPr>
            <a:r>
              <a:rPr lang="en-US" sz="1100" b="1" dirty="0">
                <a:solidFill>
                  <a:srgbClr val="121C2B"/>
                </a:solidFill>
                <a:latin typeface="Arial" pitchFamily="34" charset="0"/>
                <a:ea typeface="Arial" pitchFamily="34" charset="-122"/>
                <a:cs typeface="Arial" pitchFamily="34" charset="-120"/>
              </a:rPr>
              <a:t>LISA spatial typologies</a:t>
            </a:r>
            <a:endParaRPr lang="en-US" sz="1100" dirty="0"/>
          </a:p>
        </p:txBody>
      </p:sp>
      <p:sp>
        <p:nvSpPr>
          <p:cNvPr id="20" name="Text 18"/>
          <p:cNvSpPr/>
          <p:nvPr/>
        </p:nvSpPr>
        <p:spPr>
          <a:xfrm>
            <a:off x="4681728" y="3127248"/>
            <a:ext cx="3931920" cy="182880"/>
          </a:xfrm>
          <a:prstGeom prst="rect">
            <a:avLst/>
          </a:prstGeom>
          <a:noFill/>
          <a:ln/>
        </p:spPr>
        <p:txBody>
          <a:bodyPr wrap="square" rtlCol="0" anchor="ctr"/>
          <a:lstStyle/>
          <a:p>
            <a:pPr indent="0" marL="0">
              <a:buNone/>
            </a:pPr>
            <a:r>
              <a:rPr lang="en-US" sz="850" i="1" dirty="0">
                <a:solidFill>
                  <a:srgbClr val="5A6272"/>
                </a:solidFill>
                <a:latin typeface="Arial" pitchFamily="34" charset="0"/>
                <a:ea typeface="Arial" pitchFamily="34" charset="-122"/>
                <a:cs typeface="Arial" pitchFamily="34" charset="-120"/>
              </a:rPr>
              <a:t>Source: Anselin (1995)</a:t>
            </a:r>
            <a:endParaRPr lang="en-US" sz="850" dirty="0"/>
          </a:p>
        </p:txBody>
      </p:sp>
      <p:sp>
        <p:nvSpPr>
          <p:cNvPr id="21" name="Text 19"/>
          <p:cNvSpPr/>
          <p:nvPr/>
        </p:nvSpPr>
        <p:spPr>
          <a:xfrm>
            <a:off x="4681728" y="3355848"/>
            <a:ext cx="3931920" cy="1005840"/>
          </a:xfrm>
          <a:prstGeom prst="rect">
            <a:avLst/>
          </a:prstGeom>
          <a:noFill/>
          <a:ln/>
        </p:spPr>
        <p:txBody>
          <a:bodyPr wrap="square" rtlCol="0" anchor="ctr"/>
          <a:lstStyle/>
          <a:p>
            <a:pPr indent="0" marL="0">
              <a:buNone/>
            </a:pPr>
            <a:r>
              <a:rPr lang="en-US" sz="900" dirty="0">
                <a:solidFill>
                  <a:srgbClr val="1A2A40"/>
                </a:solidFill>
                <a:latin typeface="Arial" pitchFamily="34" charset="0"/>
                <a:ea typeface="Arial" pitchFamily="34" charset="-122"/>
                <a:cs typeface="Arial" pitchFamily="34" charset="-120"/>
              </a:rPr>
              <a:t>Local Indicators of Spatial Association decompose global Moran's I into four quadrant types: High-High (spatial clusters of opportunity — policy reinforcement zones), Low-Low (deprivation clusters — intervention priority), High-Low and Low-High (spatial outliers). The LISA map is the primary policy-communication output of Chapter 4.</a:t>
            </a:r>
            <a:endParaRPr lang="en-US" sz="900" dirty="0"/>
          </a:p>
        </p:txBody>
      </p:sp>
      <p:sp>
        <p:nvSpPr>
          <p:cNvPr id="22" name="Text 20"/>
          <p:cNvSpPr/>
          <p:nvPr/>
        </p:nvSpPr>
        <p:spPr>
          <a:xfrm>
            <a:off x="8412480" y="4869180"/>
            <a:ext cx="640080" cy="201168"/>
          </a:xfrm>
          <a:prstGeom prst="rect">
            <a:avLst/>
          </a:prstGeom>
          <a:noFill/>
          <a:ln/>
        </p:spPr>
        <p:txBody>
          <a:bodyPr wrap="square" rtlCol="0" anchor="ctr"/>
          <a:lstStyle/>
          <a:p>
            <a:pPr algn="r" indent="0" marL="0">
              <a:buNone/>
            </a:pPr>
            <a:r>
              <a:rPr lang="en-US" sz="900" dirty="0">
                <a:solidFill>
                  <a:srgbClr val="5A6272"/>
                </a:solidFill>
                <a:latin typeface="Arial" pitchFamily="34" charset="0"/>
                <a:ea typeface="Arial" pitchFamily="34" charset="-122"/>
                <a:cs typeface="Arial" pitchFamily="34" charset="-120"/>
              </a:rPr>
              <a:t>13 / 16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B1F3A"/>
          </a:solidFill>
          <a:ln w="12700">
            <a:solidFill>
              <a:srgbClr val="0B1F3A"/>
            </a:solidFill>
            <a:prstDash val="solid"/>
          </a:ln>
        </p:spPr>
      </p:sp>
      <p:sp>
        <p:nvSpPr>
          <p:cNvPr id="3" name="Text 1"/>
          <p:cNvSpPr/>
          <p:nvPr/>
        </p:nvSpPr>
        <p:spPr>
          <a:xfrm>
            <a:off x="228600" y="73152"/>
            <a:ext cx="8686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Theory: BYM2 · INLA · DYNWAVE CFL</a:t>
            </a:r>
            <a:endParaRPr lang="en-US" sz="2200" dirty="0"/>
          </a:p>
        </p:txBody>
      </p:sp>
      <p:sp>
        <p:nvSpPr>
          <p:cNvPr id="4" name="Text 2"/>
          <p:cNvSpPr/>
          <p:nvPr/>
        </p:nvSpPr>
        <p:spPr>
          <a:xfrm>
            <a:off x="228600" y="512064"/>
            <a:ext cx="8686800" cy="256032"/>
          </a:xfrm>
          <a:prstGeom prst="rect">
            <a:avLst/>
          </a:prstGeom>
          <a:noFill/>
          <a:ln/>
        </p:spPr>
        <p:txBody>
          <a:bodyPr wrap="square" rtlCol="0" anchor="ctr"/>
          <a:lstStyle/>
          <a:p>
            <a:pPr indent="0" marL="0">
              <a:buNone/>
            </a:pPr>
            <a:r>
              <a:rPr lang="en-US" sz="1100" dirty="0">
                <a:solidFill>
                  <a:srgbClr val="A0C0E0"/>
                </a:solidFill>
                <a:latin typeface="Arial" pitchFamily="34" charset="0"/>
                <a:ea typeface="Arial" pitchFamily="34" charset="-122"/>
                <a:cs typeface="Arial" pitchFamily="34" charset="-120"/>
              </a:rPr>
              <a:t>Penalised Complexity priors · GMRF · Courant condition</a:t>
            </a:r>
            <a:endParaRPr lang="en-US" sz="1100" dirty="0"/>
          </a:p>
        </p:txBody>
      </p:sp>
      <p:sp>
        <p:nvSpPr>
          <p:cNvPr id="5" name="Shape 3"/>
          <p:cNvSpPr/>
          <p:nvPr/>
        </p:nvSpPr>
        <p:spPr>
          <a:xfrm>
            <a:off x="0" y="777240"/>
            <a:ext cx="9144000" cy="0"/>
          </a:xfrm>
          <a:prstGeom prst="line">
            <a:avLst/>
          </a:prstGeom>
          <a:noFill/>
          <a:ln w="38100">
            <a:solidFill>
              <a:srgbClr val="D4A820"/>
            </a:solidFill>
            <a:prstDash val="solid"/>
          </a:ln>
        </p:spPr>
      </p:sp>
      <p:sp>
        <p:nvSpPr>
          <p:cNvPr id="6" name="Shape 4"/>
          <p:cNvSpPr/>
          <p:nvPr/>
        </p:nvSpPr>
        <p:spPr>
          <a:xfrm>
            <a:off x="274320" y="932688"/>
            <a:ext cx="5486400" cy="1920240"/>
          </a:xfrm>
          <a:prstGeom prst="rect">
            <a:avLst/>
          </a:prstGeom>
          <a:solidFill>
            <a:srgbClr val="EEF5FB"/>
          </a:solidFill>
          <a:ln w="7620">
            <a:solidFill>
              <a:srgbClr val="1A4A8A"/>
            </a:solidFill>
            <a:prstDash val="solid"/>
          </a:ln>
        </p:spPr>
      </p:sp>
      <p:sp>
        <p:nvSpPr>
          <p:cNvPr id="7" name="Text 5"/>
          <p:cNvSpPr/>
          <p:nvPr/>
        </p:nvSpPr>
        <p:spPr>
          <a:xfrm>
            <a:off x="411480" y="1005840"/>
            <a:ext cx="5212080" cy="274320"/>
          </a:xfrm>
          <a:prstGeom prst="rect">
            <a:avLst/>
          </a:prstGeom>
          <a:noFill/>
          <a:ln/>
        </p:spPr>
        <p:txBody>
          <a:bodyPr wrap="square" rtlCol="0" anchor="ctr"/>
          <a:lstStyle/>
          <a:p>
            <a:pPr indent="0" marL="0">
              <a:buNone/>
            </a:pPr>
            <a:r>
              <a:rPr lang="en-US" sz="1100" b="1" dirty="0">
                <a:solidFill>
                  <a:srgbClr val="0B1F3A"/>
                </a:solidFill>
                <a:latin typeface="Arial" pitchFamily="34" charset="0"/>
                <a:ea typeface="Arial" pitchFamily="34" charset="-122"/>
                <a:cs typeface="Arial" pitchFamily="34" charset="-120"/>
              </a:rPr>
              <a:t>BYM2 Penalised Complexity priors (Riebler et al. 2016)</a:t>
            </a:r>
            <a:endParaRPr lang="en-US" sz="1100" dirty="0"/>
          </a:p>
        </p:txBody>
      </p:sp>
      <p:sp>
        <p:nvSpPr>
          <p:cNvPr id="8" name="Text 6"/>
          <p:cNvSpPr/>
          <p:nvPr/>
        </p:nvSpPr>
        <p:spPr>
          <a:xfrm>
            <a:off x="411480" y="1316736"/>
            <a:ext cx="5212080" cy="1463040"/>
          </a:xfrm>
          <a:prstGeom prst="rect">
            <a:avLst/>
          </a:prstGeom>
          <a:noFill/>
          <a:ln/>
        </p:spPr>
        <p:txBody>
          <a:bodyPr wrap="square" rtlCol="0" anchor="ctr"/>
          <a:lstStyle/>
          <a:p>
            <a:pPr indent="0" marL="0">
              <a:buNone/>
            </a:pPr>
            <a:r>
              <a:rPr lang="en-US" sz="950" dirty="0">
                <a:solidFill>
                  <a:srgbClr val="1A2A40"/>
                </a:solidFill>
                <a:latin typeface="Arial" pitchFamily="34" charset="0"/>
                <a:ea typeface="Arial" pitchFamily="34" charset="-122"/>
                <a:cs typeface="Arial" pitchFamily="34" charset="-120"/>
              </a:rPr>
              <a:t>PC priors penalise deviation from the base model (constant risk). For σ_b: P(σ_b &gt; U) = a with U=0.5/0.31, a=0.01. This places 99% prior probability that σ_b &lt; 1.6 — appropriate for ward-level UOI variation. For φ: P(φ &lt; 0.5) = 0.5 (neutral prior on spatial fraction). Validated in COVID-19 spatio-temporal analysis: BYM2 outperforms BYM (lower DIC, WAIC) across spatial and temporal structures. INLA computes posterior in minutes; MCMC (PyMC 5) takes 10–30 min for 4 chains × 2000 draws.</a:t>
            </a:r>
            <a:endParaRPr lang="en-US" sz="950" dirty="0"/>
          </a:p>
        </p:txBody>
      </p:sp>
      <p:sp>
        <p:nvSpPr>
          <p:cNvPr id="9" name="Shape 7"/>
          <p:cNvSpPr/>
          <p:nvPr/>
        </p:nvSpPr>
        <p:spPr>
          <a:xfrm>
            <a:off x="5897880" y="932688"/>
            <a:ext cx="3017520" cy="1920240"/>
          </a:xfrm>
          <a:prstGeom prst="rect">
            <a:avLst/>
          </a:prstGeom>
          <a:solidFill>
            <a:srgbClr val="FEF8F0"/>
          </a:solidFill>
          <a:ln w="7620">
            <a:solidFill>
              <a:srgbClr val="B7770D"/>
            </a:solidFill>
            <a:prstDash val="solid"/>
          </a:ln>
        </p:spPr>
      </p:sp>
      <p:sp>
        <p:nvSpPr>
          <p:cNvPr id="10" name="Text 8"/>
          <p:cNvSpPr/>
          <p:nvPr/>
        </p:nvSpPr>
        <p:spPr>
          <a:xfrm>
            <a:off x="6035040" y="1005840"/>
            <a:ext cx="2743200" cy="274320"/>
          </a:xfrm>
          <a:prstGeom prst="rect">
            <a:avLst/>
          </a:prstGeom>
          <a:noFill/>
          <a:ln/>
        </p:spPr>
        <p:txBody>
          <a:bodyPr wrap="square" rtlCol="0" anchor="ctr"/>
          <a:lstStyle/>
          <a:p>
            <a:pPr indent="0" marL="0">
              <a:buNone/>
            </a:pPr>
            <a:r>
              <a:rPr lang="en-US" sz="1100" b="1" dirty="0">
                <a:solidFill>
                  <a:srgbClr val="5A3000"/>
                </a:solidFill>
                <a:latin typeface="Arial" pitchFamily="34" charset="0"/>
                <a:ea typeface="Arial" pitchFamily="34" charset="-122"/>
                <a:cs typeface="Arial" pitchFamily="34" charset="-120"/>
              </a:rPr>
              <a:t>GMRF and INLA</a:t>
            </a:r>
            <a:endParaRPr lang="en-US" sz="1100" dirty="0"/>
          </a:p>
        </p:txBody>
      </p:sp>
      <p:sp>
        <p:nvSpPr>
          <p:cNvPr id="11" name="Text 9"/>
          <p:cNvSpPr/>
          <p:nvPr/>
        </p:nvSpPr>
        <p:spPr>
          <a:xfrm>
            <a:off x="6035040" y="1316736"/>
            <a:ext cx="2743200" cy="1463040"/>
          </a:xfrm>
          <a:prstGeom prst="rect">
            <a:avLst/>
          </a:prstGeom>
          <a:noFill/>
          <a:ln/>
        </p:spPr>
        <p:txBody>
          <a:bodyPr wrap="square" rtlCol="0" anchor="ctr"/>
          <a:lstStyle/>
          <a:p>
            <a:pPr indent="0" marL="0">
              <a:buNone/>
            </a:pPr>
            <a:r>
              <a:rPr lang="en-US" sz="950" dirty="0">
                <a:solidFill>
                  <a:srgbClr val="3A1A00"/>
                </a:solidFill>
                <a:latin typeface="Arial" pitchFamily="34" charset="0"/>
                <a:ea typeface="Arial" pitchFamily="34" charset="-122"/>
                <a:cs typeface="Arial" pitchFamily="34" charset="-120"/>
              </a:rPr>
              <a:t>INLA exploits sparse GMRF structure for fast approximate Bayesian inference. The ICAR precision matrix Q=D−W is a GMRF with log-prob ∝ −u'Qu/2. Sum-to-zero constraint: rank(Q)=n−1. Scaling factor from eigendecomposition makes σ_b comparable across graphs.</a:t>
            </a:r>
            <a:endParaRPr lang="en-US" sz="950" dirty="0"/>
          </a:p>
        </p:txBody>
      </p:sp>
      <p:sp>
        <p:nvSpPr>
          <p:cNvPr id="12" name="Shape 10"/>
          <p:cNvSpPr/>
          <p:nvPr/>
        </p:nvSpPr>
        <p:spPr>
          <a:xfrm>
            <a:off x="274320" y="2944368"/>
            <a:ext cx="8595360" cy="1783080"/>
          </a:xfrm>
          <a:prstGeom prst="rect">
            <a:avLst/>
          </a:prstGeom>
          <a:solidFill>
            <a:srgbClr val="F0FAF0"/>
          </a:solidFill>
          <a:ln w="7620">
            <a:solidFill>
              <a:srgbClr val="1A6B5A"/>
            </a:solidFill>
            <a:prstDash val="solid"/>
          </a:ln>
        </p:spPr>
      </p:sp>
      <p:sp>
        <p:nvSpPr>
          <p:cNvPr id="13" name="Text 11"/>
          <p:cNvSpPr/>
          <p:nvPr/>
        </p:nvSpPr>
        <p:spPr>
          <a:xfrm>
            <a:off x="411480" y="3017520"/>
            <a:ext cx="8321040" cy="274320"/>
          </a:xfrm>
          <a:prstGeom prst="rect">
            <a:avLst/>
          </a:prstGeom>
          <a:noFill/>
          <a:ln/>
        </p:spPr>
        <p:txBody>
          <a:bodyPr wrap="square" rtlCol="0" anchor="ctr"/>
          <a:lstStyle/>
          <a:p>
            <a:pPr indent="0" marL="0">
              <a:buNone/>
            </a:pPr>
            <a:r>
              <a:rPr lang="en-US" sz="1100" b="1" dirty="0">
                <a:solidFill>
                  <a:srgbClr val="004A00"/>
                </a:solidFill>
                <a:latin typeface="Arial" pitchFamily="34" charset="0"/>
                <a:ea typeface="Arial" pitchFamily="34" charset="-122"/>
                <a:cs typeface="Arial" pitchFamily="34" charset="-120"/>
              </a:rPr>
              <a:t>SWMM DYNWAVE: St Venant equations and CFL condition</a:t>
            </a:r>
            <a:endParaRPr lang="en-US" sz="1100" dirty="0"/>
          </a:p>
        </p:txBody>
      </p:sp>
      <p:sp>
        <p:nvSpPr>
          <p:cNvPr id="14" name="Text 12"/>
          <p:cNvSpPr/>
          <p:nvPr/>
        </p:nvSpPr>
        <p:spPr>
          <a:xfrm>
            <a:off x="411480" y="3328416"/>
            <a:ext cx="8321040" cy="1335024"/>
          </a:xfrm>
          <a:prstGeom prst="rect">
            <a:avLst/>
          </a:prstGeom>
          <a:noFill/>
          <a:ln/>
        </p:spPr>
        <p:txBody>
          <a:bodyPr wrap="square" rtlCol="0" anchor="ctr"/>
          <a:lstStyle/>
          <a:p>
            <a:pPr indent="0" marL="0">
              <a:buNone/>
            </a:pPr>
            <a:r>
              <a:rPr lang="en-US" sz="950" dirty="0">
                <a:solidFill>
                  <a:srgbClr val="004A00"/>
                </a:solidFill>
                <a:latin typeface="Arial" pitchFamily="34" charset="0"/>
                <a:ea typeface="Arial" pitchFamily="34" charset="-122"/>
                <a:cs typeface="Arial" pitchFamily="34" charset="-120"/>
              </a:rPr>
              <a:t>DYNWAVE solves the full Saint-Venant equations: continuity ∂A/∂t + ∂Q/∂x = q and momentum ∂Q/∂t + ∂(Q²/A)/∂x + gA(∂H/∂x + S_f) = 0. CFL stability requires Δt ≤ Δx / c where c = √(gA/T) is wave celerity. For Vadodara major roads: shortest segment ~50m, wave speed ~3.1 m/s → CFL dt ≤ 50/3.1 = 16s. Original 30s routing step violated CFL for short segments → DYNWAVE internally substepped to &lt;1ms → 17-minute execution. Fixed 5s routing step provides 3× safety margin. Physical storm: 50mm/hr × 500m² catchment × C=0.70 → Q_peak = 0.0049 CMS per node.</a:t>
            </a:r>
            <a:endParaRPr lang="en-US" sz="950" dirty="0"/>
          </a:p>
        </p:txBody>
      </p:sp>
      <p:sp>
        <p:nvSpPr>
          <p:cNvPr id="15" name="Text 13"/>
          <p:cNvSpPr/>
          <p:nvPr/>
        </p:nvSpPr>
        <p:spPr>
          <a:xfrm>
            <a:off x="8412480" y="4869180"/>
            <a:ext cx="640080" cy="201168"/>
          </a:xfrm>
          <a:prstGeom prst="rect">
            <a:avLst/>
          </a:prstGeom>
          <a:noFill/>
          <a:ln/>
        </p:spPr>
        <p:txBody>
          <a:bodyPr wrap="square" rtlCol="0" anchor="ctr"/>
          <a:lstStyle/>
          <a:p>
            <a:pPr algn="r" indent="0" marL="0">
              <a:buNone/>
            </a:pPr>
            <a:r>
              <a:rPr lang="en-US" sz="900" dirty="0">
                <a:solidFill>
                  <a:srgbClr val="5A6272"/>
                </a:solidFill>
                <a:latin typeface="Arial" pitchFamily="34" charset="0"/>
                <a:ea typeface="Arial" pitchFamily="34" charset="-122"/>
                <a:cs typeface="Arial" pitchFamily="34" charset="-120"/>
              </a:rPr>
              <a:t>14 / 16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B1F3A"/>
          </a:solidFill>
          <a:ln w="12700">
            <a:solidFill>
              <a:srgbClr val="0B1F3A"/>
            </a:solidFill>
            <a:prstDash val="solid"/>
          </a:ln>
        </p:spPr>
      </p:sp>
      <p:sp>
        <p:nvSpPr>
          <p:cNvPr id="3" name="Text 1"/>
          <p:cNvSpPr/>
          <p:nvPr/>
        </p:nvSpPr>
        <p:spPr>
          <a:xfrm>
            <a:off x="228600" y="73152"/>
            <a:ext cx="8686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Complete file inventory</a:t>
            </a:r>
            <a:endParaRPr lang="en-US" sz="2200" dirty="0"/>
          </a:p>
        </p:txBody>
      </p:sp>
      <p:sp>
        <p:nvSpPr>
          <p:cNvPr id="4" name="Text 2"/>
          <p:cNvSpPr/>
          <p:nvPr/>
        </p:nvSpPr>
        <p:spPr>
          <a:xfrm>
            <a:off x="228600" y="512064"/>
            <a:ext cx="8686800" cy="256032"/>
          </a:xfrm>
          <a:prstGeom prst="rect">
            <a:avLst/>
          </a:prstGeom>
          <a:noFill/>
          <a:ln/>
        </p:spPr>
        <p:txBody>
          <a:bodyPr wrap="square" rtlCol="0" anchor="ctr"/>
          <a:lstStyle/>
          <a:p>
            <a:pPr indent="0" marL="0">
              <a:buNone/>
            </a:pPr>
            <a:r>
              <a:rPr lang="en-US" sz="1100" dirty="0">
                <a:solidFill>
                  <a:srgbClr val="A0C0E0"/>
                </a:solidFill>
                <a:latin typeface="Arial" pitchFamily="34" charset="0"/>
                <a:ea typeface="Arial" pitchFamily="34" charset="-122"/>
                <a:cs typeface="Arial" pitchFamily="34" charset="-120"/>
              </a:rPr>
              <a:t>All deliverables produced in this project</a:t>
            </a:r>
            <a:endParaRPr lang="en-US" sz="1100" dirty="0"/>
          </a:p>
        </p:txBody>
      </p:sp>
      <p:sp>
        <p:nvSpPr>
          <p:cNvPr id="5" name="Shape 3"/>
          <p:cNvSpPr/>
          <p:nvPr/>
        </p:nvSpPr>
        <p:spPr>
          <a:xfrm>
            <a:off x="0" y="777240"/>
            <a:ext cx="9144000" cy="0"/>
          </a:xfrm>
          <a:prstGeom prst="line">
            <a:avLst/>
          </a:prstGeom>
          <a:noFill/>
          <a:ln w="38100">
            <a:solidFill>
              <a:srgbClr val="D4A820"/>
            </a:solidFill>
            <a:prstDash val="solid"/>
          </a:ln>
        </p:spPr>
      </p:sp>
      <p:sp>
        <p:nvSpPr>
          <p:cNvPr id="6" name="Shape 4"/>
          <p:cNvSpPr/>
          <p:nvPr/>
        </p:nvSpPr>
        <p:spPr>
          <a:xfrm>
            <a:off x="274320" y="932688"/>
            <a:ext cx="2743200" cy="310896"/>
          </a:xfrm>
          <a:prstGeom prst="rect">
            <a:avLst/>
          </a:prstGeom>
          <a:solidFill>
            <a:srgbClr val="0B1F3A"/>
          </a:solidFill>
          <a:ln w="3810">
            <a:solidFill>
              <a:srgbClr val="1A4A8A"/>
            </a:solidFill>
            <a:prstDash val="solid"/>
          </a:ln>
        </p:spPr>
      </p:sp>
      <p:sp>
        <p:nvSpPr>
          <p:cNvPr id="7" name="Text 5"/>
          <p:cNvSpPr/>
          <p:nvPr/>
        </p:nvSpPr>
        <p:spPr>
          <a:xfrm>
            <a:off x="320040" y="950976"/>
            <a:ext cx="2670048" cy="274320"/>
          </a:xfrm>
          <a:prstGeom prst="rect">
            <a:avLst/>
          </a:prstGeom>
          <a:noFill/>
          <a:ln/>
        </p:spPr>
        <p:txBody>
          <a:bodyPr wrap="square" rtlCol="0" anchor="ctr"/>
          <a:lstStyle/>
          <a:p>
            <a:pPr indent="0" marL="0">
              <a:buNone/>
            </a:pPr>
            <a:r>
              <a:rPr lang="en-US" sz="950" b="1" dirty="0">
                <a:solidFill>
                  <a:srgbClr val="FFFFFF"/>
                </a:solidFill>
                <a:latin typeface="Arial" pitchFamily="34" charset="0"/>
                <a:ea typeface="Arial" pitchFamily="34" charset="-122"/>
                <a:cs typeface="Arial" pitchFamily="34" charset="-120"/>
              </a:rPr>
              <a:t>File</a:t>
            </a:r>
            <a:endParaRPr lang="en-US" sz="950" dirty="0"/>
          </a:p>
        </p:txBody>
      </p:sp>
      <p:sp>
        <p:nvSpPr>
          <p:cNvPr id="8" name="Shape 6"/>
          <p:cNvSpPr/>
          <p:nvPr/>
        </p:nvSpPr>
        <p:spPr>
          <a:xfrm>
            <a:off x="3063240" y="932688"/>
            <a:ext cx="731520" cy="310896"/>
          </a:xfrm>
          <a:prstGeom prst="rect">
            <a:avLst/>
          </a:prstGeom>
          <a:solidFill>
            <a:srgbClr val="0B1F3A"/>
          </a:solidFill>
          <a:ln w="3810">
            <a:solidFill>
              <a:srgbClr val="1A4A8A"/>
            </a:solidFill>
            <a:prstDash val="solid"/>
          </a:ln>
        </p:spPr>
      </p:sp>
      <p:sp>
        <p:nvSpPr>
          <p:cNvPr id="9" name="Text 7"/>
          <p:cNvSpPr/>
          <p:nvPr/>
        </p:nvSpPr>
        <p:spPr>
          <a:xfrm>
            <a:off x="3108960" y="950976"/>
            <a:ext cx="658368" cy="274320"/>
          </a:xfrm>
          <a:prstGeom prst="rect">
            <a:avLst/>
          </a:prstGeom>
          <a:noFill/>
          <a:ln/>
        </p:spPr>
        <p:txBody>
          <a:bodyPr wrap="square" rtlCol="0" anchor="ctr"/>
          <a:lstStyle/>
          <a:p>
            <a:pPr indent="0" marL="0">
              <a:buNone/>
            </a:pPr>
            <a:r>
              <a:rPr lang="en-US" sz="950" b="1" dirty="0">
                <a:solidFill>
                  <a:srgbClr val="FFFFFF"/>
                </a:solidFill>
                <a:latin typeface="Arial" pitchFamily="34" charset="0"/>
                <a:ea typeface="Arial" pitchFamily="34" charset="-122"/>
                <a:cs typeface="Arial" pitchFamily="34" charset="-120"/>
              </a:rPr>
              <a:t>Type</a:t>
            </a:r>
            <a:endParaRPr lang="en-US" sz="950" dirty="0"/>
          </a:p>
        </p:txBody>
      </p:sp>
      <p:sp>
        <p:nvSpPr>
          <p:cNvPr id="10" name="Shape 8"/>
          <p:cNvSpPr/>
          <p:nvPr/>
        </p:nvSpPr>
        <p:spPr>
          <a:xfrm>
            <a:off x="3840480" y="932688"/>
            <a:ext cx="3474720" cy="310896"/>
          </a:xfrm>
          <a:prstGeom prst="rect">
            <a:avLst/>
          </a:prstGeom>
          <a:solidFill>
            <a:srgbClr val="0B1F3A"/>
          </a:solidFill>
          <a:ln w="3810">
            <a:solidFill>
              <a:srgbClr val="1A4A8A"/>
            </a:solidFill>
            <a:prstDash val="solid"/>
          </a:ln>
        </p:spPr>
      </p:sp>
      <p:sp>
        <p:nvSpPr>
          <p:cNvPr id="11" name="Text 9"/>
          <p:cNvSpPr/>
          <p:nvPr/>
        </p:nvSpPr>
        <p:spPr>
          <a:xfrm>
            <a:off x="3886200" y="950976"/>
            <a:ext cx="3401568" cy="274320"/>
          </a:xfrm>
          <a:prstGeom prst="rect">
            <a:avLst/>
          </a:prstGeom>
          <a:noFill/>
          <a:ln/>
        </p:spPr>
        <p:txBody>
          <a:bodyPr wrap="square" rtlCol="0" anchor="ctr"/>
          <a:lstStyle/>
          <a:p>
            <a:pPr indent="0" marL="0">
              <a:buNone/>
            </a:pPr>
            <a:r>
              <a:rPr lang="en-US" sz="950" b="1" dirty="0">
                <a:solidFill>
                  <a:srgbClr val="FFFFFF"/>
                </a:solidFill>
                <a:latin typeface="Arial" pitchFamily="34" charset="0"/>
                <a:ea typeface="Arial" pitchFamily="34" charset="-122"/>
                <a:cs typeface="Arial" pitchFamily="34" charset="-120"/>
              </a:rPr>
              <a:t>Purpose</a:t>
            </a:r>
            <a:endParaRPr lang="en-US" sz="950" dirty="0"/>
          </a:p>
        </p:txBody>
      </p:sp>
      <p:sp>
        <p:nvSpPr>
          <p:cNvPr id="12" name="Shape 10"/>
          <p:cNvSpPr/>
          <p:nvPr/>
        </p:nvSpPr>
        <p:spPr>
          <a:xfrm>
            <a:off x="7360920" y="932688"/>
            <a:ext cx="1005840" cy="310896"/>
          </a:xfrm>
          <a:prstGeom prst="rect">
            <a:avLst/>
          </a:prstGeom>
          <a:solidFill>
            <a:srgbClr val="0B1F3A"/>
          </a:solidFill>
          <a:ln w="3810">
            <a:solidFill>
              <a:srgbClr val="1A4A8A"/>
            </a:solidFill>
            <a:prstDash val="solid"/>
          </a:ln>
        </p:spPr>
      </p:sp>
      <p:sp>
        <p:nvSpPr>
          <p:cNvPr id="13" name="Text 11"/>
          <p:cNvSpPr/>
          <p:nvPr/>
        </p:nvSpPr>
        <p:spPr>
          <a:xfrm>
            <a:off x="7406640" y="950976"/>
            <a:ext cx="932688" cy="274320"/>
          </a:xfrm>
          <a:prstGeom prst="rect">
            <a:avLst/>
          </a:prstGeom>
          <a:noFill/>
          <a:ln/>
        </p:spPr>
        <p:txBody>
          <a:bodyPr wrap="square" rtlCol="0" anchor="ctr"/>
          <a:lstStyle/>
          <a:p>
            <a:pPr indent="0" marL="0">
              <a:buNone/>
            </a:pPr>
            <a:r>
              <a:rPr lang="en-US" sz="950" b="1" dirty="0">
                <a:solidFill>
                  <a:srgbClr val="FFFFFF"/>
                </a:solidFill>
                <a:latin typeface="Arial" pitchFamily="34" charset="0"/>
                <a:ea typeface="Arial" pitchFamily="34" charset="-122"/>
                <a:cs typeface="Arial" pitchFamily="34" charset="-120"/>
              </a:rPr>
              <a:t>Status</a:t>
            </a:r>
            <a:endParaRPr lang="en-US" sz="950" dirty="0"/>
          </a:p>
        </p:txBody>
      </p:sp>
      <p:sp>
        <p:nvSpPr>
          <p:cNvPr id="14" name="Shape 12"/>
          <p:cNvSpPr/>
          <p:nvPr/>
        </p:nvSpPr>
        <p:spPr>
          <a:xfrm>
            <a:off x="274320" y="1261872"/>
            <a:ext cx="2743200" cy="292608"/>
          </a:xfrm>
          <a:prstGeom prst="rect">
            <a:avLst/>
          </a:prstGeom>
          <a:solidFill>
            <a:srgbClr val="FFFFFF"/>
          </a:solidFill>
          <a:ln w="3810">
            <a:solidFill>
              <a:srgbClr val="C8D8E0"/>
            </a:solidFill>
            <a:prstDash val="solid"/>
          </a:ln>
        </p:spPr>
      </p:sp>
      <p:sp>
        <p:nvSpPr>
          <p:cNvPr id="15" name="Text 13"/>
          <p:cNvSpPr/>
          <p:nvPr/>
        </p:nvSpPr>
        <p:spPr>
          <a:xfrm>
            <a:off x="320040" y="1289304"/>
            <a:ext cx="2670048" cy="237744"/>
          </a:xfrm>
          <a:prstGeom prst="rect">
            <a:avLst/>
          </a:prstGeom>
          <a:noFill/>
          <a:ln/>
        </p:spPr>
        <p:txBody>
          <a:bodyPr wrap="square" rtlCol="0" anchor="ctr"/>
          <a:lstStyle/>
          <a:p>
            <a:pPr indent="0" marL="0">
              <a:buNone/>
            </a:pPr>
            <a:r>
              <a:rPr lang="en-US" sz="850" dirty="0">
                <a:solidFill>
                  <a:srgbClr val="00305A"/>
                </a:solidFill>
                <a:latin typeface="Courier New" pitchFamily="34" charset="0"/>
                <a:ea typeface="Courier New" pitchFamily="34" charset="-122"/>
                <a:cs typeface="Courier New" pitchFamily="34" charset="-120"/>
              </a:rPr>
              <a:t>uoi_sensitivity_analysis.py</a:t>
            </a:r>
            <a:endParaRPr lang="en-US" sz="850" dirty="0"/>
          </a:p>
        </p:txBody>
      </p:sp>
      <p:sp>
        <p:nvSpPr>
          <p:cNvPr id="16" name="Shape 14"/>
          <p:cNvSpPr/>
          <p:nvPr/>
        </p:nvSpPr>
        <p:spPr>
          <a:xfrm>
            <a:off x="3063240" y="1261872"/>
            <a:ext cx="731520" cy="292608"/>
          </a:xfrm>
          <a:prstGeom prst="rect">
            <a:avLst/>
          </a:prstGeom>
          <a:solidFill>
            <a:srgbClr val="FFFFFF"/>
          </a:solidFill>
          <a:ln w="3810">
            <a:solidFill>
              <a:srgbClr val="C8D8E0"/>
            </a:solidFill>
            <a:prstDash val="solid"/>
          </a:ln>
        </p:spPr>
      </p:sp>
      <p:sp>
        <p:nvSpPr>
          <p:cNvPr id="17" name="Text 15"/>
          <p:cNvSpPr/>
          <p:nvPr/>
        </p:nvSpPr>
        <p:spPr>
          <a:xfrm>
            <a:off x="3108960" y="1289304"/>
            <a:ext cx="658368" cy="23774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Python</a:t>
            </a:r>
            <a:endParaRPr lang="en-US" sz="900" dirty="0"/>
          </a:p>
        </p:txBody>
      </p:sp>
      <p:sp>
        <p:nvSpPr>
          <p:cNvPr id="18" name="Shape 16"/>
          <p:cNvSpPr/>
          <p:nvPr/>
        </p:nvSpPr>
        <p:spPr>
          <a:xfrm>
            <a:off x="3840480" y="1261872"/>
            <a:ext cx="3474720" cy="292608"/>
          </a:xfrm>
          <a:prstGeom prst="rect">
            <a:avLst/>
          </a:prstGeom>
          <a:solidFill>
            <a:srgbClr val="FFFFFF"/>
          </a:solidFill>
          <a:ln w="3810">
            <a:solidFill>
              <a:srgbClr val="C8D8E0"/>
            </a:solidFill>
            <a:prstDash val="solid"/>
          </a:ln>
        </p:spPr>
      </p:sp>
      <p:sp>
        <p:nvSpPr>
          <p:cNvPr id="19" name="Text 17"/>
          <p:cNvSpPr/>
          <p:nvPr/>
        </p:nvSpPr>
        <p:spPr>
          <a:xfrm>
            <a:off x="3886200" y="1289304"/>
            <a:ext cx="3401568" cy="23774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OAT · Monte Carlo · Sobol · Kolm-Pollak</a:t>
            </a:r>
            <a:endParaRPr lang="en-US" sz="900" dirty="0"/>
          </a:p>
        </p:txBody>
      </p:sp>
      <p:sp>
        <p:nvSpPr>
          <p:cNvPr id="20" name="Shape 18"/>
          <p:cNvSpPr/>
          <p:nvPr/>
        </p:nvSpPr>
        <p:spPr>
          <a:xfrm>
            <a:off x="7360920" y="1261872"/>
            <a:ext cx="1005840" cy="292608"/>
          </a:xfrm>
          <a:prstGeom prst="rect">
            <a:avLst/>
          </a:prstGeom>
          <a:solidFill>
            <a:srgbClr val="FFFFFF"/>
          </a:solidFill>
          <a:ln w="3810">
            <a:solidFill>
              <a:srgbClr val="C8D8E0"/>
            </a:solidFill>
            <a:prstDash val="solid"/>
          </a:ln>
        </p:spPr>
      </p:sp>
      <p:sp>
        <p:nvSpPr>
          <p:cNvPr id="21" name="Text 19"/>
          <p:cNvSpPr/>
          <p:nvPr/>
        </p:nvSpPr>
        <p:spPr>
          <a:xfrm>
            <a:off x="7406640" y="1289304"/>
            <a:ext cx="932688" cy="237744"/>
          </a:xfrm>
          <a:prstGeom prst="rect">
            <a:avLst/>
          </a:prstGeom>
          <a:noFill/>
          <a:ln/>
        </p:spPr>
        <p:txBody>
          <a:bodyPr wrap="square" rtlCol="0" anchor="ctr"/>
          <a:lstStyle/>
          <a:p>
            <a:pPr indent="0" marL="0">
              <a:buNone/>
            </a:pPr>
            <a:r>
              <a:rPr lang="en-US" sz="900" b="1" dirty="0">
                <a:solidFill>
                  <a:srgbClr val="1A6B5A"/>
                </a:solidFill>
                <a:latin typeface="Arial" pitchFamily="34" charset="0"/>
                <a:ea typeface="Arial" pitchFamily="34" charset="-122"/>
                <a:cs typeface="Arial" pitchFamily="34" charset="-120"/>
              </a:rPr>
              <a:t>Complete</a:t>
            </a:r>
            <a:endParaRPr lang="en-US" sz="900" dirty="0"/>
          </a:p>
        </p:txBody>
      </p:sp>
      <p:sp>
        <p:nvSpPr>
          <p:cNvPr id="22" name="Shape 20"/>
          <p:cNvSpPr/>
          <p:nvPr/>
        </p:nvSpPr>
        <p:spPr>
          <a:xfrm>
            <a:off x="274320" y="1572768"/>
            <a:ext cx="2743200" cy="292608"/>
          </a:xfrm>
          <a:prstGeom prst="rect">
            <a:avLst/>
          </a:prstGeom>
          <a:solidFill>
            <a:srgbClr val="F4F6F9"/>
          </a:solidFill>
          <a:ln w="3810">
            <a:solidFill>
              <a:srgbClr val="C8D8E0"/>
            </a:solidFill>
            <a:prstDash val="solid"/>
          </a:ln>
        </p:spPr>
      </p:sp>
      <p:sp>
        <p:nvSpPr>
          <p:cNvPr id="23" name="Text 21"/>
          <p:cNvSpPr/>
          <p:nvPr/>
        </p:nvSpPr>
        <p:spPr>
          <a:xfrm>
            <a:off x="320040" y="1600200"/>
            <a:ext cx="2670048" cy="237744"/>
          </a:xfrm>
          <a:prstGeom prst="rect">
            <a:avLst/>
          </a:prstGeom>
          <a:noFill/>
          <a:ln/>
        </p:spPr>
        <p:txBody>
          <a:bodyPr wrap="square" rtlCol="0" anchor="ctr"/>
          <a:lstStyle/>
          <a:p>
            <a:pPr indent="0" marL="0">
              <a:buNone/>
            </a:pPr>
            <a:r>
              <a:rPr lang="en-US" sz="850" dirty="0">
                <a:solidFill>
                  <a:srgbClr val="00305A"/>
                </a:solidFill>
                <a:latin typeface="Courier New" pitchFamily="34" charset="0"/>
                <a:ea typeface="Courier New" pitchFamily="34" charset="-122"/>
                <a:cs typeface="Courier New" pitchFamily="34" charset="-120"/>
              </a:rPr>
              <a:t>05b_prepare_bym2_inputs.py</a:t>
            </a:r>
            <a:endParaRPr lang="en-US" sz="850" dirty="0"/>
          </a:p>
        </p:txBody>
      </p:sp>
      <p:sp>
        <p:nvSpPr>
          <p:cNvPr id="24" name="Shape 22"/>
          <p:cNvSpPr/>
          <p:nvPr/>
        </p:nvSpPr>
        <p:spPr>
          <a:xfrm>
            <a:off x="3063240" y="1572768"/>
            <a:ext cx="731520" cy="292608"/>
          </a:xfrm>
          <a:prstGeom prst="rect">
            <a:avLst/>
          </a:prstGeom>
          <a:solidFill>
            <a:srgbClr val="F4F6F9"/>
          </a:solidFill>
          <a:ln w="3810">
            <a:solidFill>
              <a:srgbClr val="C8D8E0"/>
            </a:solidFill>
            <a:prstDash val="solid"/>
          </a:ln>
        </p:spPr>
      </p:sp>
      <p:sp>
        <p:nvSpPr>
          <p:cNvPr id="25" name="Text 23"/>
          <p:cNvSpPr/>
          <p:nvPr/>
        </p:nvSpPr>
        <p:spPr>
          <a:xfrm>
            <a:off x="3108960" y="1600200"/>
            <a:ext cx="658368" cy="23774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Python</a:t>
            </a:r>
            <a:endParaRPr lang="en-US" sz="900" dirty="0"/>
          </a:p>
        </p:txBody>
      </p:sp>
      <p:sp>
        <p:nvSpPr>
          <p:cNvPr id="26" name="Shape 24"/>
          <p:cNvSpPr/>
          <p:nvPr/>
        </p:nvSpPr>
        <p:spPr>
          <a:xfrm>
            <a:off x="3840480" y="1572768"/>
            <a:ext cx="3474720" cy="292608"/>
          </a:xfrm>
          <a:prstGeom prst="rect">
            <a:avLst/>
          </a:prstGeom>
          <a:solidFill>
            <a:srgbClr val="F4F6F9"/>
          </a:solidFill>
          <a:ln w="3810">
            <a:solidFill>
              <a:srgbClr val="C8D8E0"/>
            </a:solidFill>
            <a:prstDash val="solid"/>
          </a:ln>
        </p:spPr>
      </p:sp>
      <p:sp>
        <p:nvSpPr>
          <p:cNvPr id="27" name="Text 25"/>
          <p:cNvSpPr/>
          <p:nvPr/>
        </p:nvSpPr>
        <p:spPr>
          <a:xfrm>
            <a:off x="3886200" y="1600200"/>
            <a:ext cx="3401568" cy="23774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BYM2 data preparation bridge</a:t>
            </a:r>
            <a:endParaRPr lang="en-US" sz="900" dirty="0"/>
          </a:p>
        </p:txBody>
      </p:sp>
      <p:sp>
        <p:nvSpPr>
          <p:cNvPr id="28" name="Shape 26"/>
          <p:cNvSpPr/>
          <p:nvPr/>
        </p:nvSpPr>
        <p:spPr>
          <a:xfrm>
            <a:off x="7360920" y="1572768"/>
            <a:ext cx="1005840" cy="292608"/>
          </a:xfrm>
          <a:prstGeom prst="rect">
            <a:avLst/>
          </a:prstGeom>
          <a:solidFill>
            <a:srgbClr val="F4F6F9"/>
          </a:solidFill>
          <a:ln w="3810">
            <a:solidFill>
              <a:srgbClr val="C8D8E0"/>
            </a:solidFill>
            <a:prstDash val="solid"/>
          </a:ln>
        </p:spPr>
      </p:sp>
      <p:sp>
        <p:nvSpPr>
          <p:cNvPr id="29" name="Text 27"/>
          <p:cNvSpPr/>
          <p:nvPr/>
        </p:nvSpPr>
        <p:spPr>
          <a:xfrm>
            <a:off x="7406640" y="1600200"/>
            <a:ext cx="932688" cy="237744"/>
          </a:xfrm>
          <a:prstGeom prst="rect">
            <a:avLst/>
          </a:prstGeom>
          <a:noFill/>
          <a:ln/>
        </p:spPr>
        <p:txBody>
          <a:bodyPr wrap="square" rtlCol="0" anchor="ctr"/>
          <a:lstStyle/>
          <a:p>
            <a:pPr indent="0" marL="0">
              <a:buNone/>
            </a:pPr>
            <a:r>
              <a:rPr lang="en-US" sz="900" b="1" dirty="0">
                <a:solidFill>
                  <a:srgbClr val="1A6B5A"/>
                </a:solidFill>
                <a:latin typeface="Arial" pitchFamily="34" charset="0"/>
                <a:ea typeface="Arial" pitchFamily="34" charset="-122"/>
                <a:cs typeface="Arial" pitchFamily="34" charset="-120"/>
              </a:rPr>
              <a:t>Complete</a:t>
            </a:r>
            <a:endParaRPr lang="en-US" sz="900" dirty="0"/>
          </a:p>
        </p:txBody>
      </p:sp>
      <p:sp>
        <p:nvSpPr>
          <p:cNvPr id="30" name="Shape 28"/>
          <p:cNvSpPr/>
          <p:nvPr/>
        </p:nvSpPr>
        <p:spPr>
          <a:xfrm>
            <a:off x="274320" y="1883664"/>
            <a:ext cx="2743200" cy="292608"/>
          </a:xfrm>
          <a:prstGeom prst="rect">
            <a:avLst/>
          </a:prstGeom>
          <a:solidFill>
            <a:srgbClr val="FFFFFF"/>
          </a:solidFill>
          <a:ln w="3810">
            <a:solidFill>
              <a:srgbClr val="C8D8E0"/>
            </a:solidFill>
            <a:prstDash val="solid"/>
          </a:ln>
        </p:spPr>
      </p:sp>
      <p:sp>
        <p:nvSpPr>
          <p:cNvPr id="31" name="Text 29"/>
          <p:cNvSpPr/>
          <p:nvPr/>
        </p:nvSpPr>
        <p:spPr>
          <a:xfrm>
            <a:off x="320040" y="1911096"/>
            <a:ext cx="2670048" cy="237744"/>
          </a:xfrm>
          <a:prstGeom prst="rect">
            <a:avLst/>
          </a:prstGeom>
          <a:noFill/>
          <a:ln/>
        </p:spPr>
        <p:txBody>
          <a:bodyPr wrap="square" rtlCol="0" anchor="ctr"/>
          <a:lstStyle/>
          <a:p>
            <a:pPr indent="0" marL="0">
              <a:buNone/>
            </a:pPr>
            <a:r>
              <a:rPr lang="en-US" sz="850" dirty="0">
                <a:solidFill>
                  <a:srgbClr val="00305A"/>
                </a:solidFill>
                <a:latin typeface="Courier New" pitchFamily="34" charset="0"/>
                <a:ea typeface="Courier New" pitchFamily="34" charset="-122"/>
                <a:cs typeface="Courier New" pitchFamily="34" charset="-120"/>
              </a:rPr>
              <a:t>06_bym2_pymc_model.py</a:t>
            </a:r>
            <a:endParaRPr lang="en-US" sz="850" dirty="0"/>
          </a:p>
        </p:txBody>
      </p:sp>
      <p:sp>
        <p:nvSpPr>
          <p:cNvPr id="32" name="Shape 30"/>
          <p:cNvSpPr/>
          <p:nvPr/>
        </p:nvSpPr>
        <p:spPr>
          <a:xfrm>
            <a:off x="3063240" y="1883664"/>
            <a:ext cx="731520" cy="292608"/>
          </a:xfrm>
          <a:prstGeom prst="rect">
            <a:avLst/>
          </a:prstGeom>
          <a:solidFill>
            <a:srgbClr val="FFFFFF"/>
          </a:solidFill>
          <a:ln w="3810">
            <a:solidFill>
              <a:srgbClr val="C8D8E0"/>
            </a:solidFill>
            <a:prstDash val="solid"/>
          </a:ln>
        </p:spPr>
      </p:sp>
      <p:sp>
        <p:nvSpPr>
          <p:cNvPr id="33" name="Text 31"/>
          <p:cNvSpPr/>
          <p:nvPr/>
        </p:nvSpPr>
        <p:spPr>
          <a:xfrm>
            <a:off x="3108960" y="1911096"/>
            <a:ext cx="658368" cy="23774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Python</a:t>
            </a:r>
            <a:endParaRPr lang="en-US" sz="900" dirty="0"/>
          </a:p>
        </p:txBody>
      </p:sp>
      <p:sp>
        <p:nvSpPr>
          <p:cNvPr id="34" name="Shape 32"/>
          <p:cNvSpPr/>
          <p:nvPr/>
        </p:nvSpPr>
        <p:spPr>
          <a:xfrm>
            <a:off x="3840480" y="1883664"/>
            <a:ext cx="3474720" cy="292608"/>
          </a:xfrm>
          <a:prstGeom prst="rect">
            <a:avLst/>
          </a:prstGeom>
          <a:solidFill>
            <a:srgbClr val="FFFFFF"/>
          </a:solidFill>
          <a:ln w="3810">
            <a:solidFill>
              <a:srgbClr val="C8D8E0"/>
            </a:solidFill>
            <a:prstDash val="solid"/>
          </a:ln>
        </p:spPr>
      </p:sp>
      <p:sp>
        <p:nvSpPr>
          <p:cNvPr id="35" name="Text 33"/>
          <p:cNvSpPr/>
          <p:nvPr/>
        </p:nvSpPr>
        <p:spPr>
          <a:xfrm>
            <a:off x="3886200" y="1911096"/>
            <a:ext cx="3401568" cy="23774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BYM2 ICAR model in PyMC 5 (correct implementation)</a:t>
            </a:r>
            <a:endParaRPr lang="en-US" sz="900" dirty="0"/>
          </a:p>
        </p:txBody>
      </p:sp>
      <p:sp>
        <p:nvSpPr>
          <p:cNvPr id="36" name="Shape 34"/>
          <p:cNvSpPr/>
          <p:nvPr/>
        </p:nvSpPr>
        <p:spPr>
          <a:xfrm>
            <a:off x="7360920" y="1883664"/>
            <a:ext cx="1005840" cy="292608"/>
          </a:xfrm>
          <a:prstGeom prst="rect">
            <a:avLst/>
          </a:prstGeom>
          <a:solidFill>
            <a:srgbClr val="FFFFFF"/>
          </a:solidFill>
          <a:ln w="3810">
            <a:solidFill>
              <a:srgbClr val="C8D8E0"/>
            </a:solidFill>
            <a:prstDash val="solid"/>
          </a:ln>
        </p:spPr>
      </p:sp>
      <p:sp>
        <p:nvSpPr>
          <p:cNvPr id="37" name="Text 35"/>
          <p:cNvSpPr/>
          <p:nvPr/>
        </p:nvSpPr>
        <p:spPr>
          <a:xfrm>
            <a:off x="7406640" y="1911096"/>
            <a:ext cx="932688" cy="237744"/>
          </a:xfrm>
          <a:prstGeom prst="rect">
            <a:avLst/>
          </a:prstGeom>
          <a:noFill/>
          <a:ln/>
        </p:spPr>
        <p:txBody>
          <a:bodyPr wrap="square" rtlCol="0" anchor="ctr"/>
          <a:lstStyle/>
          <a:p>
            <a:pPr indent="0" marL="0">
              <a:buNone/>
            </a:pPr>
            <a:r>
              <a:rPr lang="en-US" sz="900" b="1" dirty="0">
                <a:solidFill>
                  <a:srgbClr val="1A6B5A"/>
                </a:solidFill>
                <a:latin typeface="Arial" pitchFamily="34" charset="0"/>
                <a:ea typeface="Arial" pitchFamily="34" charset="-122"/>
                <a:cs typeface="Arial" pitchFamily="34" charset="-120"/>
              </a:rPr>
              <a:t>Complete</a:t>
            </a:r>
            <a:endParaRPr lang="en-US" sz="900" dirty="0"/>
          </a:p>
        </p:txBody>
      </p:sp>
      <p:sp>
        <p:nvSpPr>
          <p:cNvPr id="38" name="Shape 36"/>
          <p:cNvSpPr/>
          <p:nvPr/>
        </p:nvSpPr>
        <p:spPr>
          <a:xfrm>
            <a:off x="274320" y="2194560"/>
            <a:ext cx="2743200" cy="292608"/>
          </a:xfrm>
          <a:prstGeom prst="rect">
            <a:avLst/>
          </a:prstGeom>
          <a:solidFill>
            <a:srgbClr val="F4F6F9"/>
          </a:solidFill>
          <a:ln w="3810">
            <a:solidFill>
              <a:srgbClr val="C8D8E0"/>
            </a:solidFill>
            <a:prstDash val="solid"/>
          </a:ln>
        </p:spPr>
      </p:sp>
      <p:sp>
        <p:nvSpPr>
          <p:cNvPr id="39" name="Text 37"/>
          <p:cNvSpPr/>
          <p:nvPr/>
        </p:nvSpPr>
        <p:spPr>
          <a:xfrm>
            <a:off x="320040" y="2221992"/>
            <a:ext cx="2670048" cy="237744"/>
          </a:xfrm>
          <a:prstGeom prst="rect">
            <a:avLst/>
          </a:prstGeom>
          <a:noFill/>
          <a:ln/>
        </p:spPr>
        <p:txBody>
          <a:bodyPr wrap="square" rtlCol="0" anchor="ctr"/>
          <a:lstStyle/>
          <a:p>
            <a:pPr indent="0" marL="0">
              <a:buNone/>
            </a:pPr>
            <a:r>
              <a:rPr lang="en-US" sz="850" dirty="0">
                <a:solidFill>
                  <a:srgbClr val="00305A"/>
                </a:solidFill>
                <a:latin typeface="Courier New" pitchFamily="34" charset="0"/>
                <a:ea typeface="Courier New" pitchFamily="34" charset="-122"/>
                <a:cs typeface="Courier New" pitchFamily="34" charset="-120"/>
              </a:rPr>
              <a:t>10_city2graph_integration.py</a:t>
            </a:r>
            <a:endParaRPr lang="en-US" sz="850" dirty="0"/>
          </a:p>
        </p:txBody>
      </p:sp>
      <p:sp>
        <p:nvSpPr>
          <p:cNvPr id="40" name="Shape 38"/>
          <p:cNvSpPr/>
          <p:nvPr/>
        </p:nvSpPr>
        <p:spPr>
          <a:xfrm>
            <a:off x="3063240" y="2194560"/>
            <a:ext cx="731520" cy="292608"/>
          </a:xfrm>
          <a:prstGeom prst="rect">
            <a:avLst/>
          </a:prstGeom>
          <a:solidFill>
            <a:srgbClr val="F4F6F9"/>
          </a:solidFill>
          <a:ln w="3810">
            <a:solidFill>
              <a:srgbClr val="C8D8E0"/>
            </a:solidFill>
            <a:prstDash val="solid"/>
          </a:ln>
        </p:spPr>
      </p:sp>
      <p:sp>
        <p:nvSpPr>
          <p:cNvPr id="41" name="Text 39"/>
          <p:cNvSpPr/>
          <p:nvPr/>
        </p:nvSpPr>
        <p:spPr>
          <a:xfrm>
            <a:off x="3108960" y="2221992"/>
            <a:ext cx="658368" cy="23774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Python</a:t>
            </a:r>
            <a:endParaRPr lang="en-US" sz="900" dirty="0"/>
          </a:p>
        </p:txBody>
      </p:sp>
      <p:sp>
        <p:nvSpPr>
          <p:cNvPr id="42" name="Shape 40"/>
          <p:cNvSpPr/>
          <p:nvPr/>
        </p:nvSpPr>
        <p:spPr>
          <a:xfrm>
            <a:off x="3840480" y="2194560"/>
            <a:ext cx="3474720" cy="292608"/>
          </a:xfrm>
          <a:prstGeom prst="rect">
            <a:avLst/>
          </a:prstGeom>
          <a:solidFill>
            <a:srgbClr val="F4F6F9"/>
          </a:solidFill>
          <a:ln w="3810">
            <a:solidFill>
              <a:srgbClr val="C8D8E0"/>
            </a:solidFill>
            <a:prstDash val="solid"/>
          </a:ln>
        </p:spPr>
      </p:sp>
      <p:sp>
        <p:nvSpPr>
          <p:cNvPr id="43" name="Text 41"/>
          <p:cNvSpPr/>
          <p:nvPr/>
        </p:nvSpPr>
        <p:spPr>
          <a:xfrm>
            <a:off x="3886200" y="2221992"/>
            <a:ext cx="3401568" cy="23774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Contiguity / proximity / POI graphs</a:t>
            </a:r>
            <a:endParaRPr lang="en-US" sz="900" dirty="0"/>
          </a:p>
        </p:txBody>
      </p:sp>
      <p:sp>
        <p:nvSpPr>
          <p:cNvPr id="44" name="Shape 42"/>
          <p:cNvSpPr/>
          <p:nvPr/>
        </p:nvSpPr>
        <p:spPr>
          <a:xfrm>
            <a:off x="7360920" y="2194560"/>
            <a:ext cx="1005840" cy="292608"/>
          </a:xfrm>
          <a:prstGeom prst="rect">
            <a:avLst/>
          </a:prstGeom>
          <a:solidFill>
            <a:srgbClr val="F4F6F9"/>
          </a:solidFill>
          <a:ln w="3810">
            <a:solidFill>
              <a:srgbClr val="C8D8E0"/>
            </a:solidFill>
            <a:prstDash val="solid"/>
          </a:ln>
        </p:spPr>
      </p:sp>
      <p:sp>
        <p:nvSpPr>
          <p:cNvPr id="45" name="Text 43"/>
          <p:cNvSpPr/>
          <p:nvPr/>
        </p:nvSpPr>
        <p:spPr>
          <a:xfrm>
            <a:off x="7406640" y="2221992"/>
            <a:ext cx="932688" cy="237744"/>
          </a:xfrm>
          <a:prstGeom prst="rect">
            <a:avLst/>
          </a:prstGeom>
          <a:noFill/>
          <a:ln/>
        </p:spPr>
        <p:txBody>
          <a:bodyPr wrap="square" rtlCol="0" anchor="ctr"/>
          <a:lstStyle/>
          <a:p>
            <a:pPr indent="0" marL="0">
              <a:buNone/>
            </a:pPr>
            <a:r>
              <a:rPr lang="en-US" sz="900" b="1" dirty="0">
                <a:solidFill>
                  <a:srgbClr val="1A6B5A"/>
                </a:solidFill>
                <a:latin typeface="Arial" pitchFamily="34" charset="0"/>
                <a:ea typeface="Arial" pitchFamily="34" charset="-122"/>
                <a:cs typeface="Arial" pitchFamily="34" charset="-120"/>
              </a:rPr>
              <a:t>Complete</a:t>
            </a:r>
            <a:endParaRPr lang="en-US" sz="900" dirty="0"/>
          </a:p>
        </p:txBody>
      </p:sp>
      <p:sp>
        <p:nvSpPr>
          <p:cNvPr id="46" name="Shape 44"/>
          <p:cNvSpPr/>
          <p:nvPr/>
        </p:nvSpPr>
        <p:spPr>
          <a:xfrm>
            <a:off x="274320" y="2505456"/>
            <a:ext cx="2743200" cy="292608"/>
          </a:xfrm>
          <a:prstGeom prst="rect">
            <a:avLst/>
          </a:prstGeom>
          <a:solidFill>
            <a:srgbClr val="FFFFFF"/>
          </a:solidFill>
          <a:ln w="3810">
            <a:solidFill>
              <a:srgbClr val="C8D8E0"/>
            </a:solidFill>
            <a:prstDash val="solid"/>
          </a:ln>
        </p:spPr>
      </p:sp>
      <p:sp>
        <p:nvSpPr>
          <p:cNvPr id="47" name="Text 45"/>
          <p:cNvSpPr/>
          <p:nvPr/>
        </p:nvSpPr>
        <p:spPr>
          <a:xfrm>
            <a:off x="320040" y="2532888"/>
            <a:ext cx="2670048" cy="237744"/>
          </a:xfrm>
          <a:prstGeom prst="rect">
            <a:avLst/>
          </a:prstGeom>
          <a:noFill/>
          <a:ln/>
        </p:spPr>
        <p:txBody>
          <a:bodyPr wrap="square" rtlCol="0" anchor="ctr"/>
          <a:lstStyle/>
          <a:p>
            <a:pPr indent="0" marL="0">
              <a:buNone/>
            </a:pPr>
            <a:r>
              <a:rPr lang="en-US" sz="850" dirty="0">
                <a:solidFill>
                  <a:srgbClr val="00305A"/>
                </a:solidFill>
                <a:latin typeface="Courier New" pitchFamily="34" charset="0"/>
                <a:ea typeface="Courier New" pitchFamily="34" charset="-122"/>
                <a:cs typeface="Courier New" pitchFamily="34" charset="-120"/>
              </a:rPr>
              <a:t>build_swm_fixed.py</a:t>
            </a:r>
            <a:endParaRPr lang="en-US" sz="850" dirty="0"/>
          </a:p>
        </p:txBody>
      </p:sp>
      <p:sp>
        <p:nvSpPr>
          <p:cNvPr id="48" name="Shape 46"/>
          <p:cNvSpPr/>
          <p:nvPr/>
        </p:nvSpPr>
        <p:spPr>
          <a:xfrm>
            <a:off x="3063240" y="2505456"/>
            <a:ext cx="731520" cy="292608"/>
          </a:xfrm>
          <a:prstGeom prst="rect">
            <a:avLst/>
          </a:prstGeom>
          <a:solidFill>
            <a:srgbClr val="FFFFFF"/>
          </a:solidFill>
          <a:ln w="3810">
            <a:solidFill>
              <a:srgbClr val="C8D8E0"/>
            </a:solidFill>
            <a:prstDash val="solid"/>
          </a:ln>
        </p:spPr>
      </p:sp>
      <p:sp>
        <p:nvSpPr>
          <p:cNvPr id="49" name="Text 47"/>
          <p:cNvSpPr/>
          <p:nvPr/>
        </p:nvSpPr>
        <p:spPr>
          <a:xfrm>
            <a:off x="3108960" y="2532888"/>
            <a:ext cx="658368" cy="23774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Python</a:t>
            </a:r>
            <a:endParaRPr lang="en-US" sz="900" dirty="0"/>
          </a:p>
        </p:txBody>
      </p:sp>
      <p:sp>
        <p:nvSpPr>
          <p:cNvPr id="50" name="Shape 48"/>
          <p:cNvSpPr/>
          <p:nvPr/>
        </p:nvSpPr>
        <p:spPr>
          <a:xfrm>
            <a:off x="3840480" y="2505456"/>
            <a:ext cx="3474720" cy="292608"/>
          </a:xfrm>
          <a:prstGeom prst="rect">
            <a:avLst/>
          </a:prstGeom>
          <a:solidFill>
            <a:srgbClr val="FFFFFF"/>
          </a:solidFill>
          <a:ln w="3810">
            <a:solidFill>
              <a:srgbClr val="C8D8E0"/>
            </a:solidFill>
            <a:prstDash val="solid"/>
          </a:ln>
        </p:spPr>
      </p:sp>
      <p:sp>
        <p:nvSpPr>
          <p:cNvPr id="51" name="Text 49"/>
          <p:cNvSpPr/>
          <p:nvPr/>
        </p:nvSpPr>
        <p:spPr>
          <a:xfrm>
            <a:off x="3886200" y="2532888"/>
            <a:ext cx="3401568" cy="23774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SWMM .inp builder (major roads + storm timeseries)</a:t>
            </a:r>
            <a:endParaRPr lang="en-US" sz="900" dirty="0"/>
          </a:p>
        </p:txBody>
      </p:sp>
      <p:sp>
        <p:nvSpPr>
          <p:cNvPr id="52" name="Shape 50"/>
          <p:cNvSpPr/>
          <p:nvPr/>
        </p:nvSpPr>
        <p:spPr>
          <a:xfrm>
            <a:off x="7360920" y="2505456"/>
            <a:ext cx="1005840" cy="292608"/>
          </a:xfrm>
          <a:prstGeom prst="rect">
            <a:avLst/>
          </a:prstGeom>
          <a:solidFill>
            <a:srgbClr val="FFFFFF"/>
          </a:solidFill>
          <a:ln w="3810">
            <a:solidFill>
              <a:srgbClr val="C8D8E0"/>
            </a:solidFill>
            <a:prstDash val="solid"/>
          </a:ln>
        </p:spPr>
      </p:sp>
      <p:sp>
        <p:nvSpPr>
          <p:cNvPr id="53" name="Text 51"/>
          <p:cNvSpPr/>
          <p:nvPr/>
        </p:nvSpPr>
        <p:spPr>
          <a:xfrm>
            <a:off x="7406640" y="2532888"/>
            <a:ext cx="932688" cy="237744"/>
          </a:xfrm>
          <a:prstGeom prst="rect">
            <a:avLst/>
          </a:prstGeom>
          <a:noFill/>
          <a:ln/>
        </p:spPr>
        <p:txBody>
          <a:bodyPr wrap="square" rtlCol="0" anchor="ctr"/>
          <a:lstStyle/>
          <a:p>
            <a:pPr indent="0" marL="0">
              <a:buNone/>
            </a:pPr>
            <a:r>
              <a:rPr lang="en-US" sz="900" b="1" dirty="0">
                <a:solidFill>
                  <a:srgbClr val="1A6B5A"/>
                </a:solidFill>
                <a:latin typeface="Arial" pitchFamily="34" charset="0"/>
                <a:ea typeface="Arial" pitchFamily="34" charset="-122"/>
                <a:cs typeface="Arial" pitchFamily="34" charset="-120"/>
              </a:rPr>
              <a:t>Complete</a:t>
            </a:r>
            <a:endParaRPr lang="en-US" sz="900" dirty="0"/>
          </a:p>
        </p:txBody>
      </p:sp>
      <p:sp>
        <p:nvSpPr>
          <p:cNvPr id="54" name="Shape 52"/>
          <p:cNvSpPr/>
          <p:nvPr/>
        </p:nvSpPr>
        <p:spPr>
          <a:xfrm>
            <a:off x="274320" y="2816352"/>
            <a:ext cx="2743200" cy="292608"/>
          </a:xfrm>
          <a:prstGeom prst="rect">
            <a:avLst/>
          </a:prstGeom>
          <a:solidFill>
            <a:srgbClr val="F4F6F9"/>
          </a:solidFill>
          <a:ln w="3810">
            <a:solidFill>
              <a:srgbClr val="C8D8E0"/>
            </a:solidFill>
            <a:prstDash val="solid"/>
          </a:ln>
        </p:spPr>
      </p:sp>
      <p:sp>
        <p:nvSpPr>
          <p:cNvPr id="55" name="Text 53"/>
          <p:cNvSpPr/>
          <p:nvPr/>
        </p:nvSpPr>
        <p:spPr>
          <a:xfrm>
            <a:off x="320040" y="2843784"/>
            <a:ext cx="2670048" cy="237744"/>
          </a:xfrm>
          <a:prstGeom prst="rect">
            <a:avLst/>
          </a:prstGeom>
          <a:noFill/>
          <a:ln/>
        </p:spPr>
        <p:txBody>
          <a:bodyPr wrap="square" rtlCol="0" anchor="ctr"/>
          <a:lstStyle/>
          <a:p>
            <a:pPr indent="0" marL="0">
              <a:buNone/>
            </a:pPr>
            <a:r>
              <a:rPr lang="en-US" sz="850" dirty="0">
                <a:solidFill>
                  <a:srgbClr val="00305A"/>
                </a:solidFill>
                <a:latin typeface="Courier New" pitchFamily="34" charset="0"/>
                <a:ea typeface="Courier New" pitchFamily="34" charset="-122"/>
                <a:cs typeface="Courier New" pitchFamily="34" charset="-120"/>
              </a:rPr>
              <a:t>run_swmm_fixed.py</a:t>
            </a:r>
            <a:endParaRPr lang="en-US" sz="850" dirty="0"/>
          </a:p>
        </p:txBody>
      </p:sp>
      <p:sp>
        <p:nvSpPr>
          <p:cNvPr id="56" name="Shape 54"/>
          <p:cNvSpPr/>
          <p:nvPr/>
        </p:nvSpPr>
        <p:spPr>
          <a:xfrm>
            <a:off x="3063240" y="2816352"/>
            <a:ext cx="731520" cy="292608"/>
          </a:xfrm>
          <a:prstGeom prst="rect">
            <a:avLst/>
          </a:prstGeom>
          <a:solidFill>
            <a:srgbClr val="F4F6F9"/>
          </a:solidFill>
          <a:ln w="3810">
            <a:solidFill>
              <a:srgbClr val="C8D8E0"/>
            </a:solidFill>
            <a:prstDash val="solid"/>
          </a:ln>
        </p:spPr>
      </p:sp>
      <p:sp>
        <p:nvSpPr>
          <p:cNvPr id="57" name="Text 55"/>
          <p:cNvSpPr/>
          <p:nvPr/>
        </p:nvSpPr>
        <p:spPr>
          <a:xfrm>
            <a:off x="3108960" y="2843784"/>
            <a:ext cx="658368" cy="23774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Python</a:t>
            </a:r>
            <a:endParaRPr lang="en-US" sz="900" dirty="0"/>
          </a:p>
        </p:txBody>
      </p:sp>
      <p:sp>
        <p:nvSpPr>
          <p:cNvPr id="58" name="Shape 56"/>
          <p:cNvSpPr/>
          <p:nvPr/>
        </p:nvSpPr>
        <p:spPr>
          <a:xfrm>
            <a:off x="3840480" y="2816352"/>
            <a:ext cx="3474720" cy="292608"/>
          </a:xfrm>
          <a:prstGeom prst="rect">
            <a:avLst/>
          </a:prstGeom>
          <a:solidFill>
            <a:srgbClr val="F4F6F9"/>
          </a:solidFill>
          <a:ln w="3810">
            <a:solidFill>
              <a:srgbClr val="C8D8E0"/>
            </a:solidFill>
            <a:prstDash val="solid"/>
          </a:ln>
        </p:spPr>
      </p:sp>
      <p:sp>
        <p:nvSpPr>
          <p:cNvPr id="59" name="Text 57"/>
          <p:cNvSpPr/>
          <p:nvPr/>
        </p:nvSpPr>
        <p:spPr>
          <a:xfrm>
            <a:off x="3886200" y="2843784"/>
            <a:ext cx="3401568" cy="23774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SWMM runner + ward aggregation + CFL fix</a:t>
            </a:r>
            <a:endParaRPr lang="en-US" sz="900" dirty="0"/>
          </a:p>
        </p:txBody>
      </p:sp>
      <p:sp>
        <p:nvSpPr>
          <p:cNvPr id="60" name="Shape 58"/>
          <p:cNvSpPr/>
          <p:nvPr/>
        </p:nvSpPr>
        <p:spPr>
          <a:xfrm>
            <a:off x="7360920" y="2816352"/>
            <a:ext cx="1005840" cy="292608"/>
          </a:xfrm>
          <a:prstGeom prst="rect">
            <a:avLst/>
          </a:prstGeom>
          <a:solidFill>
            <a:srgbClr val="F4F6F9"/>
          </a:solidFill>
          <a:ln w="3810">
            <a:solidFill>
              <a:srgbClr val="C8D8E0"/>
            </a:solidFill>
            <a:prstDash val="solid"/>
          </a:ln>
        </p:spPr>
      </p:sp>
      <p:sp>
        <p:nvSpPr>
          <p:cNvPr id="61" name="Text 59"/>
          <p:cNvSpPr/>
          <p:nvPr/>
        </p:nvSpPr>
        <p:spPr>
          <a:xfrm>
            <a:off x="7406640" y="2843784"/>
            <a:ext cx="932688" cy="237744"/>
          </a:xfrm>
          <a:prstGeom prst="rect">
            <a:avLst/>
          </a:prstGeom>
          <a:noFill/>
          <a:ln/>
        </p:spPr>
        <p:txBody>
          <a:bodyPr wrap="square" rtlCol="0" anchor="ctr"/>
          <a:lstStyle/>
          <a:p>
            <a:pPr indent="0" marL="0">
              <a:buNone/>
            </a:pPr>
            <a:r>
              <a:rPr lang="en-US" sz="900" b="1" dirty="0">
                <a:solidFill>
                  <a:srgbClr val="1A6B5A"/>
                </a:solidFill>
                <a:latin typeface="Arial" pitchFamily="34" charset="0"/>
                <a:ea typeface="Arial" pitchFamily="34" charset="-122"/>
                <a:cs typeface="Arial" pitchFamily="34" charset="-120"/>
              </a:rPr>
              <a:t>Complete</a:t>
            </a:r>
            <a:endParaRPr lang="en-US" sz="900" dirty="0"/>
          </a:p>
        </p:txBody>
      </p:sp>
      <p:sp>
        <p:nvSpPr>
          <p:cNvPr id="62" name="Shape 60"/>
          <p:cNvSpPr/>
          <p:nvPr/>
        </p:nvSpPr>
        <p:spPr>
          <a:xfrm>
            <a:off x="274320" y="3127248"/>
            <a:ext cx="2743200" cy="292608"/>
          </a:xfrm>
          <a:prstGeom prst="rect">
            <a:avLst/>
          </a:prstGeom>
          <a:solidFill>
            <a:srgbClr val="FFFFFF"/>
          </a:solidFill>
          <a:ln w="3810">
            <a:solidFill>
              <a:srgbClr val="C8D8E0"/>
            </a:solidFill>
            <a:prstDash val="solid"/>
          </a:ln>
        </p:spPr>
      </p:sp>
      <p:sp>
        <p:nvSpPr>
          <p:cNvPr id="63" name="Text 61"/>
          <p:cNvSpPr/>
          <p:nvPr/>
        </p:nvSpPr>
        <p:spPr>
          <a:xfrm>
            <a:off x="320040" y="3154680"/>
            <a:ext cx="2670048" cy="237744"/>
          </a:xfrm>
          <a:prstGeom prst="rect">
            <a:avLst/>
          </a:prstGeom>
          <a:noFill/>
          <a:ln/>
        </p:spPr>
        <p:txBody>
          <a:bodyPr wrap="square" rtlCol="0" anchor="ctr"/>
          <a:lstStyle/>
          <a:p>
            <a:pPr indent="0" marL="0">
              <a:buNone/>
            </a:pPr>
            <a:r>
              <a:rPr lang="en-US" sz="850" dirty="0">
                <a:solidFill>
                  <a:srgbClr val="00305A"/>
                </a:solidFill>
                <a:latin typeface="Courier New" pitchFamily="34" charset="0"/>
                <a:ea typeface="Courier New" pitchFamily="34" charset="-122"/>
                <a:cs typeface="Courier New" pitchFamily="34" charset="-120"/>
              </a:rPr>
              <a:t>GNN.py</a:t>
            </a:r>
            <a:endParaRPr lang="en-US" sz="850" dirty="0"/>
          </a:p>
        </p:txBody>
      </p:sp>
      <p:sp>
        <p:nvSpPr>
          <p:cNvPr id="64" name="Shape 62"/>
          <p:cNvSpPr/>
          <p:nvPr/>
        </p:nvSpPr>
        <p:spPr>
          <a:xfrm>
            <a:off x="3063240" y="3127248"/>
            <a:ext cx="731520" cy="292608"/>
          </a:xfrm>
          <a:prstGeom prst="rect">
            <a:avLst/>
          </a:prstGeom>
          <a:solidFill>
            <a:srgbClr val="FFFFFF"/>
          </a:solidFill>
          <a:ln w="3810">
            <a:solidFill>
              <a:srgbClr val="C8D8E0"/>
            </a:solidFill>
            <a:prstDash val="solid"/>
          </a:ln>
        </p:spPr>
      </p:sp>
      <p:sp>
        <p:nvSpPr>
          <p:cNvPr id="65" name="Text 63"/>
          <p:cNvSpPr/>
          <p:nvPr/>
        </p:nvSpPr>
        <p:spPr>
          <a:xfrm>
            <a:off x="3108960" y="3154680"/>
            <a:ext cx="658368" cy="23774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Python</a:t>
            </a:r>
            <a:endParaRPr lang="en-US" sz="900" dirty="0"/>
          </a:p>
        </p:txBody>
      </p:sp>
      <p:sp>
        <p:nvSpPr>
          <p:cNvPr id="66" name="Shape 64"/>
          <p:cNvSpPr/>
          <p:nvPr/>
        </p:nvSpPr>
        <p:spPr>
          <a:xfrm>
            <a:off x="3840480" y="3127248"/>
            <a:ext cx="3474720" cy="292608"/>
          </a:xfrm>
          <a:prstGeom prst="rect">
            <a:avLst/>
          </a:prstGeom>
          <a:solidFill>
            <a:srgbClr val="FFFFFF"/>
          </a:solidFill>
          <a:ln w="3810">
            <a:solidFill>
              <a:srgbClr val="C8D8E0"/>
            </a:solidFill>
            <a:prstDash val="solid"/>
          </a:ln>
        </p:spPr>
      </p:sp>
      <p:sp>
        <p:nvSpPr>
          <p:cNvPr id="67" name="Text 65"/>
          <p:cNvSpPr/>
          <p:nvPr/>
        </p:nvSpPr>
        <p:spPr>
          <a:xfrm>
            <a:off x="3886200" y="3154680"/>
            <a:ext cx="3401568" cy="23774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GCN + BYM2 hybrid (5 bugs documented)</a:t>
            </a:r>
            <a:endParaRPr lang="en-US" sz="900" dirty="0"/>
          </a:p>
        </p:txBody>
      </p:sp>
      <p:sp>
        <p:nvSpPr>
          <p:cNvPr id="68" name="Shape 66"/>
          <p:cNvSpPr/>
          <p:nvPr/>
        </p:nvSpPr>
        <p:spPr>
          <a:xfrm>
            <a:off x="7360920" y="3127248"/>
            <a:ext cx="1005840" cy="292608"/>
          </a:xfrm>
          <a:prstGeom prst="rect">
            <a:avLst/>
          </a:prstGeom>
          <a:solidFill>
            <a:srgbClr val="FFF0E0"/>
          </a:solidFill>
          <a:ln w="3810">
            <a:solidFill>
              <a:srgbClr val="C8D8E0"/>
            </a:solidFill>
            <a:prstDash val="solid"/>
          </a:ln>
        </p:spPr>
      </p:sp>
      <p:sp>
        <p:nvSpPr>
          <p:cNvPr id="69" name="Text 67"/>
          <p:cNvSpPr/>
          <p:nvPr/>
        </p:nvSpPr>
        <p:spPr>
          <a:xfrm>
            <a:off x="7406640" y="3154680"/>
            <a:ext cx="932688" cy="237744"/>
          </a:xfrm>
          <a:prstGeom prst="rect">
            <a:avLst/>
          </a:prstGeom>
          <a:noFill/>
          <a:ln/>
        </p:spPr>
        <p:txBody>
          <a:bodyPr wrap="square" rtlCol="0" anchor="ctr"/>
          <a:lstStyle/>
          <a:p>
            <a:pPr indent="0" marL="0">
              <a:buNone/>
            </a:pPr>
            <a:r>
              <a:rPr lang="en-US" sz="900" b="1" dirty="0">
                <a:solidFill>
                  <a:srgbClr val="B7770D"/>
                </a:solidFill>
                <a:latin typeface="Arial" pitchFamily="34" charset="0"/>
                <a:ea typeface="Arial" pitchFamily="34" charset="-122"/>
                <a:cs typeface="Arial" pitchFamily="34" charset="-120"/>
              </a:rPr>
              <a:t>Needs fixes</a:t>
            </a:r>
            <a:endParaRPr lang="en-US" sz="900" dirty="0"/>
          </a:p>
        </p:txBody>
      </p:sp>
      <p:sp>
        <p:nvSpPr>
          <p:cNvPr id="70" name="Shape 68"/>
          <p:cNvSpPr/>
          <p:nvPr/>
        </p:nvSpPr>
        <p:spPr>
          <a:xfrm>
            <a:off x="274320" y="3438144"/>
            <a:ext cx="2743200" cy="292608"/>
          </a:xfrm>
          <a:prstGeom prst="rect">
            <a:avLst/>
          </a:prstGeom>
          <a:solidFill>
            <a:srgbClr val="F4F6F9"/>
          </a:solidFill>
          <a:ln w="3810">
            <a:solidFill>
              <a:srgbClr val="C8D8E0"/>
            </a:solidFill>
            <a:prstDash val="solid"/>
          </a:ln>
        </p:spPr>
      </p:sp>
      <p:sp>
        <p:nvSpPr>
          <p:cNvPr id="71" name="Text 69"/>
          <p:cNvSpPr/>
          <p:nvPr/>
        </p:nvSpPr>
        <p:spPr>
          <a:xfrm>
            <a:off x="320040" y="3465576"/>
            <a:ext cx="2670048" cy="237744"/>
          </a:xfrm>
          <a:prstGeom prst="rect">
            <a:avLst/>
          </a:prstGeom>
          <a:noFill/>
          <a:ln/>
        </p:spPr>
        <p:txBody>
          <a:bodyPr wrap="square" rtlCol="0" anchor="ctr"/>
          <a:lstStyle/>
          <a:p>
            <a:pPr indent="0" marL="0">
              <a:buNone/>
            </a:pPr>
            <a:r>
              <a:rPr lang="en-US" sz="850" dirty="0">
                <a:solidFill>
                  <a:srgbClr val="00305A"/>
                </a:solidFill>
                <a:latin typeface="Courier New" pitchFamily="34" charset="0"/>
                <a:ea typeface="Courier New" pitchFamily="34" charset="-122"/>
                <a:cs typeface="Courier New" pitchFamily="34" charset="-120"/>
              </a:rPr>
              <a:t>dashboard.py</a:t>
            </a:r>
            <a:endParaRPr lang="en-US" sz="850" dirty="0"/>
          </a:p>
        </p:txBody>
      </p:sp>
      <p:sp>
        <p:nvSpPr>
          <p:cNvPr id="72" name="Shape 70"/>
          <p:cNvSpPr/>
          <p:nvPr/>
        </p:nvSpPr>
        <p:spPr>
          <a:xfrm>
            <a:off x="3063240" y="3438144"/>
            <a:ext cx="731520" cy="292608"/>
          </a:xfrm>
          <a:prstGeom prst="rect">
            <a:avLst/>
          </a:prstGeom>
          <a:solidFill>
            <a:srgbClr val="F4F6F9"/>
          </a:solidFill>
          <a:ln w="3810">
            <a:solidFill>
              <a:srgbClr val="C8D8E0"/>
            </a:solidFill>
            <a:prstDash val="solid"/>
          </a:ln>
        </p:spPr>
      </p:sp>
      <p:sp>
        <p:nvSpPr>
          <p:cNvPr id="73" name="Text 71"/>
          <p:cNvSpPr/>
          <p:nvPr/>
        </p:nvSpPr>
        <p:spPr>
          <a:xfrm>
            <a:off x="3108960" y="3465576"/>
            <a:ext cx="658368" cy="23774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Python</a:t>
            </a:r>
            <a:endParaRPr lang="en-US" sz="900" dirty="0"/>
          </a:p>
        </p:txBody>
      </p:sp>
      <p:sp>
        <p:nvSpPr>
          <p:cNvPr id="74" name="Shape 72"/>
          <p:cNvSpPr/>
          <p:nvPr/>
        </p:nvSpPr>
        <p:spPr>
          <a:xfrm>
            <a:off x="3840480" y="3438144"/>
            <a:ext cx="3474720" cy="292608"/>
          </a:xfrm>
          <a:prstGeom prst="rect">
            <a:avLst/>
          </a:prstGeom>
          <a:solidFill>
            <a:srgbClr val="F4F6F9"/>
          </a:solidFill>
          <a:ln w="3810">
            <a:solidFill>
              <a:srgbClr val="C8D8E0"/>
            </a:solidFill>
            <a:prstDash val="solid"/>
          </a:ln>
        </p:spPr>
      </p:sp>
      <p:sp>
        <p:nvSpPr>
          <p:cNvPr id="75" name="Text 73"/>
          <p:cNvSpPr/>
          <p:nvPr/>
        </p:nvSpPr>
        <p:spPr>
          <a:xfrm>
            <a:off x="3886200" y="3465576"/>
            <a:ext cx="3401568" cy="23774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Streamlit dark-theme 5-KPI dashboard</a:t>
            </a:r>
            <a:endParaRPr lang="en-US" sz="900" dirty="0"/>
          </a:p>
        </p:txBody>
      </p:sp>
      <p:sp>
        <p:nvSpPr>
          <p:cNvPr id="76" name="Shape 74"/>
          <p:cNvSpPr/>
          <p:nvPr/>
        </p:nvSpPr>
        <p:spPr>
          <a:xfrm>
            <a:off x="7360920" y="3438144"/>
            <a:ext cx="1005840" cy="292608"/>
          </a:xfrm>
          <a:prstGeom prst="rect">
            <a:avLst/>
          </a:prstGeom>
          <a:solidFill>
            <a:srgbClr val="F4F6F9"/>
          </a:solidFill>
          <a:ln w="3810">
            <a:solidFill>
              <a:srgbClr val="C8D8E0"/>
            </a:solidFill>
            <a:prstDash val="solid"/>
          </a:ln>
        </p:spPr>
      </p:sp>
      <p:sp>
        <p:nvSpPr>
          <p:cNvPr id="77" name="Text 75"/>
          <p:cNvSpPr/>
          <p:nvPr/>
        </p:nvSpPr>
        <p:spPr>
          <a:xfrm>
            <a:off x="7406640" y="3465576"/>
            <a:ext cx="932688" cy="237744"/>
          </a:xfrm>
          <a:prstGeom prst="rect">
            <a:avLst/>
          </a:prstGeom>
          <a:noFill/>
          <a:ln/>
        </p:spPr>
        <p:txBody>
          <a:bodyPr wrap="square" rtlCol="0" anchor="ctr"/>
          <a:lstStyle/>
          <a:p>
            <a:pPr indent="0" marL="0">
              <a:buNone/>
            </a:pPr>
            <a:r>
              <a:rPr lang="en-US" sz="900" b="1" dirty="0">
                <a:solidFill>
                  <a:srgbClr val="1A6B5A"/>
                </a:solidFill>
                <a:latin typeface="Arial" pitchFamily="34" charset="0"/>
                <a:ea typeface="Arial" pitchFamily="34" charset="-122"/>
                <a:cs typeface="Arial" pitchFamily="34" charset="-120"/>
              </a:rPr>
              <a:t>Complete</a:t>
            </a:r>
            <a:endParaRPr lang="en-US" sz="900" dirty="0"/>
          </a:p>
        </p:txBody>
      </p:sp>
      <p:sp>
        <p:nvSpPr>
          <p:cNvPr id="78" name="Shape 76"/>
          <p:cNvSpPr/>
          <p:nvPr/>
        </p:nvSpPr>
        <p:spPr>
          <a:xfrm>
            <a:off x="274320" y="3749040"/>
            <a:ext cx="2743200" cy="292608"/>
          </a:xfrm>
          <a:prstGeom prst="rect">
            <a:avLst/>
          </a:prstGeom>
          <a:solidFill>
            <a:srgbClr val="FFFFFF"/>
          </a:solidFill>
          <a:ln w="3810">
            <a:solidFill>
              <a:srgbClr val="C8D8E0"/>
            </a:solidFill>
            <a:prstDash val="solid"/>
          </a:ln>
        </p:spPr>
      </p:sp>
      <p:sp>
        <p:nvSpPr>
          <p:cNvPr id="79" name="Text 77"/>
          <p:cNvSpPr/>
          <p:nvPr/>
        </p:nvSpPr>
        <p:spPr>
          <a:xfrm>
            <a:off x="320040" y="3776472"/>
            <a:ext cx="2670048" cy="237744"/>
          </a:xfrm>
          <a:prstGeom prst="rect">
            <a:avLst/>
          </a:prstGeom>
          <a:noFill/>
          <a:ln/>
        </p:spPr>
        <p:txBody>
          <a:bodyPr wrap="square" rtlCol="0" anchor="ctr"/>
          <a:lstStyle/>
          <a:p>
            <a:pPr indent="0" marL="0">
              <a:buNone/>
            </a:pPr>
            <a:r>
              <a:rPr lang="en-US" sz="850" dirty="0">
                <a:solidFill>
                  <a:srgbClr val="00305A"/>
                </a:solidFill>
                <a:latin typeface="Courier New" pitchFamily="34" charset="0"/>
                <a:ea typeface="Courier New" pitchFamily="34" charset="-122"/>
                <a:cs typeface="Courier New" pitchFamily="34" charset="-120"/>
              </a:rPr>
              <a:t>vadodara_network.html</a:t>
            </a:r>
            <a:endParaRPr lang="en-US" sz="850" dirty="0"/>
          </a:p>
        </p:txBody>
      </p:sp>
      <p:sp>
        <p:nvSpPr>
          <p:cNvPr id="80" name="Shape 78"/>
          <p:cNvSpPr/>
          <p:nvPr/>
        </p:nvSpPr>
        <p:spPr>
          <a:xfrm>
            <a:off x="3063240" y="3749040"/>
            <a:ext cx="731520" cy="292608"/>
          </a:xfrm>
          <a:prstGeom prst="rect">
            <a:avLst/>
          </a:prstGeom>
          <a:solidFill>
            <a:srgbClr val="FFFFFF"/>
          </a:solidFill>
          <a:ln w="3810">
            <a:solidFill>
              <a:srgbClr val="C8D8E0"/>
            </a:solidFill>
            <a:prstDash val="solid"/>
          </a:ln>
        </p:spPr>
      </p:sp>
      <p:sp>
        <p:nvSpPr>
          <p:cNvPr id="81" name="Text 79"/>
          <p:cNvSpPr/>
          <p:nvPr/>
        </p:nvSpPr>
        <p:spPr>
          <a:xfrm>
            <a:off x="3108960" y="3776472"/>
            <a:ext cx="658368" cy="23774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HTML</a:t>
            </a:r>
            <a:endParaRPr lang="en-US" sz="900" dirty="0"/>
          </a:p>
        </p:txBody>
      </p:sp>
      <p:sp>
        <p:nvSpPr>
          <p:cNvPr id="82" name="Shape 80"/>
          <p:cNvSpPr/>
          <p:nvPr/>
        </p:nvSpPr>
        <p:spPr>
          <a:xfrm>
            <a:off x="3840480" y="3749040"/>
            <a:ext cx="3474720" cy="292608"/>
          </a:xfrm>
          <a:prstGeom prst="rect">
            <a:avLst/>
          </a:prstGeom>
          <a:solidFill>
            <a:srgbClr val="FFFFFF"/>
          </a:solidFill>
          <a:ln w="3810">
            <a:solidFill>
              <a:srgbClr val="C8D8E0"/>
            </a:solidFill>
            <a:prstDash val="solid"/>
          </a:ln>
        </p:spPr>
      </p:sp>
      <p:sp>
        <p:nvSpPr>
          <p:cNvPr id="83" name="Text 81"/>
          <p:cNvSpPr/>
          <p:nvPr/>
        </p:nvSpPr>
        <p:spPr>
          <a:xfrm>
            <a:off x="3886200" y="3776472"/>
            <a:ext cx="3401568" cy="23774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Self-contained interactive flood network viz (142KB)</a:t>
            </a:r>
            <a:endParaRPr lang="en-US" sz="900" dirty="0"/>
          </a:p>
        </p:txBody>
      </p:sp>
      <p:sp>
        <p:nvSpPr>
          <p:cNvPr id="84" name="Shape 82"/>
          <p:cNvSpPr/>
          <p:nvPr/>
        </p:nvSpPr>
        <p:spPr>
          <a:xfrm>
            <a:off x="7360920" y="3749040"/>
            <a:ext cx="1005840" cy="292608"/>
          </a:xfrm>
          <a:prstGeom prst="rect">
            <a:avLst/>
          </a:prstGeom>
          <a:solidFill>
            <a:srgbClr val="FFFFFF"/>
          </a:solidFill>
          <a:ln w="3810">
            <a:solidFill>
              <a:srgbClr val="C8D8E0"/>
            </a:solidFill>
            <a:prstDash val="solid"/>
          </a:ln>
        </p:spPr>
      </p:sp>
      <p:sp>
        <p:nvSpPr>
          <p:cNvPr id="85" name="Text 83"/>
          <p:cNvSpPr/>
          <p:nvPr/>
        </p:nvSpPr>
        <p:spPr>
          <a:xfrm>
            <a:off x="7406640" y="3776472"/>
            <a:ext cx="932688" cy="237744"/>
          </a:xfrm>
          <a:prstGeom prst="rect">
            <a:avLst/>
          </a:prstGeom>
          <a:noFill/>
          <a:ln/>
        </p:spPr>
        <p:txBody>
          <a:bodyPr wrap="square" rtlCol="0" anchor="ctr"/>
          <a:lstStyle/>
          <a:p>
            <a:pPr indent="0" marL="0">
              <a:buNone/>
            </a:pPr>
            <a:r>
              <a:rPr lang="en-US" sz="900" b="1" dirty="0">
                <a:solidFill>
                  <a:srgbClr val="1A6B5A"/>
                </a:solidFill>
                <a:latin typeface="Arial" pitchFamily="34" charset="0"/>
                <a:ea typeface="Arial" pitchFamily="34" charset="-122"/>
                <a:cs typeface="Arial" pitchFamily="34" charset="-120"/>
              </a:rPr>
              <a:t>Complete</a:t>
            </a:r>
            <a:endParaRPr lang="en-US" sz="900" dirty="0"/>
          </a:p>
        </p:txBody>
      </p:sp>
      <p:sp>
        <p:nvSpPr>
          <p:cNvPr id="86" name="Shape 84"/>
          <p:cNvSpPr/>
          <p:nvPr/>
        </p:nvSpPr>
        <p:spPr>
          <a:xfrm>
            <a:off x="274320" y="4059936"/>
            <a:ext cx="2743200" cy="292608"/>
          </a:xfrm>
          <a:prstGeom prst="rect">
            <a:avLst/>
          </a:prstGeom>
          <a:solidFill>
            <a:srgbClr val="F4F6F9"/>
          </a:solidFill>
          <a:ln w="3810">
            <a:solidFill>
              <a:srgbClr val="C8D8E0"/>
            </a:solidFill>
            <a:prstDash val="solid"/>
          </a:ln>
        </p:spPr>
      </p:sp>
      <p:sp>
        <p:nvSpPr>
          <p:cNvPr id="87" name="Text 85"/>
          <p:cNvSpPr/>
          <p:nvPr/>
        </p:nvSpPr>
        <p:spPr>
          <a:xfrm>
            <a:off x="320040" y="4087368"/>
            <a:ext cx="2670048" cy="237744"/>
          </a:xfrm>
          <a:prstGeom prst="rect">
            <a:avLst/>
          </a:prstGeom>
          <a:noFill/>
          <a:ln/>
        </p:spPr>
        <p:txBody>
          <a:bodyPr wrap="square" rtlCol="0" anchor="ctr"/>
          <a:lstStyle/>
          <a:p>
            <a:pPr indent="0" marL="0">
              <a:buNone/>
            </a:pPr>
            <a:r>
              <a:rPr lang="en-US" sz="850" dirty="0">
                <a:solidFill>
                  <a:srgbClr val="00305A"/>
                </a:solidFill>
                <a:latin typeface="Courier New" pitchFamily="34" charset="0"/>
                <a:ea typeface="Courier New" pitchFamily="34" charset="-122"/>
                <a:cs typeface="Courier New" pitchFamily="34" charset="-120"/>
              </a:rPr>
              <a:t>vadodara_overland_fixed.inp</a:t>
            </a:r>
            <a:endParaRPr lang="en-US" sz="850" dirty="0"/>
          </a:p>
        </p:txBody>
      </p:sp>
      <p:sp>
        <p:nvSpPr>
          <p:cNvPr id="88" name="Shape 86"/>
          <p:cNvSpPr/>
          <p:nvPr/>
        </p:nvSpPr>
        <p:spPr>
          <a:xfrm>
            <a:off x="3063240" y="4059936"/>
            <a:ext cx="731520" cy="292608"/>
          </a:xfrm>
          <a:prstGeom prst="rect">
            <a:avLst/>
          </a:prstGeom>
          <a:solidFill>
            <a:srgbClr val="F4F6F9"/>
          </a:solidFill>
          <a:ln w="3810">
            <a:solidFill>
              <a:srgbClr val="C8D8E0"/>
            </a:solidFill>
            <a:prstDash val="solid"/>
          </a:ln>
        </p:spPr>
      </p:sp>
      <p:sp>
        <p:nvSpPr>
          <p:cNvPr id="89" name="Text 87"/>
          <p:cNvSpPr/>
          <p:nvPr/>
        </p:nvSpPr>
        <p:spPr>
          <a:xfrm>
            <a:off x="3108960" y="4087368"/>
            <a:ext cx="658368" cy="23774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SWMM</a:t>
            </a:r>
            <a:endParaRPr lang="en-US" sz="900" dirty="0"/>
          </a:p>
        </p:txBody>
      </p:sp>
      <p:sp>
        <p:nvSpPr>
          <p:cNvPr id="90" name="Shape 88"/>
          <p:cNvSpPr/>
          <p:nvPr/>
        </p:nvSpPr>
        <p:spPr>
          <a:xfrm>
            <a:off x="3840480" y="4059936"/>
            <a:ext cx="3474720" cy="292608"/>
          </a:xfrm>
          <a:prstGeom prst="rect">
            <a:avLst/>
          </a:prstGeom>
          <a:solidFill>
            <a:srgbClr val="F4F6F9"/>
          </a:solidFill>
          <a:ln w="3810">
            <a:solidFill>
              <a:srgbClr val="C8D8E0"/>
            </a:solidFill>
            <a:prstDash val="solid"/>
          </a:ln>
        </p:spPr>
      </p:sp>
      <p:sp>
        <p:nvSpPr>
          <p:cNvPr id="91" name="Text 89"/>
          <p:cNvSpPr/>
          <p:nvPr/>
        </p:nvSpPr>
        <p:spPr>
          <a:xfrm>
            <a:off x="3886200" y="4087368"/>
            <a:ext cx="3401568" cy="23774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Fixed .inp — 5 missing junction nodes patched</a:t>
            </a:r>
            <a:endParaRPr lang="en-US" sz="900" dirty="0"/>
          </a:p>
        </p:txBody>
      </p:sp>
      <p:sp>
        <p:nvSpPr>
          <p:cNvPr id="92" name="Shape 90"/>
          <p:cNvSpPr/>
          <p:nvPr/>
        </p:nvSpPr>
        <p:spPr>
          <a:xfrm>
            <a:off x="7360920" y="4059936"/>
            <a:ext cx="1005840" cy="292608"/>
          </a:xfrm>
          <a:prstGeom prst="rect">
            <a:avLst/>
          </a:prstGeom>
          <a:solidFill>
            <a:srgbClr val="F4F6F9"/>
          </a:solidFill>
          <a:ln w="3810">
            <a:solidFill>
              <a:srgbClr val="C8D8E0"/>
            </a:solidFill>
            <a:prstDash val="solid"/>
          </a:ln>
        </p:spPr>
      </p:sp>
      <p:sp>
        <p:nvSpPr>
          <p:cNvPr id="93" name="Text 91"/>
          <p:cNvSpPr/>
          <p:nvPr/>
        </p:nvSpPr>
        <p:spPr>
          <a:xfrm>
            <a:off x="7406640" y="4087368"/>
            <a:ext cx="932688" cy="237744"/>
          </a:xfrm>
          <a:prstGeom prst="rect">
            <a:avLst/>
          </a:prstGeom>
          <a:noFill/>
          <a:ln/>
        </p:spPr>
        <p:txBody>
          <a:bodyPr wrap="square" rtlCol="0" anchor="ctr"/>
          <a:lstStyle/>
          <a:p>
            <a:pPr indent="0" marL="0">
              <a:buNone/>
            </a:pPr>
            <a:r>
              <a:rPr lang="en-US" sz="900" b="1" dirty="0">
                <a:solidFill>
                  <a:srgbClr val="1A6B5A"/>
                </a:solidFill>
                <a:latin typeface="Arial" pitchFamily="34" charset="0"/>
                <a:ea typeface="Arial" pitchFamily="34" charset="-122"/>
                <a:cs typeface="Arial" pitchFamily="34" charset="-120"/>
              </a:rPr>
              <a:t>Complete</a:t>
            </a:r>
            <a:endParaRPr lang="en-US" sz="900" dirty="0"/>
          </a:p>
        </p:txBody>
      </p:sp>
      <p:sp>
        <p:nvSpPr>
          <p:cNvPr id="94" name="Shape 92"/>
          <p:cNvSpPr/>
          <p:nvPr/>
        </p:nvSpPr>
        <p:spPr>
          <a:xfrm>
            <a:off x="274320" y="4370832"/>
            <a:ext cx="2743200" cy="292608"/>
          </a:xfrm>
          <a:prstGeom prst="rect">
            <a:avLst/>
          </a:prstGeom>
          <a:solidFill>
            <a:srgbClr val="FFFFFF"/>
          </a:solidFill>
          <a:ln w="3810">
            <a:solidFill>
              <a:srgbClr val="C8D8E0"/>
            </a:solidFill>
            <a:prstDash val="solid"/>
          </a:ln>
        </p:spPr>
      </p:sp>
      <p:sp>
        <p:nvSpPr>
          <p:cNvPr id="95" name="Text 93"/>
          <p:cNvSpPr/>
          <p:nvPr/>
        </p:nvSpPr>
        <p:spPr>
          <a:xfrm>
            <a:off x="320040" y="4398264"/>
            <a:ext cx="2670048" cy="237744"/>
          </a:xfrm>
          <a:prstGeom prst="rect">
            <a:avLst/>
          </a:prstGeom>
          <a:noFill/>
          <a:ln/>
        </p:spPr>
        <p:txBody>
          <a:bodyPr wrap="square" rtlCol="0" anchor="ctr"/>
          <a:lstStyle/>
          <a:p>
            <a:pPr indent="0" marL="0">
              <a:buNone/>
            </a:pPr>
            <a:r>
              <a:rPr lang="en-US" sz="850" dirty="0">
                <a:solidFill>
                  <a:srgbClr val="00305A"/>
                </a:solidFill>
                <a:latin typeface="Courier New" pitchFamily="34" charset="0"/>
                <a:ea typeface="Courier New" pitchFamily="34" charset="-122"/>
                <a:cs typeface="Courier New" pitchFamily="34" charset="-120"/>
              </a:rPr>
              <a:t>UOI_Bayesian_SpatioTemporal_Proposal.docx</a:t>
            </a:r>
            <a:endParaRPr lang="en-US" sz="850" dirty="0"/>
          </a:p>
        </p:txBody>
      </p:sp>
      <p:sp>
        <p:nvSpPr>
          <p:cNvPr id="96" name="Shape 94"/>
          <p:cNvSpPr/>
          <p:nvPr/>
        </p:nvSpPr>
        <p:spPr>
          <a:xfrm>
            <a:off x="3063240" y="4370832"/>
            <a:ext cx="731520" cy="292608"/>
          </a:xfrm>
          <a:prstGeom prst="rect">
            <a:avLst/>
          </a:prstGeom>
          <a:solidFill>
            <a:srgbClr val="FFFFFF"/>
          </a:solidFill>
          <a:ln w="3810">
            <a:solidFill>
              <a:srgbClr val="C8D8E0"/>
            </a:solidFill>
            <a:prstDash val="solid"/>
          </a:ln>
        </p:spPr>
      </p:sp>
      <p:sp>
        <p:nvSpPr>
          <p:cNvPr id="97" name="Text 95"/>
          <p:cNvSpPr/>
          <p:nvPr/>
        </p:nvSpPr>
        <p:spPr>
          <a:xfrm>
            <a:off x="3108960" y="4398264"/>
            <a:ext cx="658368" cy="23774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Word</a:t>
            </a:r>
            <a:endParaRPr lang="en-US" sz="900" dirty="0"/>
          </a:p>
        </p:txBody>
      </p:sp>
      <p:sp>
        <p:nvSpPr>
          <p:cNvPr id="98" name="Shape 96"/>
          <p:cNvSpPr/>
          <p:nvPr/>
        </p:nvSpPr>
        <p:spPr>
          <a:xfrm>
            <a:off x="3840480" y="4370832"/>
            <a:ext cx="3474720" cy="292608"/>
          </a:xfrm>
          <a:prstGeom prst="rect">
            <a:avLst/>
          </a:prstGeom>
          <a:solidFill>
            <a:srgbClr val="FFFFFF"/>
          </a:solidFill>
          <a:ln w="3810">
            <a:solidFill>
              <a:srgbClr val="C8D8E0"/>
            </a:solidFill>
            <a:prstDash val="solid"/>
          </a:ln>
        </p:spPr>
      </p:sp>
      <p:sp>
        <p:nvSpPr>
          <p:cNvPr id="99" name="Text 97"/>
          <p:cNvSpPr/>
          <p:nvPr/>
        </p:nvSpPr>
        <p:spPr>
          <a:xfrm>
            <a:off x="3886200" y="4398264"/>
            <a:ext cx="3401568" cy="23774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Spatio-temporal extension proposal</a:t>
            </a:r>
            <a:endParaRPr lang="en-US" sz="900" dirty="0"/>
          </a:p>
        </p:txBody>
      </p:sp>
      <p:sp>
        <p:nvSpPr>
          <p:cNvPr id="100" name="Shape 98"/>
          <p:cNvSpPr/>
          <p:nvPr/>
        </p:nvSpPr>
        <p:spPr>
          <a:xfrm>
            <a:off x="7360920" y="4370832"/>
            <a:ext cx="1005840" cy="292608"/>
          </a:xfrm>
          <a:prstGeom prst="rect">
            <a:avLst/>
          </a:prstGeom>
          <a:solidFill>
            <a:srgbClr val="FFFFFF"/>
          </a:solidFill>
          <a:ln w="3810">
            <a:solidFill>
              <a:srgbClr val="C8D8E0"/>
            </a:solidFill>
            <a:prstDash val="solid"/>
          </a:ln>
        </p:spPr>
      </p:sp>
      <p:sp>
        <p:nvSpPr>
          <p:cNvPr id="101" name="Text 99"/>
          <p:cNvSpPr/>
          <p:nvPr/>
        </p:nvSpPr>
        <p:spPr>
          <a:xfrm>
            <a:off x="7406640" y="4398264"/>
            <a:ext cx="932688" cy="237744"/>
          </a:xfrm>
          <a:prstGeom prst="rect">
            <a:avLst/>
          </a:prstGeom>
          <a:noFill/>
          <a:ln/>
        </p:spPr>
        <p:txBody>
          <a:bodyPr wrap="square" rtlCol="0" anchor="ctr"/>
          <a:lstStyle/>
          <a:p>
            <a:pPr indent="0" marL="0">
              <a:buNone/>
            </a:pPr>
            <a:r>
              <a:rPr lang="en-US" sz="900" b="1" dirty="0">
                <a:solidFill>
                  <a:srgbClr val="1A6B5A"/>
                </a:solidFill>
                <a:latin typeface="Arial" pitchFamily="34" charset="0"/>
                <a:ea typeface="Arial" pitchFamily="34" charset="-122"/>
                <a:cs typeface="Arial" pitchFamily="34" charset="-120"/>
              </a:rPr>
              <a:t>Complete</a:t>
            </a:r>
            <a:endParaRPr lang="en-US" sz="900" dirty="0"/>
          </a:p>
        </p:txBody>
      </p:sp>
      <p:sp>
        <p:nvSpPr>
          <p:cNvPr id="102" name="Shape 100"/>
          <p:cNvSpPr/>
          <p:nvPr/>
        </p:nvSpPr>
        <p:spPr>
          <a:xfrm>
            <a:off x="274320" y="4681728"/>
            <a:ext cx="2743200" cy="292608"/>
          </a:xfrm>
          <a:prstGeom prst="rect">
            <a:avLst/>
          </a:prstGeom>
          <a:solidFill>
            <a:srgbClr val="F4F6F9"/>
          </a:solidFill>
          <a:ln w="3810">
            <a:solidFill>
              <a:srgbClr val="C8D8E0"/>
            </a:solidFill>
            <a:prstDash val="solid"/>
          </a:ln>
        </p:spPr>
      </p:sp>
      <p:sp>
        <p:nvSpPr>
          <p:cNvPr id="103" name="Text 101"/>
          <p:cNvSpPr/>
          <p:nvPr/>
        </p:nvSpPr>
        <p:spPr>
          <a:xfrm>
            <a:off x="320040" y="4709160"/>
            <a:ext cx="2670048" cy="237744"/>
          </a:xfrm>
          <a:prstGeom prst="rect">
            <a:avLst/>
          </a:prstGeom>
          <a:noFill/>
          <a:ln/>
        </p:spPr>
        <p:txBody>
          <a:bodyPr wrap="square" rtlCol="0" anchor="ctr"/>
          <a:lstStyle/>
          <a:p>
            <a:pPr indent="0" marL="0">
              <a:buNone/>
            </a:pPr>
            <a:r>
              <a:rPr lang="en-US" sz="850" dirty="0">
                <a:solidFill>
                  <a:srgbClr val="00305A"/>
                </a:solidFill>
                <a:latin typeface="Courier New" pitchFamily="34" charset="0"/>
                <a:ea typeface="Courier New" pitchFamily="34" charset="-122"/>
                <a:cs typeface="Courier New" pitchFamily="34" charset="-120"/>
              </a:rPr>
              <a:t>vadodara_thesis_summary.docx</a:t>
            </a:r>
            <a:endParaRPr lang="en-US" sz="850" dirty="0"/>
          </a:p>
        </p:txBody>
      </p:sp>
      <p:sp>
        <p:nvSpPr>
          <p:cNvPr id="104" name="Shape 102"/>
          <p:cNvSpPr/>
          <p:nvPr/>
        </p:nvSpPr>
        <p:spPr>
          <a:xfrm>
            <a:off x="3063240" y="4681728"/>
            <a:ext cx="731520" cy="292608"/>
          </a:xfrm>
          <a:prstGeom prst="rect">
            <a:avLst/>
          </a:prstGeom>
          <a:solidFill>
            <a:srgbClr val="F4F6F9"/>
          </a:solidFill>
          <a:ln w="3810">
            <a:solidFill>
              <a:srgbClr val="C8D8E0"/>
            </a:solidFill>
            <a:prstDash val="solid"/>
          </a:ln>
        </p:spPr>
      </p:sp>
      <p:sp>
        <p:nvSpPr>
          <p:cNvPr id="105" name="Text 103"/>
          <p:cNvSpPr/>
          <p:nvPr/>
        </p:nvSpPr>
        <p:spPr>
          <a:xfrm>
            <a:off x="3108960" y="4709160"/>
            <a:ext cx="658368" cy="23774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Word</a:t>
            </a:r>
            <a:endParaRPr lang="en-US" sz="900" dirty="0"/>
          </a:p>
        </p:txBody>
      </p:sp>
      <p:sp>
        <p:nvSpPr>
          <p:cNvPr id="106" name="Shape 104"/>
          <p:cNvSpPr/>
          <p:nvPr/>
        </p:nvSpPr>
        <p:spPr>
          <a:xfrm>
            <a:off x="3840480" y="4681728"/>
            <a:ext cx="3474720" cy="292608"/>
          </a:xfrm>
          <a:prstGeom prst="rect">
            <a:avLst/>
          </a:prstGeom>
          <a:solidFill>
            <a:srgbClr val="F4F6F9"/>
          </a:solidFill>
          <a:ln w="3810">
            <a:solidFill>
              <a:srgbClr val="C8D8E0"/>
            </a:solidFill>
            <a:prstDash val="solid"/>
          </a:ln>
        </p:spPr>
      </p:sp>
      <p:sp>
        <p:nvSpPr>
          <p:cNvPr id="107" name="Text 105"/>
          <p:cNvSpPr/>
          <p:nvPr/>
        </p:nvSpPr>
        <p:spPr>
          <a:xfrm>
            <a:off x="3886200" y="4709160"/>
            <a:ext cx="3401568" cy="237744"/>
          </a:xfrm>
          <a:prstGeom prst="rect">
            <a:avLst/>
          </a:prstGeom>
          <a:noFill/>
          <a:ln/>
        </p:spPr>
        <p:txBody>
          <a:bodyPr wrap="square" rtlCol="0" anchor="ctr"/>
          <a:lstStyle/>
          <a:p>
            <a:pPr indent="0" marL="0">
              <a:buNone/>
            </a:pPr>
            <a:r>
              <a:rPr lang="en-US" sz="900" dirty="0">
                <a:solidFill>
                  <a:srgbClr val="121C2B"/>
                </a:solidFill>
                <a:latin typeface="Arial" pitchFamily="34" charset="0"/>
                <a:ea typeface="Arial" pitchFamily="34" charset="-122"/>
                <a:cs typeface="Arial" pitchFamily="34" charset="-120"/>
              </a:rPr>
              <a:t>This document — definitive technical summary</a:t>
            </a:r>
            <a:endParaRPr lang="en-US" sz="900" dirty="0"/>
          </a:p>
        </p:txBody>
      </p:sp>
      <p:sp>
        <p:nvSpPr>
          <p:cNvPr id="108" name="Shape 106"/>
          <p:cNvSpPr/>
          <p:nvPr/>
        </p:nvSpPr>
        <p:spPr>
          <a:xfrm>
            <a:off x="7360920" y="4681728"/>
            <a:ext cx="1005840" cy="292608"/>
          </a:xfrm>
          <a:prstGeom prst="rect">
            <a:avLst/>
          </a:prstGeom>
          <a:solidFill>
            <a:srgbClr val="F4F6F9"/>
          </a:solidFill>
          <a:ln w="3810">
            <a:solidFill>
              <a:srgbClr val="C8D8E0"/>
            </a:solidFill>
            <a:prstDash val="solid"/>
          </a:ln>
        </p:spPr>
      </p:sp>
      <p:sp>
        <p:nvSpPr>
          <p:cNvPr id="109" name="Text 107"/>
          <p:cNvSpPr/>
          <p:nvPr/>
        </p:nvSpPr>
        <p:spPr>
          <a:xfrm>
            <a:off x="7406640" y="4709160"/>
            <a:ext cx="932688" cy="237744"/>
          </a:xfrm>
          <a:prstGeom prst="rect">
            <a:avLst/>
          </a:prstGeom>
          <a:noFill/>
          <a:ln/>
        </p:spPr>
        <p:txBody>
          <a:bodyPr wrap="square" rtlCol="0" anchor="ctr"/>
          <a:lstStyle/>
          <a:p>
            <a:pPr indent="0" marL="0">
              <a:buNone/>
            </a:pPr>
            <a:r>
              <a:rPr lang="en-US" sz="900" b="1" dirty="0">
                <a:solidFill>
                  <a:srgbClr val="1A6B5A"/>
                </a:solidFill>
                <a:latin typeface="Arial" pitchFamily="34" charset="0"/>
                <a:ea typeface="Arial" pitchFamily="34" charset="-122"/>
                <a:cs typeface="Arial" pitchFamily="34" charset="-120"/>
              </a:rPr>
              <a:t>Complete</a:t>
            </a:r>
            <a:endParaRPr lang="en-US" sz="900" dirty="0"/>
          </a:p>
        </p:txBody>
      </p:sp>
      <p:sp>
        <p:nvSpPr>
          <p:cNvPr id="110" name="Text 108"/>
          <p:cNvSpPr/>
          <p:nvPr/>
        </p:nvSpPr>
        <p:spPr>
          <a:xfrm>
            <a:off x="8412480" y="4869180"/>
            <a:ext cx="640080" cy="201168"/>
          </a:xfrm>
          <a:prstGeom prst="rect">
            <a:avLst/>
          </a:prstGeom>
          <a:noFill/>
          <a:ln/>
        </p:spPr>
        <p:txBody>
          <a:bodyPr wrap="square" rtlCol="0" anchor="ctr"/>
          <a:lstStyle/>
          <a:p>
            <a:pPr algn="r" indent="0" marL="0">
              <a:buNone/>
            </a:pPr>
            <a:r>
              <a:rPr lang="en-US" sz="900" dirty="0">
                <a:solidFill>
                  <a:srgbClr val="5A6272"/>
                </a:solidFill>
                <a:latin typeface="Arial" pitchFamily="34" charset="0"/>
                <a:ea typeface="Arial" pitchFamily="34" charset="-122"/>
                <a:cs typeface="Arial" pitchFamily="34" charset="-120"/>
              </a:rPr>
              <a:t>15 / 16</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B1F3A"/>
          </a:solidFill>
          <a:ln w="12700">
            <a:solidFill>
              <a:srgbClr val="0B1F3A"/>
            </a:solidFill>
            <a:prstDash val="solid"/>
          </a:ln>
        </p:spPr>
      </p:sp>
      <p:sp>
        <p:nvSpPr>
          <p:cNvPr id="3" name="Text 1"/>
          <p:cNvSpPr/>
          <p:nvPr/>
        </p:nvSpPr>
        <p:spPr>
          <a:xfrm>
            <a:off x="228600" y="73152"/>
            <a:ext cx="8686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References and next steps</a:t>
            </a:r>
            <a:endParaRPr lang="en-US" sz="2200" dirty="0"/>
          </a:p>
        </p:txBody>
      </p:sp>
      <p:sp>
        <p:nvSpPr>
          <p:cNvPr id="4" name="Text 2"/>
          <p:cNvSpPr/>
          <p:nvPr/>
        </p:nvSpPr>
        <p:spPr>
          <a:xfrm>
            <a:off x="228600" y="512064"/>
            <a:ext cx="8686800" cy="256032"/>
          </a:xfrm>
          <a:prstGeom prst="rect">
            <a:avLst/>
          </a:prstGeom>
          <a:noFill/>
          <a:ln/>
        </p:spPr>
        <p:txBody>
          <a:bodyPr wrap="square" rtlCol="0" anchor="ctr"/>
          <a:lstStyle/>
          <a:p>
            <a:pPr indent="0" marL="0">
              <a:buNone/>
            </a:pPr>
            <a:r>
              <a:rPr lang="en-US" sz="1100" dirty="0">
                <a:solidFill>
                  <a:srgbClr val="A0C0E0"/>
                </a:solidFill>
                <a:latin typeface="Arial" pitchFamily="34" charset="0"/>
                <a:ea typeface="Arial" pitchFamily="34" charset="-122"/>
                <a:cs typeface="Arial" pitchFamily="34" charset="-120"/>
              </a:rPr>
              <a:t>Key citations · remaining tasks · spatio-temporal extension</a:t>
            </a:r>
            <a:endParaRPr lang="en-US" sz="1100" dirty="0"/>
          </a:p>
        </p:txBody>
      </p:sp>
      <p:sp>
        <p:nvSpPr>
          <p:cNvPr id="5" name="Shape 3"/>
          <p:cNvSpPr/>
          <p:nvPr/>
        </p:nvSpPr>
        <p:spPr>
          <a:xfrm>
            <a:off x="0" y="777240"/>
            <a:ext cx="9144000" cy="0"/>
          </a:xfrm>
          <a:prstGeom prst="line">
            <a:avLst/>
          </a:prstGeom>
          <a:noFill/>
          <a:ln w="38100">
            <a:solidFill>
              <a:srgbClr val="D4A820"/>
            </a:solidFill>
            <a:prstDash val="solid"/>
          </a:ln>
        </p:spPr>
      </p:sp>
      <p:sp>
        <p:nvSpPr>
          <p:cNvPr id="6" name="Shape 4"/>
          <p:cNvSpPr/>
          <p:nvPr/>
        </p:nvSpPr>
        <p:spPr>
          <a:xfrm>
            <a:off x="274320" y="932688"/>
            <a:ext cx="4937760" cy="3913632"/>
          </a:xfrm>
          <a:prstGeom prst="rect">
            <a:avLst/>
          </a:prstGeom>
          <a:solidFill>
            <a:srgbClr val="F4F8FC"/>
          </a:solidFill>
          <a:ln w="6350">
            <a:solidFill>
              <a:srgbClr val="2E6DA4"/>
            </a:solidFill>
            <a:prstDash val="solid"/>
          </a:ln>
        </p:spPr>
      </p:sp>
      <p:sp>
        <p:nvSpPr>
          <p:cNvPr id="7" name="Text 5"/>
          <p:cNvSpPr/>
          <p:nvPr/>
        </p:nvSpPr>
        <p:spPr>
          <a:xfrm>
            <a:off x="411480" y="1005840"/>
            <a:ext cx="4663440" cy="274320"/>
          </a:xfrm>
          <a:prstGeom prst="rect">
            <a:avLst/>
          </a:prstGeom>
          <a:noFill/>
          <a:ln/>
        </p:spPr>
        <p:txBody>
          <a:bodyPr wrap="square" rtlCol="0" anchor="ctr"/>
          <a:lstStyle/>
          <a:p>
            <a:pPr indent="0" marL="0">
              <a:buNone/>
            </a:pPr>
            <a:r>
              <a:rPr lang="en-US" sz="1100" b="1" dirty="0">
                <a:solidFill>
                  <a:srgbClr val="0B1F3A"/>
                </a:solidFill>
                <a:latin typeface="Arial" pitchFamily="34" charset="0"/>
                <a:ea typeface="Arial" pitchFamily="34" charset="-122"/>
                <a:cs typeface="Arial" pitchFamily="34" charset="-120"/>
              </a:rPr>
              <a:t>Key references</a:t>
            </a:r>
            <a:endParaRPr lang="en-US" sz="1100" dirty="0"/>
          </a:p>
        </p:txBody>
      </p:sp>
      <p:sp>
        <p:nvSpPr>
          <p:cNvPr id="8" name="Text 6"/>
          <p:cNvSpPr/>
          <p:nvPr/>
        </p:nvSpPr>
        <p:spPr>
          <a:xfrm>
            <a:off x="411480" y="1353312"/>
            <a:ext cx="4663440" cy="320040"/>
          </a:xfrm>
          <a:prstGeom prst="rect">
            <a:avLst/>
          </a:prstGeom>
          <a:noFill/>
          <a:ln/>
        </p:spPr>
        <p:txBody>
          <a:bodyPr wrap="square" rtlCol="0" anchor="ctr"/>
          <a:lstStyle/>
          <a:p>
            <a:pPr marL="342900" indent="-342900">
              <a:buSzPct val="100000"/>
              <a:buChar char="•"/>
            </a:pPr>
            <a:r>
              <a:rPr lang="en-US" sz="900" dirty="0">
                <a:solidFill>
                  <a:srgbClr val="121C2B"/>
                </a:solidFill>
                <a:latin typeface="Arial" pitchFamily="34" charset="0"/>
                <a:ea typeface="Arial" pitchFamily="34" charset="-122"/>
                <a:cs typeface="Arial" pitchFamily="34" charset="-120"/>
              </a:rPr>
              <a:t>Anselin, L. (1988). Spatial Econometrics. Kluwer.</a:t>
            </a:r>
            <a:endParaRPr lang="en-US" sz="900" dirty="0"/>
          </a:p>
        </p:txBody>
      </p:sp>
      <p:sp>
        <p:nvSpPr>
          <p:cNvPr id="9" name="Text 7"/>
          <p:cNvSpPr/>
          <p:nvPr/>
        </p:nvSpPr>
        <p:spPr>
          <a:xfrm>
            <a:off x="411480" y="1700784"/>
            <a:ext cx="4663440" cy="320040"/>
          </a:xfrm>
          <a:prstGeom prst="rect">
            <a:avLst/>
          </a:prstGeom>
          <a:noFill/>
          <a:ln/>
        </p:spPr>
        <p:txBody>
          <a:bodyPr wrap="square" rtlCol="0" anchor="ctr"/>
          <a:lstStyle/>
          <a:p>
            <a:pPr marL="342900" indent="-342900">
              <a:buSzPct val="100000"/>
              <a:buChar char="•"/>
            </a:pPr>
            <a:r>
              <a:rPr lang="en-US" sz="900" dirty="0">
                <a:solidFill>
                  <a:srgbClr val="121C2B"/>
                </a:solidFill>
                <a:latin typeface="Arial" pitchFamily="34" charset="0"/>
                <a:ea typeface="Arial" pitchFamily="34" charset="-122"/>
                <a:cs typeface="Arial" pitchFamily="34" charset="-120"/>
              </a:rPr>
              <a:t>Besag, York, Mollié (1991). BYM model. Ann. Inst. Stat. Math. 43.</a:t>
            </a:r>
            <a:endParaRPr lang="en-US" sz="900" dirty="0"/>
          </a:p>
        </p:txBody>
      </p:sp>
      <p:sp>
        <p:nvSpPr>
          <p:cNvPr id="10" name="Text 8"/>
          <p:cNvSpPr/>
          <p:nvPr/>
        </p:nvSpPr>
        <p:spPr>
          <a:xfrm>
            <a:off x="411480" y="2048256"/>
            <a:ext cx="4663440" cy="320040"/>
          </a:xfrm>
          <a:prstGeom prst="rect">
            <a:avLst/>
          </a:prstGeom>
          <a:noFill/>
          <a:ln/>
        </p:spPr>
        <p:txBody>
          <a:bodyPr wrap="square" rtlCol="0" anchor="ctr"/>
          <a:lstStyle/>
          <a:p>
            <a:pPr marL="342900" indent="-342900">
              <a:buSzPct val="100000"/>
              <a:buChar char="•"/>
            </a:pPr>
            <a:r>
              <a:rPr lang="en-US" sz="900" dirty="0">
                <a:solidFill>
                  <a:srgbClr val="121C2B"/>
                </a:solidFill>
                <a:latin typeface="Arial" pitchFamily="34" charset="0"/>
                <a:ea typeface="Arial" pitchFamily="34" charset="-122"/>
                <a:cs typeface="Arial" pitchFamily="34" charset="-120"/>
              </a:rPr>
              <a:t>Riebler et al. (2016). BYM2 PC priors. Stat. Methods Med. Res. 25.</a:t>
            </a:r>
            <a:endParaRPr lang="en-US" sz="900" dirty="0"/>
          </a:p>
        </p:txBody>
      </p:sp>
      <p:sp>
        <p:nvSpPr>
          <p:cNvPr id="11" name="Text 9"/>
          <p:cNvSpPr/>
          <p:nvPr/>
        </p:nvSpPr>
        <p:spPr>
          <a:xfrm>
            <a:off x="411480" y="2395728"/>
            <a:ext cx="4663440" cy="320040"/>
          </a:xfrm>
          <a:prstGeom prst="rect">
            <a:avLst/>
          </a:prstGeom>
          <a:noFill/>
          <a:ln/>
        </p:spPr>
        <p:txBody>
          <a:bodyPr wrap="square" rtlCol="0" anchor="ctr"/>
          <a:lstStyle/>
          <a:p>
            <a:pPr marL="342900" indent="-342900">
              <a:buSzPct val="100000"/>
              <a:buChar char="•"/>
            </a:pPr>
            <a:r>
              <a:rPr lang="en-US" sz="900" dirty="0">
                <a:solidFill>
                  <a:srgbClr val="121C2B"/>
                </a:solidFill>
                <a:latin typeface="Arial" pitchFamily="34" charset="0"/>
                <a:ea typeface="Arial" pitchFamily="34" charset="-122"/>
                <a:cs typeface="Arial" pitchFamily="34" charset="-120"/>
              </a:rPr>
              <a:t>Rue, Martino, Chopin (2009). INLA. JRSS-B 71.</a:t>
            </a:r>
            <a:endParaRPr lang="en-US" sz="900" dirty="0"/>
          </a:p>
        </p:txBody>
      </p:sp>
      <p:sp>
        <p:nvSpPr>
          <p:cNvPr id="12" name="Text 10"/>
          <p:cNvSpPr/>
          <p:nvPr/>
        </p:nvSpPr>
        <p:spPr>
          <a:xfrm>
            <a:off x="411480" y="2743200"/>
            <a:ext cx="4663440" cy="320040"/>
          </a:xfrm>
          <a:prstGeom prst="rect">
            <a:avLst/>
          </a:prstGeom>
          <a:noFill/>
          <a:ln/>
        </p:spPr>
        <p:txBody>
          <a:bodyPr wrap="square" rtlCol="0" anchor="ctr"/>
          <a:lstStyle/>
          <a:p>
            <a:pPr marL="342900" indent="-342900">
              <a:buSzPct val="100000"/>
              <a:buChar char="•"/>
            </a:pPr>
            <a:r>
              <a:rPr lang="en-US" sz="900" dirty="0">
                <a:solidFill>
                  <a:srgbClr val="121C2B"/>
                </a:solidFill>
                <a:latin typeface="Arial" pitchFamily="34" charset="0"/>
                <a:ea typeface="Arial" pitchFamily="34" charset="-122"/>
                <a:cs typeface="Arial" pitchFamily="34" charset="-120"/>
              </a:rPr>
              <a:t>Fotheringham, Brunsdon, Charlton (2002). GWR. Wiley.</a:t>
            </a:r>
            <a:endParaRPr lang="en-US" sz="900" dirty="0"/>
          </a:p>
        </p:txBody>
      </p:sp>
      <p:sp>
        <p:nvSpPr>
          <p:cNvPr id="13" name="Text 11"/>
          <p:cNvSpPr/>
          <p:nvPr/>
        </p:nvSpPr>
        <p:spPr>
          <a:xfrm>
            <a:off x="411480" y="3090672"/>
            <a:ext cx="4663440" cy="320040"/>
          </a:xfrm>
          <a:prstGeom prst="rect">
            <a:avLst/>
          </a:prstGeom>
          <a:noFill/>
          <a:ln/>
        </p:spPr>
        <p:txBody>
          <a:bodyPr wrap="square" rtlCol="0" anchor="ctr"/>
          <a:lstStyle/>
          <a:p>
            <a:pPr marL="342900" indent="-342900">
              <a:buSzPct val="100000"/>
              <a:buChar char="•"/>
            </a:pPr>
            <a:r>
              <a:rPr lang="en-US" sz="900" dirty="0">
                <a:solidFill>
                  <a:srgbClr val="121C2B"/>
                </a:solidFill>
                <a:latin typeface="Arial" pitchFamily="34" charset="0"/>
                <a:ea typeface="Arial" pitchFamily="34" charset="-122"/>
                <a:cs typeface="Arial" pitchFamily="34" charset="-120"/>
              </a:rPr>
              <a:t>Sato, Y. (2025). city2graph. doi:10.5281/zenodo.15858845.</a:t>
            </a:r>
            <a:endParaRPr lang="en-US" sz="900" dirty="0"/>
          </a:p>
        </p:txBody>
      </p:sp>
      <p:sp>
        <p:nvSpPr>
          <p:cNvPr id="14" name="Text 12"/>
          <p:cNvSpPr/>
          <p:nvPr/>
        </p:nvSpPr>
        <p:spPr>
          <a:xfrm>
            <a:off x="411480" y="3438144"/>
            <a:ext cx="4663440" cy="320040"/>
          </a:xfrm>
          <a:prstGeom prst="rect">
            <a:avLst/>
          </a:prstGeom>
          <a:noFill/>
          <a:ln/>
        </p:spPr>
        <p:txBody>
          <a:bodyPr wrap="square" rtlCol="0" anchor="ctr"/>
          <a:lstStyle/>
          <a:p>
            <a:pPr marL="342900" indent="-342900">
              <a:buSzPct val="100000"/>
              <a:buChar char="•"/>
            </a:pPr>
            <a:r>
              <a:rPr lang="en-US" sz="900" dirty="0">
                <a:solidFill>
                  <a:srgbClr val="121C2B"/>
                </a:solidFill>
                <a:latin typeface="Arial" pitchFamily="34" charset="0"/>
                <a:ea typeface="Arial" pitchFamily="34" charset="-122"/>
                <a:cs typeface="Arial" pitchFamily="34" charset="-120"/>
              </a:rPr>
              <a:t>Boeing, G. (2025). OSMnx. Geogr. Analysis 57.</a:t>
            </a:r>
            <a:endParaRPr lang="en-US" sz="900" dirty="0"/>
          </a:p>
        </p:txBody>
      </p:sp>
      <p:sp>
        <p:nvSpPr>
          <p:cNvPr id="15" name="Text 13"/>
          <p:cNvSpPr/>
          <p:nvPr/>
        </p:nvSpPr>
        <p:spPr>
          <a:xfrm>
            <a:off x="411480" y="3785616"/>
            <a:ext cx="4663440" cy="320040"/>
          </a:xfrm>
          <a:prstGeom prst="rect">
            <a:avLst/>
          </a:prstGeom>
          <a:noFill/>
          <a:ln/>
        </p:spPr>
        <p:txBody>
          <a:bodyPr wrap="square" rtlCol="0" anchor="ctr"/>
          <a:lstStyle/>
          <a:p>
            <a:pPr marL="342900" indent="-342900">
              <a:buSzPct val="100000"/>
              <a:buChar char="•"/>
            </a:pPr>
            <a:r>
              <a:rPr lang="en-US" sz="900" dirty="0">
                <a:solidFill>
                  <a:srgbClr val="121C2B"/>
                </a:solidFill>
                <a:latin typeface="Arial" pitchFamily="34" charset="0"/>
                <a:ea typeface="Arial" pitchFamily="34" charset="-122"/>
                <a:cs typeface="Arial" pitchFamily="34" charset="-120"/>
              </a:rPr>
              <a:t>Anselin (1995). LISA. Geogr. Analysis 27.</a:t>
            </a:r>
            <a:endParaRPr lang="en-US" sz="900" dirty="0"/>
          </a:p>
        </p:txBody>
      </p:sp>
      <p:sp>
        <p:nvSpPr>
          <p:cNvPr id="16" name="Text 14"/>
          <p:cNvSpPr/>
          <p:nvPr/>
        </p:nvSpPr>
        <p:spPr>
          <a:xfrm>
            <a:off x="411480" y="4133088"/>
            <a:ext cx="4663440" cy="320040"/>
          </a:xfrm>
          <a:prstGeom prst="rect">
            <a:avLst/>
          </a:prstGeom>
          <a:noFill/>
          <a:ln/>
        </p:spPr>
        <p:txBody>
          <a:bodyPr wrap="square" rtlCol="0" anchor="ctr"/>
          <a:lstStyle/>
          <a:p>
            <a:pPr marL="342900" indent="-342900">
              <a:buSzPct val="100000"/>
              <a:buChar char="•"/>
            </a:pPr>
            <a:r>
              <a:rPr lang="en-US" sz="900" dirty="0">
                <a:solidFill>
                  <a:srgbClr val="121C2B"/>
                </a:solidFill>
                <a:latin typeface="Arial" pitchFamily="34" charset="0"/>
                <a:ea typeface="Arial" pitchFamily="34" charset="-122"/>
                <a:cs typeface="Arial" pitchFamily="34" charset="-120"/>
              </a:rPr>
              <a:t>Kolm (1976); Pollak (1971). EDE measure.</a:t>
            </a:r>
            <a:endParaRPr lang="en-US" sz="900" dirty="0"/>
          </a:p>
        </p:txBody>
      </p:sp>
      <p:sp>
        <p:nvSpPr>
          <p:cNvPr id="17" name="Shape 15"/>
          <p:cNvSpPr/>
          <p:nvPr/>
        </p:nvSpPr>
        <p:spPr>
          <a:xfrm>
            <a:off x="5349240" y="932688"/>
            <a:ext cx="3520440" cy="1828800"/>
          </a:xfrm>
          <a:prstGeom prst="rect">
            <a:avLst/>
          </a:prstGeom>
          <a:solidFill>
            <a:srgbClr val="FFF4E0"/>
          </a:solidFill>
          <a:ln w="7620">
            <a:solidFill>
              <a:srgbClr val="B7770D"/>
            </a:solidFill>
            <a:prstDash val="solid"/>
          </a:ln>
        </p:spPr>
      </p:sp>
      <p:sp>
        <p:nvSpPr>
          <p:cNvPr id="18" name="Text 16"/>
          <p:cNvSpPr/>
          <p:nvPr/>
        </p:nvSpPr>
        <p:spPr>
          <a:xfrm>
            <a:off x="5486400" y="1005840"/>
            <a:ext cx="3291840" cy="274320"/>
          </a:xfrm>
          <a:prstGeom prst="rect">
            <a:avLst/>
          </a:prstGeom>
          <a:noFill/>
          <a:ln/>
        </p:spPr>
        <p:txBody>
          <a:bodyPr wrap="square" rtlCol="0" anchor="ctr"/>
          <a:lstStyle/>
          <a:p>
            <a:pPr indent="0" marL="0">
              <a:buNone/>
            </a:pPr>
            <a:r>
              <a:rPr lang="en-US" sz="1100" b="1" dirty="0">
                <a:solidFill>
                  <a:srgbClr val="5A3000"/>
                </a:solidFill>
                <a:latin typeface="Arial" pitchFamily="34" charset="0"/>
                <a:ea typeface="Arial" pitchFamily="34" charset="-122"/>
                <a:cs typeface="Arial" pitchFamily="34" charset="-120"/>
              </a:rPr>
              <a:t>Remaining tasks</a:t>
            </a:r>
            <a:endParaRPr lang="en-US" sz="1100" dirty="0"/>
          </a:p>
        </p:txBody>
      </p:sp>
      <p:sp>
        <p:nvSpPr>
          <p:cNvPr id="19" name="Shape 17"/>
          <p:cNvSpPr/>
          <p:nvPr/>
        </p:nvSpPr>
        <p:spPr>
          <a:xfrm>
            <a:off x="5486400" y="1353312"/>
            <a:ext cx="219456" cy="219456"/>
          </a:xfrm>
          <a:prstGeom prst="rect">
            <a:avLst/>
          </a:prstGeom>
          <a:solidFill>
            <a:srgbClr val="B7770D"/>
          </a:solidFill>
          <a:ln w="12700">
            <a:solidFill>
              <a:srgbClr val="B7770D"/>
            </a:solidFill>
            <a:prstDash val="solid"/>
          </a:ln>
        </p:spPr>
      </p:sp>
      <p:sp>
        <p:nvSpPr>
          <p:cNvPr id="20" name="Text 18"/>
          <p:cNvSpPr/>
          <p:nvPr/>
        </p:nvSpPr>
        <p:spPr>
          <a:xfrm>
            <a:off x="5760720" y="1353312"/>
            <a:ext cx="3017520" cy="237744"/>
          </a:xfrm>
          <a:prstGeom prst="rect">
            <a:avLst/>
          </a:prstGeom>
          <a:noFill/>
          <a:ln/>
        </p:spPr>
        <p:txBody>
          <a:bodyPr wrap="square" rtlCol="0" anchor="ctr"/>
          <a:lstStyle/>
          <a:p>
            <a:pPr indent="0" marL="0">
              <a:buNone/>
            </a:pPr>
            <a:r>
              <a:rPr lang="en-US" sz="900" dirty="0">
                <a:solidFill>
                  <a:srgbClr val="3A1A00"/>
                </a:solidFill>
                <a:latin typeface="Arial" pitchFamily="34" charset="0"/>
                <a:ea typeface="Arial" pitchFamily="34" charset="-122"/>
                <a:cs typeface="Arial" pitchFamily="34" charset="-120"/>
              </a:rPr>
              <a:t>Fix GNN.py: 5 bugs (see §7.2)</a:t>
            </a:r>
            <a:endParaRPr lang="en-US" sz="900" dirty="0"/>
          </a:p>
        </p:txBody>
      </p:sp>
      <p:sp>
        <p:nvSpPr>
          <p:cNvPr id="21" name="Shape 19"/>
          <p:cNvSpPr/>
          <p:nvPr/>
        </p:nvSpPr>
        <p:spPr>
          <a:xfrm>
            <a:off x="5486400" y="1609344"/>
            <a:ext cx="219456" cy="219456"/>
          </a:xfrm>
          <a:prstGeom prst="rect">
            <a:avLst/>
          </a:prstGeom>
          <a:solidFill>
            <a:srgbClr val="B7770D"/>
          </a:solidFill>
          <a:ln w="12700">
            <a:solidFill>
              <a:srgbClr val="B7770D"/>
            </a:solidFill>
            <a:prstDash val="solid"/>
          </a:ln>
        </p:spPr>
      </p:sp>
      <p:sp>
        <p:nvSpPr>
          <p:cNvPr id="22" name="Text 20"/>
          <p:cNvSpPr/>
          <p:nvPr/>
        </p:nvSpPr>
        <p:spPr>
          <a:xfrm>
            <a:off x="5760720" y="1609344"/>
            <a:ext cx="3017520" cy="237744"/>
          </a:xfrm>
          <a:prstGeom prst="rect">
            <a:avLst/>
          </a:prstGeom>
          <a:noFill/>
          <a:ln/>
        </p:spPr>
        <p:txBody>
          <a:bodyPr wrap="square" rtlCol="0" anchor="ctr"/>
          <a:lstStyle/>
          <a:p>
            <a:pPr indent="0" marL="0">
              <a:buNone/>
            </a:pPr>
            <a:r>
              <a:rPr lang="en-US" sz="900" dirty="0">
                <a:solidFill>
                  <a:srgbClr val="3A1A00"/>
                </a:solidFill>
                <a:latin typeface="Arial" pitchFamily="34" charset="0"/>
                <a:ea typeface="Arial" pitchFamily="34" charset="-122"/>
                <a:cs typeface="Arial" pitchFamily="34" charset="-120"/>
              </a:rPr>
              <a:t>Obtain real VMC ward shapefile</a:t>
            </a:r>
            <a:endParaRPr lang="en-US" sz="900" dirty="0"/>
          </a:p>
        </p:txBody>
      </p:sp>
      <p:sp>
        <p:nvSpPr>
          <p:cNvPr id="23" name="Shape 21"/>
          <p:cNvSpPr/>
          <p:nvPr/>
        </p:nvSpPr>
        <p:spPr>
          <a:xfrm>
            <a:off x="5486400" y="1865376"/>
            <a:ext cx="219456" cy="219456"/>
          </a:xfrm>
          <a:prstGeom prst="rect">
            <a:avLst/>
          </a:prstGeom>
          <a:solidFill>
            <a:srgbClr val="B7770D"/>
          </a:solidFill>
          <a:ln w="12700">
            <a:solidFill>
              <a:srgbClr val="B7770D"/>
            </a:solidFill>
            <a:prstDash val="solid"/>
          </a:ln>
        </p:spPr>
      </p:sp>
      <p:sp>
        <p:nvSpPr>
          <p:cNvPr id="24" name="Text 22"/>
          <p:cNvSpPr/>
          <p:nvPr/>
        </p:nvSpPr>
        <p:spPr>
          <a:xfrm>
            <a:off x="5760720" y="1865376"/>
            <a:ext cx="3017520" cy="237744"/>
          </a:xfrm>
          <a:prstGeom prst="rect">
            <a:avLst/>
          </a:prstGeom>
          <a:noFill/>
          <a:ln/>
        </p:spPr>
        <p:txBody>
          <a:bodyPr wrap="square" rtlCol="0" anchor="ctr"/>
          <a:lstStyle/>
          <a:p>
            <a:pPr indent="0" marL="0">
              <a:buNone/>
            </a:pPr>
            <a:r>
              <a:rPr lang="en-US" sz="900" dirty="0">
                <a:solidFill>
                  <a:srgbClr val="3A1A00"/>
                </a:solidFill>
                <a:latin typeface="Arial" pitchFamily="34" charset="0"/>
                <a:ea typeface="Arial" pitchFamily="34" charset="-122"/>
                <a:cs typeface="Arial" pitchFamily="34" charset="-120"/>
              </a:rPr>
              <a:t>Add SRTM DEM for real elevations</a:t>
            </a:r>
            <a:endParaRPr lang="en-US" sz="900" dirty="0"/>
          </a:p>
        </p:txBody>
      </p:sp>
      <p:sp>
        <p:nvSpPr>
          <p:cNvPr id="25" name="Shape 23"/>
          <p:cNvSpPr/>
          <p:nvPr/>
        </p:nvSpPr>
        <p:spPr>
          <a:xfrm>
            <a:off x="5486400" y="2121408"/>
            <a:ext cx="219456" cy="219456"/>
          </a:xfrm>
          <a:prstGeom prst="rect">
            <a:avLst/>
          </a:prstGeom>
          <a:solidFill>
            <a:srgbClr val="B7770D"/>
          </a:solidFill>
          <a:ln w="12700">
            <a:solidFill>
              <a:srgbClr val="B7770D"/>
            </a:solidFill>
            <a:prstDash val="solid"/>
          </a:ln>
        </p:spPr>
      </p:sp>
      <p:sp>
        <p:nvSpPr>
          <p:cNvPr id="26" name="Text 24"/>
          <p:cNvSpPr/>
          <p:nvPr/>
        </p:nvSpPr>
        <p:spPr>
          <a:xfrm>
            <a:off x="5760720" y="2121408"/>
            <a:ext cx="3017520" cy="237744"/>
          </a:xfrm>
          <a:prstGeom prst="rect">
            <a:avLst/>
          </a:prstGeom>
          <a:noFill/>
          <a:ln/>
        </p:spPr>
        <p:txBody>
          <a:bodyPr wrap="square" rtlCol="0" anchor="ctr"/>
          <a:lstStyle/>
          <a:p>
            <a:pPr indent="0" marL="0">
              <a:buNone/>
            </a:pPr>
            <a:r>
              <a:rPr lang="en-US" sz="900" dirty="0">
                <a:solidFill>
                  <a:srgbClr val="3A1A00"/>
                </a:solidFill>
                <a:latin typeface="Arial" pitchFamily="34" charset="0"/>
                <a:ea typeface="Arial" pitchFamily="34" charset="-122"/>
                <a:cs typeface="Arial" pitchFamily="34" charset="-120"/>
              </a:rPr>
              <a:t>Get Open Vadodara GTFS zip</a:t>
            </a:r>
            <a:endParaRPr lang="en-US" sz="900" dirty="0"/>
          </a:p>
        </p:txBody>
      </p:sp>
      <p:sp>
        <p:nvSpPr>
          <p:cNvPr id="27" name="Shape 25"/>
          <p:cNvSpPr/>
          <p:nvPr/>
        </p:nvSpPr>
        <p:spPr>
          <a:xfrm>
            <a:off x="5486400" y="2377440"/>
            <a:ext cx="219456" cy="219456"/>
          </a:xfrm>
          <a:prstGeom prst="rect">
            <a:avLst/>
          </a:prstGeom>
          <a:solidFill>
            <a:srgbClr val="B7770D"/>
          </a:solidFill>
          <a:ln w="12700">
            <a:solidFill>
              <a:srgbClr val="B7770D"/>
            </a:solidFill>
            <a:prstDash val="solid"/>
          </a:ln>
        </p:spPr>
      </p:sp>
      <p:sp>
        <p:nvSpPr>
          <p:cNvPr id="28" name="Text 26"/>
          <p:cNvSpPr/>
          <p:nvPr/>
        </p:nvSpPr>
        <p:spPr>
          <a:xfrm>
            <a:off x="5760720" y="2377440"/>
            <a:ext cx="3017520" cy="237744"/>
          </a:xfrm>
          <a:prstGeom prst="rect">
            <a:avLst/>
          </a:prstGeom>
          <a:noFill/>
          <a:ln/>
        </p:spPr>
        <p:txBody>
          <a:bodyPr wrap="square" rtlCol="0" anchor="ctr"/>
          <a:lstStyle/>
          <a:p>
            <a:pPr indent="0" marL="0">
              <a:buNone/>
            </a:pPr>
            <a:r>
              <a:rPr lang="en-US" sz="900" dirty="0">
                <a:solidFill>
                  <a:srgbClr val="3A1A00"/>
                </a:solidFill>
                <a:latin typeface="Arial" pitchFamily="34" charset="0"/>
                <a:ea typeface="Arial" pitchFamily="34" charset="-122"/>
                <a:cs typeface="Arial" pitchFamily="34" charset="-120"/>
              </a:rPr>
              <a:t>Run BYM2 draws=2000, chains=4 (full)</a:t>
            </a:r>
            <a:endParaRPr lang="en-US" sz="900" dirty="0"/>
          </a:p>
        </p:txBody>
      </p:sp>
      <p:sp>
        <p:nvSpPr>
          <p:cNvPr id="29" name="Shape 27"/>
          <p:cNvSpPr/>
          <p:nvPr/>
        </p:nvSpPr>
        <p:spPr>
          <a:xfrm>
            <a:off x="5349240" y="2852928"/>
            <a:ext cx="3520440" cy="1993392"/>
          </a:xfrm>
          <a:prstGeom prst="rect">
            <a:avLst/>
          </a:prstGeom>
          <a:solidFill>
            <a:srgbClr val="F0EEF8"/>
          </a:solidFill>
          <a:ln w="7620">
            <a:solidFill>
              <a:srgbClr val="7A5AB0"/>
            </a:solidFill>
            <a:prstDash val="solid"/>
          </a:ln>
        </p:spPr>
      </p:sp>
      <p:sp>
        <p:nvSpPr>
          <p:cNvPr id="30" name="Text 28"/>
          <p:cNvSpPr/>
          <p:nvPr/>
        </p:nvSpPr>
        <p:spPr>
          <a:xfrm>
            <a:off x="5486400" y="2926080"/>
            <a:ext cx="3291840" cy="274320"/>
          </a:xfrm>
          <a:prstGeom prst="rect">
            <a:avLst/>
          </a:prstGeom>
          <a:noFill/>
          <a:ln/>
        </p:spPr>
        <p:txBody>
          <a:bodyPr wrap="square" rtlCol="0" anchor="ctr"/>
          <a:lstStyle/>
          <a:p>
            <a:pPr indent="0" marL="0">
              <a:buNone/>
            </a:pPr>
            <a:r>
              <a:rPr lang="en-US" sz="1100" b="1" dirty="0">
                <a:solidFill>
                  <a:srgbClr val="3A1080"/>
                </a:solidFill>
                <a:latin typeface="Arial" pitchFamily="34" charset="0"/>
                <a:ea typeface="Arial" pitchFamily="34" charset="-122"/>
                <a:cs typeface="Arial" pitchFamily="34" charset="-120"/>
              </a:rPr>
              <a:t>Spatio-temporal extension</a:t>
            </a:r>
            <a:endParaRPr lang="en-US" sz="1100" dirty="0"/>
          </a:p>
        </p:txBody>
      </p:sp>
      <p:sp>
        <p:nvSpPr>
          <p:cNvPr id="31" name="Text 29"/>
          <p:cNvSpPr/>
          <p:nvPr/>
        </p:nvSpPr>
        <p:spPr>
          <a:xfrm>
            <a:off x="5486400" y="3236976"/>
            <a:ext cx="3291840" cy="1536192"/>
          </a:xfrm>
          <a:prstGeom prst="rect">
            <a:avLst/>
          </a:prstGeom>
          <a:noFill/>
          <a:ln/>
        </p:spPr>
        <p:txBody>
          <a:bodyPr wrap="square" rtlCol="0" anchor="ctr"/>
          <a:lstStyle/>
          <a:p>
            <a:pPr indent="0" marL="0">
              <a:buNone/>
            </a:pPr>
            <a:r>
              <a:rPr lang="en-US" sz="900" dirty="0">
                <a:solidFill>
                  <a:srgbClr val="2A0870"/>
                </a:solidFill>
                <a:latin typeface="Arial" pitchFamily="34" charset="0"/>
                <a:ea typeface="Arial" pitchFamily="34" charset="-122"/>
                <a:cs typeface="Arial" pitchFamily="34" charset="-120"/>
              </a:rPr>
              <a:t>Knorr-Held model: BYM2 spatial + RW1/RW2 temporal + Type II interaction. Requires T≥3 time points. Use Geofabrik OSM historical extracts: 2016, 2019, 2021, 2024. Implementation in R-INLA proposed in UOI_Bayesian_SpatioTemporal_Proposal.docx.</a:t>
            </a:r>
            <a:endParaRPr lang="en-US" sz="900" dirty="0"/>
          </a:p>
        </p:txBody>
      </p:sp>
      <p:sp>
        <p:nvSpPr>
          <p:cNvPr id="32" name="Text 30"/>
          <p:cNvSpPr/>
          <p:nvPr/>
        </p:nvSpPr>
        <p:spPr>
          <a:xfrm>
            <a:off x="8412480" y="4869180"/>
            <a:ext cx="640080" cy="201168"/>
          </a:xfrm>
          <a:prstGeom prst="rect">
            <a:avLst/>
          </a:prstGeom>
          <a:noFill/>
          <a:ln/>
        </p:spPr>
        <p:txBody>
          <a:bodyPr wrap="square" rtlCol="0" anchor="ctr"/>
          <a:lstStyle/>
          <a:p>
            <a:pPr algn="r" indent="0" marL="0">
              <a:buNone/>
            </a:pPr>
            <a:r>
              <a:rPr lang="en-US" sz="900" dirty="0">
                <a:solidFill>
                  <a:srgbClr val="5A6272"/>
                </a:solidFill>
                <a:latin typeface="Arial" pitchFamily="34" charset="0"/>
                <a:ea typeface="Arial" pitchFamily="34" charset="-122"/>
                <a:cs typeface="Arial" pitchFamily="34" charset="-120"/>
              </a:rPr>
              <a:t>16 / 16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Urban Inequality in Vadodara</dc:title>
  <dc:subject>PptxGenJS Presentation</dc:subject>
  <dc:creator>M.Sc. Statistics Thesis</dc:creator>
  <cp:lastModifiedBy>M.Sc. Statistics Thesis</cp:lastModifiedBy>
  <cp:revision>1</cp:revision>
  <dcterms:created xsi:type="dcterms:W3CDTF">2026-04-07T05:45:20Z</dcterms:created>
  <dcterms:modified xsi:type="dcterms:W3CDTF">2026-04-07T05:45:20Z</dcterms:modified>
</cp:coreProperties>
</file>